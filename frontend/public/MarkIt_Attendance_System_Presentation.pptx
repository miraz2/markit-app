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s/slide16.xml" ContentType="application/vnd.openxmlformats-officedocument.presentationml.slide+xml"/>
  <Override PartName="/ppt/slides/slide15.xml" ContentType="application/vnd.openxmlformats-officedocument.presentationml.slide+xml"/>
  <Override PartName="/ppt/notesSlides/notesSlide3.xml" ContentType="application/vnd.openxmlformats-officedocument.presentationml.notesSlide+xml"/>
  <Override PartName="/ppt/slides/slide14.xml" ContentType="application/vnd.openxmlformats-officedocument.presentationml.slide+xml"/>
  <Override PartName="/docProps/core.xml" ContentType="application/vnd.openxmlformats-package.core-properties+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slides/slide13.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slides/slide4.xml" ContentType="application/vnd.openxmlformats-officedocument.presentationml.slide+xml"/>
  <Override PartName="/ppt/slides/slide5.xml" ContentType="application/vnd.openxmlformats-officedocument.presentationml.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Override PartName="/ppt/notesSlides/notesSlide12.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1695" cy="6858000"/>
  <p:notesSz cx="6858000" cy="12191695"/>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notesMaster" Target="notesMasters/notesMaster1.xml"/><Relationship Id="rId20" Type="http://schemas.openxmlformats.org/officeDocument/2006/relationships/presProps" Target="presProps.xml" /><Relationship Id="rId21" Type="http://schemas.openxmlformats.org/officeDocument/2006/relationships/tableStyles" Target="tableStyles.xml" /><Relationship Id="rId2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79132578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743697947"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920975893"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777261767"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3377619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80559906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12847766" name="Slide Image Placeholder 1"/>
          <p:cNvSpPr>
            <a:spLocks noChangeAspect="1" noGrp="1" noRot="1"/>
          </p:cNvSpPr>
          <p:nvPr>
            <p:ph type="sldImg"/>
          </p:nvPr>
        </p:nvSpPr>
        <p:spPr bwMode="auto"/>
      </p:sp>
      <p:sp>
        <p:nvSpPr>
          <p:cNvPr id="1511323568" name="Notes Placeholder 2"/>
          <p:cNvSpPr>
            <a:spLocks noGrp="1"/>
          </p:cNvSpPr>
          <p:nvPr>
            <p:ph type="body" idx="1"/>
          </p:nvPr>
        </p:nvSpPr>
        <p:spPr bwMode="auto"/>
        <p:txBody>
          <a:bodyPr/>
          <a:lstStyle/>
          <a:p>
            <a:pPr>
              <a:defRPr/>
            </a:pPr>
            <a:endParaRPr lang="en-US"/>
          </a:p>
        </p:txBody>
      </p:sp>
      <p:sp>
        <p:nvSpPr>
          <p:cNvPr id="223646171"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5462450" name="Slide Image Placeholder 1"/>
          <p:cNvSpPr>
            <a:spLocks noChangeAspect="1" noGrp="1" noRot="1"/>
          </p:cNvSpPr>
          <p:nvPr>
            <p:ph type="sldImg"/>
          </p:nvPr>
        </p:nvSpPr>
        <p:spPr bwMode="auto"/>
      </p:sp>
      <p:sp>
        <p:nvSpPr>
          <p:cNvPr id="391256384" name="Notes Placeholder 2"/>
          <p:cNvSpPr>
            <a:spLocks noGrp="1"/>
          </p:cNvSpPr>
          <p:nvPr>
            <p:ph type="body" idx="1"/>
          </p:nvPr>
        </p:nvSpPr>
        <p:spPr bwMode="auto"/>
        <p:txBody>
          <a:bodyPr/>
          <a:lstStyle/>
          <a:p>
            <a:pPr>
              <a:defRPr/>
            </a:pPr>
            <a:r>
              <a:rPr lang="en-US"/>
              <a:t>MarkIt was built by a four-person team covering backend architecture, frontend development, database and security, and UI/UX with deployment. Introduce each teammate briefly here.</a:t>
            </a:r>
            <a:endParaRPr lang="en-US"/>
          </a:p>
        </p:txBody>
      </p:sp>
      <p:sp>
        <p:nvSpPr>
          <p:cNvPr id="1468094947" name="Slide Number Placeholder 3"/>
          <p:cNvSpPr>
            <a:spLocks noGrp="1"/>
          </p:cNvSpPr>
          <p:nvPr>
            <p:ph type="sldNum" sz="quarter" idx="10"/>
          </p:nvPr>
        </p:nvSpPr>
        <p:spPr bwMode="auto"/>
        <p:txBody>
          <a:bodyPr/>
          <a:lstStyle/>
          <a:p>
            <a:pPr>
              <a:defRPr/>
            </a:pPr>
            <a:fld id="{F7021451-1387-4CA6-816F-3879F97B5CBC}" type="slidenum">
              <a:rPr lang="en-US"/>
              <a:t>15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3604954" name="Slide Image Placeholder 1"/>
          <p:cNvSpPr>
            <a:spLocks noChangeAspect="1" noGrp="1" noRot="1"/>
          </p:cNvSpPr>
          <p:nvPr>
            <p:ph type="sldImg"/>
          </p:nvPr>
        </p:nvSpPr>
        <p:spPr bwMode="auto"/>
      </p:sp>
      <p:sp>
        <p:nvSpPr>
          <p:cNvPr id="505094367" name="Notes Placeholder 2"/>
          <p:cNvSpPr>
            <a:spLocks noGrp="1"/>
          </p:cNvSpPr>
          <p:nvPr>
            <p:ph type="body" idx="1"/>
          </p:nvPr>
        </p:nvSpPr>
        <p:spPr bwMode="auto"/>
        <p:txBody>
          <a:bodyPr/>
          <a:lstStyle/>
          <a:p>
            <a:pPr>
              <a:defRPr/>
            </a:pPr>
            <a:r>
              <a:rPr lang="en-US"/>
              <a:t>Universities still rely on paper attendance sheets, which are slow to take, easy to forge through proxy sign-ins, and painful to summarize into reports. Lost or illegible sheets also make the record unreliable. This is the gap MarkIt was built to close.</a:t>
            </a:r>
            <a:endParaRPr lang="en-US"/>
          </a:p>
        </p:txBody>
      </p:sp>
      <p:sp>
        <p:nvSpPr>
          <p:cNvPr id="1047795548"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76870214" name="Slide Image Placeholder 1"/>
          <p:cNvSpPr>
            <a:spLocks noChangeAspect="1" noGrp="1" noRot="1"/>
          </p:cNvSpPr>
          <p:nvPr>
            <p:ph type="sldImg"/>
          </p:nvPr>
        </p:nvSpPr>
        <p:spPr bwMode="auto"/>
      </p:sp>
      <p:sp>
        <p:nvSpPr>
          <p:cNvPr id="2053568539" name="Notes Placeholder 2"/>
          <p:cNvSpPr>
            <a:spLocks noGrp="1"/>
          </p:cNvSpPr>
          <p:nvPr>
            <p:ph type="body" idx="1"/>
          </p:nvPr>
        </p:nvSpPr>
        <p:spPr bwMode="auto"/>
        <p:txBody>
          <a:bodyPr/>
          <a:lstStyle/>
          <a:p>
            <a:pPr>
              <a:defRPr/>
            </a:pPr>
            <a:r>
              <a:rPr lang="en-US"/>
              <a:t>MarkIt lets teachers mark attendance digitally in seconds from any device, while preventing proxy attendance and generating reports automatically. The mockup on the right shows the roll-call view teachers actually use in class, with live present and absent counts.</a:t>
            </a:r>
            <a:endParaRPr lang="en-US"/>
          </a:p>
        </p:txBody>
      </p:sp>
      <p:sp>
        <p:nvSpPr>
          <p:cNvPr id="600907125"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5154493" name="Slide Image Placeholder 1"/>
          <p:cNvSpPr>
            <a:spLocks noChangeAspect="1" noGrp="1" noRot="1"/>
          </p:cNvSpPr>
          <p:nvPr>
            <p:ph type="sldImg"/>
          </p:nvPr>
        </p:nvSpPr>
        <p:spPr bwMode="auto"/>
      </p:sp>
      <p:sp>
        <p:nvSpPr>
          <p:cNvPr id="1554103685" name="Notes Placeholder 2"/>
          <p:cNvSpPr>
            <a:spLocks noGrp="1"/>
          </p:cNvSpPr>
          <p:nvPr>
            <p:ph type="body" idx="1"/>
          </p:nvPr>
        </p:nvSpPr>
        <p:spPr bwMode="auto"/>
        <p:txBody>
          <a:bodyPr/>
          <a:lstStyle/>
          <a:p>
            <a:pPr>
              <a:defRPr/>
            </a:pPr>
            <a:r>
              <a:rPr lang="en-US"/>
              <a:t>MarkIt is built on a modern JavaScript stack end to end. React with Vite and TanStack Query powers a fast, responsive frontend, while Express and MongoDB with Mongoose handle the API and data layer. The whole system deploys serverlessly on Vercel with MongoDB Atlas as the managed database.</a:t>
            </a:r>
            <a:endParaRPr lang="en-US"/>
          </a:p>
        </p:txBody>
      </p:sp>
      <p:sp>
        <p:nvSpPr>
          <p:cNvPr id="2058869422"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3796474" name="Slide Image Placeholder 1"/>
          <p:cNvSpPr>
            <a:spLocks noChangeAspect="1" noGrp="1" noRot="1"/>
          </p:cNvSpPr>
          <p:nvPr>
            <p:ph type="sldImg"/>
          </p:nvPr>
        </p:nvSpPr>
        <p:spPr bwMode="auto"/>
      </p:sp>
      <p:sp>
        <p:nvSpPr>
          <p:cNvPr id="1679243715" name="Notes Placeholder 2"/>
          <p:cNvSpPr>
            <a:spLocks noGrp="1"/>
          </p:cNvSpPr>
          <p:nvPr>
            <p:ph type="body" idx="1"/>
          </p:nvPr>
        </p:nvSpPr>
        <p:spPr bwMode="auto"/>
        <p:txBody>
          <a:bodyPr/>
          <a:lstStyle/>
          <a:p>
            <a:pPr>
              <a:defRPr/>
            </a:pPr>
            <a:r>
              <a:rPr lang="en-US"/>
              <a:t>MarkIt follows a classic client-server architecture: the React single-page app talks to a REST API over HTTPS, and the API talks to MongoDB Atlas. The frontend separates pages, layout, UI components, and context providers, while the API follows an MVC-style layering of routes, middleware, controllers, and models.</a:t>
            </a:r>
            <a:endParaRPr lang="en-US"/>
          </a:p>
        </p:txBody>
      </p:sp>
      <p:sp>
        <p:nvSpPr>
          <p:cNvPr id="1112643116"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0731146" name="Slide Image Placeholder 1"/>
          <p:cNvSpPr>
            <a:spLocks noChangeAspect="1" noGrp="1" noRot="1"/>
          </p:cNvSpPr>
          <p:nvPr>
            <p:ph type="sldImg"/>
          </p:nvPr>
        </p:nvSpPr>
        <p:spPr bwMode="auto"/>
      </p:sp>
      <p:sp>
        <p:nvSpPr>
          <p:cNvPr id="1455521671" name="Notes Placeholder 2"/>
          <p:cNvSpPr>
            <a:spLocks noGrp="1"/>
          </p:cNvSpPr>
          <p:nvPr>
            <p:ph type="body" idx="1"/>
          </p:nvPr>
        </p:nvSpPr>
        <p:spPr bwMode="auto"/>
        <p:txBody>
          <a:bodyPr/>
          <a:lstStyle/>
          <a:p>
            <a:pPr>
              <a:defRPr/>
            </a:pPr>
            <a:r>
              <a:rPr lang="en-US"/>
              <a:t>Authentication uses a dual-token pattern: a short-lived 15-minute access token and a long-lived 7-day refresh token, both delivered as httpOnly cookies so JavaScript can never touch them. When the access token expires, the Axios interceptor transparently refreshes it and retries the request, so users never notice. Refresh tokens are only ever stored as bcrypt hashes and rotate on every use.</a:t>
            </a:r>
            <a:endParaRPr lang="en-US"/>
          </a:p>
        </p:txBody>
      </p:sp>
      <p:sp>
        <p:nvSpPr>
          <p:cNvPr id="82719017"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68222681" name="Slide Image Placeholder 1"/>
          <p:cNvSpPr>
            <a:spLocks noChangeAspect="1" noGrp="1" noRot="1"/>
          </p:cNvSpPr>
          <p:nvPr>
            <p:ph type="sldImg"/>
          </p:nvPr>
        </p:nvSpPr>
        <p:spPr bwMode="auto"/>
      </p:sp>
      <p:sp>
        <p:nvSpPr>
          <p:cNvPr id="3265748" name="Notes Placeholder 2"/>
          <p:cNvSpPr>
            <a:spLocks noGrp="1"/>
          </p:cNvSpPr>
          <p:nvPr>
            <p:ph type="body" idx="1"/>
          </p:nvPr>
        </p:nvSpPr>
        <p:spPr bwMode="auto"/>
        <p:txBody>
          <a:bodyPr/>
          <a:lstStyle/>
          <a:p>
            <a:pPr>
              <a:defRPr/>
            </a:pPr>
            <a:r>
              <a:rPr lang="en-US"/>
              <a:t>Security is layered throughout the stack: bcrypt password hashing, httpOnly SameSite cookies, refresh token rotation with reuse detection, brute-force lockouts, rate limiting, Helmet security headers, strict CORS, thorough input sanitization against NoSQL injection, role-based access control, and validated profile image uploads.</a:t>
            </a:r>
            <a:endParaRPr lang="en-US"/>
          </a:p>
        </p:txBody>
      </p:sp>
      <p:sp>
        <p:nvSpPr>
          <p:cNvPr id="255665506"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54017178" name="Slide Image Placeholder 1"/>
          <p:cNvSpPr>
            <a:spLocks noChangeAspect="1" noGrp="1" noRot="1"/>
          </p:cNvSpPr>
          <p:nvPr>
            <p:ph type="sldImg"/>
          </p:nvPr>
        </p:nvSpPr>
        <p:spPr bwMode="auto"/>
      </p:sp>
      <p:sp>
        <p:nvSpPr>
          <p:cNvPr id="1170220919" name="Notes Placeholder 2"/>
          <p:cNvSpPr>
            <a:spLocks noGrp="1"/>
          </p:cNvSpPr>
          <p:nvPr>
            <p:ph type="body" idx="1"/>
          </p:nvPr>
        </p:nvSpPr>
        <p:spPr bwMode="auto"/>
        <p:txBody>
          <a:bodyPr/>
          <a:lstStyle/>
          <a:p>
            <a:pPr>
              <a:defRPr/>
            </a:pPr>
            <a:r>
              <a:rPr lang="en-US"/>
              <a:t>The roster module is where admins set up the official student record: enrolling students individually or importing up to 500 at once, searching instantly by name or roll ID, and filtering with cascading department, batch, and section dropdowns. Every destructive action, like bulk delete, requires confirmation.</a:t>
            </a:r>
            <a:endParaRPr lang="en-US"/>
          </a:p>
        </p:txBody>
      </p:sp>
      <p:sp>
        <p:nvSpPr>
          <p:cNvPr id="373711437"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8674373" name="Slide Image Placeholder 1"/>
          <p:cNvSpPr>
            <a:spLocks noChangeAspect="1" noGrp="1" noRot="1"/>
          </p:cNvSpPr>
          <p:nvPr>
            <p:ph type="sldImg"/>
          </p:nvPr>
        </p:nvSpPr>
        <p:spPr bwMode="auto"/>
      </p:sp>
      <p:sp>
        <p:nvSpPr>
          <p:cNvPr id="2091116069" name="Notes Placeholder 2"/>
          <p:cNvSpPr>
            <a:spLocks noGrp="1"/>
          </p:cNvSpPr>
          <p:nvPr>
            <p:ph type="body" idx="1"/>
          </p:nvPr>
        </p:nvSpPr>
        <p:spPr bwMode="auto"/>
        <p:txBody>
          <a:bodyPr/>
          <a:lstStyle/>
          <a:p>
            <a:pPr>
              <a:defRPr/>
            </a:pPr>
            <a:r>
              <a:rPr lang="en-US"/>
              <a:t>Taking attendance is a simple roll-call list with one-tap present and absent toggles, live counters, and shortcuts to mark everyone at once. The standout feature is Quick Select: a teacher can type just the last digits of roll numbers and the system intelligently matches them to full student IDs, turning a 30-student roll call into a few seconds of work.</a:t>
            </a:r>
            <a:endParaRPr lang="en-US"/>
          </a:p>
        </p:txBody>
      </p:sp>
      <p:sp>
        <p:nvSpPr>
          <p:cNvPr id="1183711699"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8903105" name="Slide Image Placeholder 1"/>
          <p:cNvSpPr>
            <a:spLocks noChangeAspect="1" noGrp="1" noRot="1"/>
          </p:cNvSpPr>
          <p:nvPr>
            <p:ph type="sldImg"/>
          </p:nvPr>
        </p:nvSpPr>
        <p:spPr bwMode="auto"/>
      </p:sp>
      <p:sp>
        <p:nvSpPr>
          <p:cNvPr id="861829296" name="Notes Placeholder 2"/>
          <p:cNvSpPr>
            <a:spLocks noGrp="1"/>
          </p:cNvSpPr>
          <p:nvPr>
            <p:ph type="body" idx="1"/>
          </p:nvPr>
        </p:nvSpPr>
        <p:spPr bwMode="auto"/>
        <p:txBody>
          <a:bodyPr/>
          <a:lstStyle/>
          <a:p>
            <a:pPr>
              <a:defRPr/>
            </a:pPr>
            <a:r>
              <a:rPr lang="en-US"/>
              <a:t>Teachers and admins can browse the full attendance history by class or day, view interactive summaries, and export everything to PDF or CSV with one click. Teachers can also keep private, course-specific rosters separate from the official university list, which stays view-only for admins.</a:t>
            </a:r>
            <a:endParaRPr lang="en-US"/>
          </a:p>
        </p:txBody>
      </p:sp>
      <p:sp>
        <p:nvSpPr>
          <p:cNvPr id="1501071237"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3381909" name="Slide Image Placeholder 1"/>
          <p:cNvSpPr>
            <a:spLocks noChangeAspect="1" noGrp="1" noRot="1"/>
          </p:cNvSpPr>
          <p:nvPr>
            <p:ph type="sldImg"/>
          </p:nvPr>
        </p:nvSpPr>
        <p:spPr bwMode="auto"/>
      </p:sp>
      <p:sp>
        <p:nvSpPr>
          <p:cNvPr id="518052110" name="Notes Placeholder 2"/>
          <p:cNvSpPr>
            <a:spLocks noGrp="1"/>
          </p:cNvSpPr>
          <p:nvPr>
            <p:ph type="body" idx="1"/>
          </p:nvPr>
        </p:nvSpPr>
        <p:spPr bwMode="auto"/>
        <p:txBody>
          <a:bodyPr/>
          <a:lstStyle/>
          <a:p>
            <a:pPr>
              <a:defRPr/>
            </a:pPr>
            <a:r>
              <a:rPr/>
              <a:t>MarkIt separates duties cleanly across three roles. Admins manage the university-wide roster, sessions, and teacher assignments but cannot alter attendance records. Teachers take attendance only for their assigned sections. Students are strictly read-only: they view their own dashboard, courses, and history, manage their own password and photo, and can never mark or edit attendance.</a:t>
            </a:r>
            <a:endParaRPr/>
          </a:p>
        </p:txBody>
      </p:sp>
      <p:sp>
        <p:nvSpPr>
          <p:cNvPr id="629429813" name="Slide Number Placeholder 3"/>
          <p:cNvSpPr>
            <a:spLocks noGrp="1"/>
          </p:cNvSpPr>
          <p:nvPr>
            <p:ph type="sldNum" sz="quarter" idx="10"/>
          </p:nvPr>
        </p:nvSpPr>
        <p:spPr bwMode="auto"/>
        <p:txBody>
          <a:bodyPr/>
          <a:lstStyle/>
          <a:p>
            <a:pPr>
              <a:defRPr/>
            </a:pPr>
            <a:fld id="{5F15E29E-7190-6A74-6547-A05BB4D6BC16}" type="slidenum">
              <a:rPr lang="en-US"/>
              <a:t>11</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61814199" name="Slide Image Placeholder 1"/>
          <p:cNvSpPr>
            <a:spLocks noChangeAspect="1" noGrp="1" noRot="1"/>
          </p:cNvSpPr>
          <p:nvPr>
            <p:ph type="sldImg"/>
          </p:nvPr>
        </p:nvSpPr>
        <p:spPr bwMode="auto"/>
      </p:sp>
      <p:sp>
        <p:nvSpPr>
          <p:cNvPr id="1146905804" name="Notes Placeholder 2"/>
          <p:cNvSpPr>
            <a:spLocks noGrp="1"/>
          </p:cNvSpPr>
          <p:nvPr>
            <p:ph type="body" idx="1"/>
          </p:nvPr>
        </p:nvSpPr>
        <p:spPr bwMode="auto"/>
        <p:txBody>
          <a:bodyPr/>
          <a:lstStyle/>
          <a:p>
            <a:pPr>
              <a:defRPr/>
            </a:pPr>
            <a:r>
              <a:rPr lang="en-US"/>
              <a:t>For teachers day to day, the difference is stark: a 10-15 minute paper roll-call becomes a few seconds with Quick Select, monthly reports go from manual compilation to an instant export, and proxy attendance is prevented rather than just hoped against.</a:t>
            </a:r>
            <a:endParaRPr lang="en-US"/>
          </a:p>
        </p:txBody>
      </p:sp>
      <p:sp>
        <p:nvSpPr>
          <p:cNvPr id="90971393"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6456056" name="Slide Image Placeholder 1"/>
          <p:cNvSpPr>
            <a:spLocks noChangeAspect="1" noGrp="1" noRot="1"/>
          </p:cNvSpPr>
          <p:nvPr>
            <p:ph type="sldImg"/>
          </p:nvPr>
        </p:nvSpPr>
        <p:spPr bwMode="auto"/>
      </p:sp>
      <p:sp>
        <p:nvSpPr>
          <p:cNvPr id="107678941" name="Notes Placeholder 2"/>
          <p:cNvSpPr>
            <a:spLocks noGrp="1"/>
          </p:cNvSpPr>
          <p:nvPr>
            <p:ph type="body" idx="1"/>
          </p:nvPr>
        </p:nvSpPr>
        <p:spPr bwMode="auto"/>
        <p:txBody>
          <a:bodyPr/>
          <a:lstStyle/>
          <a:p>
            <a:pPr>
              <a:defRPr/>
            </a:pPr>
            <a:r>
              <a:rPr lang="en-US"/>
              <a:t>MarkIt ships with a fully serverless deployment: the React frontend is a static build served from Vercel's edge network, the Express backend runs as Vercel serverless functions that scale automatically with demand, and MongoDB Atlas provides a managed, auto-scaling database with built-in backups. There is no server to patch or provision.</a:t>
            </a:r>
            <a:endParaRPr lang="en-US"/>
          </a:p>
        </p:txBody>
      </p:sp>
      <p:sp>
        <p:nvSpPr>
          <p:cNvPr id="1564199878" name="Slide Number Placeholder 3"/>
          <p:cNvSpPr>
            <a:spLocks noGrp="1"/>
          </p:cNvSpPr>
          <p:nvPr>
            <p:ph type="sldNum" sz="quarter" idx="10"/>
          </p:nvPr>
        </p:nvSpPr>
        <p:spPr bwMode="auto"/>
        <p:txBody>
          <a:bodyPr/>
          <a:lstStyle/>
          <a:p>
            <a:pPr>
              <a:defRPr/>
            </a:pPr>
            <a:fld id="{F7021451-1387-4CA6-816F-3879F97B5CBC}" type="slidenum">
              <a:rPr lang="en-US"/>
              <a:t>13</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77948446" name="Slide Image Placeholder 1"/>
          <p:cNvSpPr>
            <a:spLocks noChangeAspect="1" noGrp="1" noRot="1"/>
          </p:cNvSpPr>
          <p:nvPr>
            <p:ph type="sldImg"/>
          </p:nvPr>
        </p:nvSpPr>
        <p:spPr bwMode="auto"/>
      </p:sp>
      <p:sp>
        <p:nvSpPr>
          <p:cNvPr id="49830159" name="Notes Placeholder 2"/>
          <p:cNvSpPr>
            <a:spLocks noGrp="1"/>
          </p:cNvSpPr>
          <p:nvPr>
            <p:ph type="body" idx="1"/>
          </p:nvPr>
        </p:nvSpPr>
        <p:spPr bwMode="auto"/>
        <p:txBody>
          <a:bodyPr/>
          <a:lstStyle/>
          <a:p>
            <a:pPr>
              <a:defRPr/>
            </a:pPr>
            <a:r>
              <a:rPr lang="en-US"/>
              <a:t>Looking ahead, the roadmap includes QR-code self check-in, automatic SMS and email absence alerts for guardians, biometric verification for high-stakes exams, dedicated mobile apps, and richer analytics dashboards that surface attendance trends over a term.</a:t>
            </a:r>
            <a:endParaRPr lang="en-US"/>
          </a:p>
        </p:txBody>
      </p:sp>
      <p:sp>
        <p:nvSpPr>
          <p:cNvPr id="17824205" name="Slide Number Placeholder 3"/>
          <p:cNvSpPr>
            <a:spLocks noGrp="1"/>
          </p:cNvSpPr>
          <p:nvPr>
            <p:ph type="sldNum" sz="quarter" idx="10"/>
          </p:nvPr>
        </p:nvSpPr>
        <p:spPr bwMode="auto"/>
        <p:txBody>
          <a:bodyPr/>
          <a:lstStyle/>
          <a:p>
            <a:pPr>
              <a:defRPr/>
            </a:pPr>
            <a:fld id="{F7021451-1387-4CA6-816F-3879F97B5CBC}" type="slidenum">
              <a:rPr lang="en-US"/>
              <a:t>14</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3833538" name="Slide Image Placeholder 1"/>
          <p:cNvSpPr>
            <a:spLocks noChangeAspect="1" noGrp="1" noRot="1"/>
          </p:cNvSpPr>
          <p:nvPr>
            <p:ph type="sldImg"/>
          </p:nvPr>
        </p:nvSpPr>
        <p:spPr bwMode="auto"/>
      </p:sp>
      <p:sp>
        <p:nvSpPr>
          <p:cNvPr id="1805791465" name="Notes Placeholder 2"/>
          <p:cNvSpPr>
            <a:spLocks noGrp="1"/>
          </p:cNvSpPr>
          <p:nvPr>
            <p:ph type="body" idx="1"/>
          </p:nvPr>
        </p:nvSpPr>
        <p:spPr bwMode="auto"/>
        <p:txBody>
          <a:bodyPr/>
          <a:lstStyle/>
          <a:p>
            <a:pPr>
              <a:defRPr/>
            </a:pPr>
            <a:r>
              <a:rPr lang="en-US"/>
              <a:t>Thank the audience and open the floor for questions. Be ready to speak to the tech stack choices, the security model, and the Quick Select feature, since those tend to draw the most questions.</a:t>
            </a:r>
            <a:endParaRPr lang="en-US"/>
          </a:p>
        </p:txBody>
      </p:sp>
      <p:sp>
        <p:nvSpPr>
          <p:cNvPr id="571424012" name="Slide Number Placeholder 3"/>
          <p:cNvSpPr>
            <a:spLocks noGrp="1"/>
          </p:cNvSpPr>
          <p:nvPr>
            <p:ph type="sldNum" sz="quarter" idx="10"/>
          </p:nvPr>
        </p:nvSpPr>
        <p:spPr bwMode="auto"/>
        <p:txBody>
          <a:bodyPr/>
          <a:lstStyle/>
          <a:p>
            <a:pPr>
              <a:defRPr/>
            </a:pPr>
            <a:fld id="{F7021451-1387-4CA6-816F-3879F97B5CBC}" type="slidenum">
              <a:rPr lang="en-US"/>
              <a:t>16</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9.png"/><Relationship Id="rId4" Type="http://schemas.openxmlformats.org/officeDocument/2006/relationships/image" Target="../media/image50.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image" Target="../media/image61.png"/><Relationship Id="rId14" Type="http://schemas.openxmlformats.org/officeDocument/2006/relationships/image" Target="../media/image62.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image" Target="../media/image71.png"/><Relationship Id="rId7" Type="http://schemas.openxmlformats.org/officeDocument/2006/relationships/image" Target="../media/image72.pn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3.pn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1E1B4B"/>
        </a:solidFill>
      </p:bgPr>
    </p:bg>
    <p:spTree>
      <p:nvGrpSpPr>
        <p:cNvPr id="1" name=""/>
        <p:cNvGrpSpPr/>
        <p:nvPr/>
      </p:nvGrpSpPr>
      <p:grpSpPr bwMode="auto">
        <a:xfrm>
          <a:off x="0" y="0"/>
          <a:ext cx="0" cy="0"/>
          <a:chOff x="0" y="0"/>
          <a:chExt cx="0" cy="0"/>
        </a:xfrm>
      </p:grpSpPr>
      <p:pic>
        <p:nvPicPr>
          <p:cNvPr id="282348776" name="Image 0" descr="preencoded.png"/>
          <p:cNvPicPr>
            <a:picLocks noChangeAspect="1"/>
          </p:cNvPicPr>
          <p:nvPr/>
        </p:nvPicPr>
        <p:blipFill rotWithShape="1">
          <a:blip r:embed="rId3"/>
          <a:stretch/>
        </p:blipFill>
        <p:spPr bwMode="auto">
          <a:xfrm>
            <a:off x="0" y="0"/>
            <a:ext cx="12191695" cy="6858000"/>
          </a:xfrm>
          <a:prstGeom prst="rect">
            <a:avLst/>
          </a:prstGeom>
        </p:spPr>
      </p:pic>
      <p:pic>
        <p:nvPicPr>
          <p:cNvPr id="1154178265" name="Image 1" descr="preencoded.png"/>
          <p:cNvPicPr>
            <a:picLocks noChangeAspect="1"/>
          </p:cNvPicPr>
          <p:nvPr/>
        </p:nvPicPr>
        <p:blipFill rotWithShape="1">
          <a:blip r:embed="rId4"/>
          <a:stretch/>
        </p:blipFill>
        <p:spPr bwMode="auto">
          <a:xfrm>
            <a:off x="640080" y="594360"/>
            <a:ext cx="566928" cy="566928"/>
          </a:xfrm>
          <a:prstGeom prst="rect">
            <a:avLst/>
          </a:prstGeom>
        </p:spPr>
      </p:pic>
      <p:sp>
        <p:nvSpPr>
          <p:cNvPr id="1603009847" name="Text 0"/>
          <p:cNvSpPr/>
          <p:nvPr/>
        </p:nvSpPr>
        <p:spPr bwMode="auto">
          <a:xfrm>
            <a:off x="1325880" y="594360"/>
            <a:ext cx="7315200" cy="566928"/>
          </a:xfrm>
          <a:prstGeom prst="rect">
            <a:avLst/>
          </a:prstGeom>
          <a:noFill/>
          <a:ln/>
        </p:spPr>
        <p:txBody>
          <a:bodyPr wrap="square" lIns="0" tIns="0" rIns="0" bIns="0" rtlCol="0" anchor="ctr"/>
          <a:lstStyle/>
          <a:p>
            <a:pPr marL="0" indent="0">
              <a:buNone/>
              <a:defRPr/>
            </a:pPr>
            <a:r>
              <a:rPr lang="en-US" sz="1300" b="1" spc="200">
                <a:solidFill>
                  <a:srgbClr val="C7D2FE"/>
                </a:solidFill>
                <a:latin typeface="Calibri"/>
                <a:ea typeface="Calibri"/>
                <a:cs typeface="Calibri"/>
              </a:rPr>
              <a:t>MARKIT  ·  UNIVERSITY PROJECT</a:t>
            </a:r>
            <a:endParaRPr lang="en-US" sz="1300"/>
          </a:p>
        </p:txBody>
      </p:sp>
      <p:sp>
        <p:nvSpPr>
          <p:cNvPr id="1050836561" name="Text 1"/>
          <p:cNvSpPr/>
          <p:nvPr/>
        </p:nvSpPr>
        <p:spPr bwMode="auto">
          <a:xfrm>
            <a:off x="640080" y="2331720"/>
            <a:ext cx="9144000" cy="1371600"/>
          </a:xfrm>
          <a:prstGeom prst="rect">
            <a:avLst/>
          </a:prstGeom>
          <a:noFill/>
          <a:ln/>
        </p:spPr>
        <p:txBody>
          <a:bodyPr wrap="square" lIns="0" tIns="0" rIns="0" bIns="0" rtlCol="0" anchor="ctr"/>
          <a:lstStyle/>
          <a:p>
            <a:pPr marL="0" indent="0">
              <a:buNone/>
              <a:defRPr/>
            </a:pPr>
            <a:r>
              <a:rPr lang="en-US" sz="7200" b="1">
                <a:solidFill>
                  <a:srgbClr val="FFFFFF"/>
                </a:solidFill>
                <a:latin typeface="Arial"/>
                <a:ea typeface="Arial"/>
                <a:cs typeface="Arial"/>
              </a:rPr>
              <a:t>MarkIt</a:t>
            </a:r>
            <a:endParaRPr lang="en-US" sz="7200"/>
          </a:p>
        </p:txBody>
      </p:sp>
      <p:sp>
        <p:nvSpPr>
          <p:cNvPr id="1317015584" name="Text 2"/>
          <p:cNvSpPr/>
          <p:nvPr/>
        </p:nvSpPr>
        <p:spPr bwMode="auto">
          <a:xfrm>
            <a:off x="658368" y="3520440"/>
            <a:ext cx="8686800" cy="502920"/>
          </a:xfrm>
          <a:prstGeom prst="rect">
            <a:avLst/>
          </a:prstGeom>
          <a:noFill/>
          <a:ln/>
        </p:spPr>
        <p:txBody>
          <a:bodyPr wrap="square" lIns="0" tIns="0" rIns="0" bIns="0" rtlCol="0" anchor="ctr"/>
          <a:lstStyle/>
          <a:p>
            <a:pPr marL="0" indent="0">
              <a:buNone/>
              <a:defRPr/>
            </a:pPr>
            <a:r>
              <a:rPr lang="en-US" sz="2000" i="1">
                <a:solidFill>
                  <a:srgbClr val="C7D2FE"/>
                </a:solidFill>
                <a:latin typeface="Calibri"/>
                <a:ea typeface="Calibri"/>
                <a:cs typeface="Calibri"/>
              </a:rPr>
              <a:t>Smart attendance tracking for modern classrooms</a:t>
            </a:r>
            <a:endParaRPr lang="en-US" sz="2000"/>
          </a:p>
        </p:txBody>
      </p:sp>
      <p:sp>
        <p:nvSpPr>
          <p:cNvPr id="299030792" name="Text 3"/>
          <p:cNvSpPr/>
          <p:nvPr/>
        </p:nvSpPr>
        <p:spPr bwMode="auto">
          <a:xfrm>
            <a:off x="658368" y="4023360"/>
            <a:ext cx="8686800" cy="365760"/>
          </a:xfrm>
          <a:prstGeom prst="rect">
            <a:avLst/>
          </a:prstGeom>
          <a:noFill/>
          <a:ln/>
        </p:spPr>
        <p:txBody>
          <a:bodyPr wrap="square" lIns="0" tIns="0" rIns="0" bIns="0" rtlCol="0" anchor="ctr"/>
          <a:lstStyle/>
          <a:p>
            <a:pPr marL="0" indent="0">
              <a:buNone/>
              <a:defRPr/>
            </a:pPr>
            <a:r>
              <a:rPr lang="en-US" sz="1300">
                <a:solidFill>
                  <a:srgbClr val="A5B4FC"/>
                </a:solidFill>
                <a:latin typeface="Calibri"/>
                <a:ea typeface="Calibri"/>
                <a:cs typeface="Calibri"/>
              </a:rPr>
              <a:t>A secure, web-based Attendance Management System for universities</a:t>
            </a:r>
            <a:endParaRPr lang="en-US" sz="13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5">
    <p:bg>
      <p:bgPr shadeToTitle="0">
        <a:solidFill>
          <a:srgbClr val="FFFFFF"/>
        </a:solidFill>
      </p:bgPr>
    </p:bg>
    <p:spTree>
      <p:nvGrpSpPr>
        <p:cNvPr id="1" name=""/>
        <p:cNvGrpSpPr/>
        <p:nvPr/>
      </p:nvGrpSpPr>
      <p:grpSpPr bwMode="auto">
        <a:xfrm>
          <a:off x="0" y="0"/>
          <a:ext cx="0" cy="0"/>
          <a:chOff x="0" y="0"/>
          <a:chExt cx="0" cy="0"/>
        </a:xfrm>
      </p:grpSpPr>
      <p:sp>
        <p:nvSpPr>
          <p:cNvPr id="923851165"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THE PEOPLE BEHIND IT</a:t>
            </a:r>
            <a:endParaRPr lang="en-US" sz="1200"/>
          </a:p>
        </p:txBody>
      </p:sp>
      <p:sp>
        <p:nvSpPr>
          <p:cNvPr id="1608817092"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Our Team</a:t>
            </a:r>
            <a:endParaRPr lang="en-US" sz="3400"/>
          </a:p>
        </p:txBody>
      </p:sp>
      <p:sp>
        <p:nvSpPr>
          <p:cNvPr id="35939064"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Four builders, one system</a:t>
            </a:r>
            <a:endParaRPr lang="en-US" sz="1500"/>
          </a:p>
        </p:txBody>
      </p:sp>
      <p:sp>
        <p:nvSpPr>
          <p:cNvPr id="168964507" name="Shape 3"/>
          <p:cNvSpPr/>
          <p:nvPr/>
        </p:nvSpPr>
        <p:spPr bwMode="auto">
          <a:xfrm>
            <a:off x="548640" y="2023744"/>
            <a:ext cx="2606040" cy="3474720"/>
          </a:xfrm>
          <a:prstGeom prst="roundRect">
            <a:avLst>
              <a:gd name="adj" fmla="val 3509"/>
            </a:avLst>
          </a:prstGeom>
          <a:solidFill>
            <a:srgbClr val="F8FAFC"/>
          </a:solidFill>
          <a:ln w="12700">
            <a:solidFill>
              <a:srgbClr val="E2E8F0"/>
            </a:solidFill>
            <a:prstDash val="solid"/>
          </a:ln>
          <a:effectLst>
            <a:outerShdw blurRad="101600" dist="25400" dir="5400000" sx="100000" sy="100000" kx="0" ky="0" algn="bl" rotWithShape="0">
              <a:srgbClr val="64748B">
                <a:alpha val="15000"/>
              </a:srgbClr>
            </a:outerShdw>
          </a:effectLst>
        </p:spPr>
      </p:sp>
      <p:pic>
        <p:nvPicPr>
          <p:cNvPr id="1689665535" name="Image 0" descr="preencoded.png"/>
          <p:cNvPicPr>
            <a:picLocks noChangeAspect="1"/>
          </p:cNvPicPr>
          <p:nvPr/>
        </p:nvPicPr>
        <p:blipFill rotWithShape="1">
          <a:blip r:embed="rId3"/>
          <a:stretch/>
        </p:blipFill>
        <p:spPr bwMode="auto">
          <a:xfrm>
            <a:off x="1394460" y="2627629"/>
            <a:ext cx="914400" cy="914400"/>
          </a:xfrm>
          <a:prstGeom prst="rect">
            <a:avLst/>
          </a:prstGeom>
        </p:spPr>
      </p:pic>
      <p:sp>
        <p:nvSpPr>
          <p:cNvPr id="1623947990" name="Text 4"/>
          <p:cNvSpPr/>
          <p:nvPr/>
        </p:nvSpPr>
        <p:spPr bwMode="auto">
          <a:xfrm>
            <a:off x="685800" y="3724909"/>
            <a:ext cx="2331720" cy="594360"/>
          </a:xfrm>
          <a:prstGeom prst="rect">
            <a:avLst/>
          </a:prstGeom>
          <a:noFill/>
          <a:ln/>
        </p:spPr>
        <p:txBody>
          <a:bodyPr wrap="square" lIns="0" tIns="0" rIns="0" bIns="0" rtlCol="0" anchor="t"/>
          <a:lstStyle/>
          <a:p>
            <a:pPr marL="0" indent="0" algn="ctr">
              <a:buNone/>
              <a:defRPr/>
            </a:pPr>
            <a:r>
              <a:rPr lang="en-US" sz="1350" b="1">
                <a:solidFill>
                  <a:srgbClr val="0F172A"/>
                </a:solidFill>
                <a:latin typeface="Arial"/>
                <a:ea typeface="Arial"/>
                <a:cs typeface="Arial"/>
              </a:rPr>
              <a:t>Mirazul Momen Miraz</a:t>
            </a:r>
            <a:endParaRPr lang="en-US" sz="1350"/>
          </a:p>
        </p:txBody>
      </p:sp>
      <p:sp>
        <p:nvSpPr>
          <p:cNvPr id="1762682149" name="Text 5"/>
          <p:cNvSpPr/>
          <p:nvPr/>
        </p:nvSpPr>
        <p:spPr bwMode="auto">
          <a:xfrm>
            <a:off x="685800" y="4108576"/>
            <a:ext cx="2331720" cy="274320"/>
          </a:xfrm>
          <a:prstGeom prst="rect">
            <a:avLst/>
          </a:prstGeom>
          <a:noFill/>
          <a:ln/>
        </p:spPr>
        <p:txBody>
          <a:bodyPr wrap="square" lIns="0" tIns="0" rIns="0" bIns="0" rtlCol="0" anchor="ctr"/>
          <a:lstStyle/>
          <a:p>
            <a:pPr marL="0" indent="0" algn="ctr">
              <a:buNone/>
              <a:defRPr/>
            </a:pPr>
            <a:r>
              <a:rPr lang="en-US" sz="1050">
                <a:solidFill>
                  <a:srgbClr val="64748B"/>
                </a:solidFill>
                <a:latin typeface="Calibri"/>
                <a:ea typeface="Calibri"/>
                <a:cs typeface="Calibri"/>
              </a:rPr>
              <a:t>ID: 202411068036</a:t>
            </a:r>
            <a:endParaRPr lang="en-US" sz="1050"/>
          </a:p>
        </p:txBody>
      </p:sp>
      <p:sp>
        <p:nvSpPr>
          <p:cNvPr id="506553819" name="Shape 8"/>
          <p:cNvSpPr/>
          <p:nvPr/>
        </p:nvSpPr>
        <p:spPr bwMode="auto">
          <a:xfrm>
            <a:off x="3429000" y="2023744"/>
            <a:ext cx="2606040" cy="3474720"/>
          </a:xfrm>
          <a:prstGeom prst="roundRect">
            <a:avLst>
              <a:gd name="adj" fmla="val 3509"/>
            </a:avLst>
          </a:prstGeom>
          <a:solidFill>
            <a:srgbClr val="F8FAFC"/>
          </a:solidFill>
          <a:ln w="12700">
            <a:solidFill>
              <a:srgbClr val="E2E8F0"/>
            </a:solidFill>
            <a:prstDash val="solid"/>
          </a:ln>
          <a:effectLst>
            <a:outerShdw blurRad="101600" dist="25400" dir="5400000" sx="100000" sy="100000" kx="0" ky="0" algn="bl" rotWithShape="0">
              <a:srgbClr val="64748B">
                <a:alpha val="15000"/>
              </a:srgbClr>
            </a:outerShdw>
          </a:effectLst>
        </p:spPr>
      </p:sp>
      <p:pic>
        <p:nvPicPr>
          <p:cNvPr id="1610155632" name="Image 1" descr="preencoded.png"/>
          <p:cNvPicPr>
            <a:picLocks noChangeAspect="1"/>
          </p:cNvPicPr>
          <p:nvPr/>
        </p:nvPicPr>
        <p:blipFill rotWithShape="1">
          <a:blip r:embed="rId4"/>
          <a:stretch/>
        </p:blipFill>
        <p:spPr bwMode="auto">
          <a:xfrm>
            <a:off x="4274820" y="2627629"/>
            <a:ext cx="914400" cy="914400"/>
          </a:xfrm>
          <a:prstGeom prst="rect">
            <a:avLst/>
          </a:prstGeom>
        </p:spPr>
      </p:pic>
      <p:sp>
        <p:nvSpPr>
          <p:cNvPr id="1803318830" name="Text 9"/>
          <p:cNvSpPr/>
          <p:nvPr/>
        </p:nvSpPr>
        <p:spPr bwMode="auto">
          <a:xfrm>
            <a:off x="3566160" y="3724909"/>
            <a:ext cx="2331720" cy="594360"/>
          </a:xfrm>
          <a:prstGeom prst="rect">
            <a:avLst/>
          </a:prstGeom>
          <a:noFill/>
          <a:ln/>
        </p:spPr>
        <p:txBody>
          <a:bodyPr wrap="square" lIns="0" tIns="0" rIns="0" bIns="0" rtlCol="0" anchor="t"/>
          <a:lstStyle/>
          <a:p>
            <a:pPr marL="0" indent="0" algn="ctr">
              <a:buNone/>
              <a:defRPr/>
            </a:pPr>
            <a:r>
              <a:rPr lang="en-US" sz="1350" b="1">
                <a:solidFill>
                  <a:srgbClr val="0F172A"/>
                </a:solidFill>
                <a:latin typeface="Arial"/>
                <a:ea typeface="Arial"/>
                <a:cs typeface="Arial"/>
              </a:rPr>
              <a:t>Ratul Hassan Joy</a:t>
            </a:r>
            <a:endParaRPr lang="en-US" sz="1350"/>
          </a:p>
        </p:txBody>
      </p:sp>
      <p:sp>
        <p:nvSpPr>
          <p:cNvPr id="965506404" name="Text 10"/>
          <p:cNvSpPr/>
          <p:nvPr/>
        </p:nvSpPr>
        <p:spPr bwMode="auto">
          <a:xfrm>
            <a:off x="3566160" y="4108576"/>
            <a:ext cx="2331720" cy="274320"/>
          </a:xfrm>
          <a:prstGeom prst="rect">
            <a:avLst/>
          </a:prstGeom>
          <a:noFill/>
          <a:ln/>
        </p:spPr>
        <p:txBody>
          <a:bodyPr wrap="square" lIns="0" tIns="0" rIns="0" bIns="0" rtlCol="0" anchor="ctr"/>
          <a:lstStyle/>
          <a:p>
            <a:pPr marL="0" indent="0" algn="ctr">
              <a:buNone/>
              <a:defRPr/>
            </a:pPr>
            <a:r>
              <a:rPr lang="en-US" sz="1050">
                <a:solidFill>
                  <a:srgbClr val="64748B"/>
                </a:solidFill>
                <a:latin typeface="Calibri"/>
                <a:ea typeface="Calibri"/>
                <a:cs typeface="Calibri"/>
              </a:rPr>
              <a:t>ID: 202411068032</a:t>
            </a:r>
            <a:endParaRPr lang="en-US" sz="1050"/>
          </a:p>
        </p:txBody>
      </p:sp>
      <p:sp>
        <p:nvSpPr>
          <p:cNvPr id="1536894853" name="Shape 13"/>
          <p:cNvSpPr/>
          <p:nvPr/>
        </p:nvSpPr>
        <p:spPr bwMode="auto">
          <a:xfrm>
            <a:off x="6309360" y="2023744"/>
            <a:ext cx="2606040" cy="3474720"/>
          </a:xfrm>
          <a:prstGeom prst="roundRect">
            <a:avLst>
              <a:gd name="adj" fmla="val 3509"/>
            </a:avLst>
          </a:prstGeom>
          <a:solidFill>
            <a:srgbClr val="F8FAFC"/>
          </a:solidFill>
          <a:ln w="12700">
            <a:solidFill>
              <a:srgbClr val="E2E8F0"/>
            </a:solidFill>
            <a:prstDash val="solid"/>
          </a:ln>
          <a:effectLst>
            <a:outerShdw blurRad="101600" dist="25400" dir="5400000" sx="100000" sy="100000" kx="0" ky="0" algn="bl" rotWithShape="0">
              <a:srgbClr val="64748B">
                <a:alpha val="15000"/>
              </a:srgbClr>
            </a:outerShdw>
          </a:effectLst>
        </p:spPr>
      </p:sp>
      <p:pic>
        <p:nvPicPr>
          <p:cNvPr id="241890982" name="Image 2" descr="preencoded.png"/>
          <p:cNvPicPr>
            <a:picLocks noChangeAspect="1"/>
          </p:cNvPicPr>
          <p:nvPr/>
        </p:nvPicPr>
        <p:blipFill rotWithShape="1">
          <a:blip r:embed="rId5"/>
          <a:stretch/>
        </p:blipFill>
        <p:spPr bwMode="auto">
          <a:xfrm>
            <a:off x="7155180" y="2627629"/>
            <a:ext cx="914400" cy="914400"/>
          </a:xfrm>
          <a:prstGeom prst="rect">
            <a:avLst/>
          </a:prstGeom>
        </p:spPr>
      </p:pic>
      <p:sp>
        <p:nvSpPr>
          <p:cNvPr id="2062691465" name="Text 14"/>
          <p:cNvSpPr/>
          <p:nvPr/>
        </p:nvSpPr>
        <p:spPr bwMode="auto">
          <a:xfrm>
            <a:off x="6446520" y="3724909"/>
            <a:ext cx="2331720" cy="594360"/>
          </a:xfrm>
          <a:prstGeom prst="rect">
            <a:avLst/>
          </a:prstGeom>
          <a:noFill/>
          <a:ln/>
        </p:spPr>
        <p:txBody>
          <a:bodyPr wrap="square" lIns="0" tIns="0" rIns="0" bIns="0" rtlCol="0" anchor="t"/>
          <a:lstStyle/>
          <a:p>
            <a:pPr marL="0" indent="0" algn="ctr">
              <a:buNone/>
              <a:defRPr/>
            </a:pPr>
            <a:r>
              <a:rPr lang="en-US" sz="1350" b="1">
                <a:solidFill>
                  <a:srgbClr val="0F172A"/>
                </a:solidFill>
                <a:latin typeface="Arial"/>
                <a:ea typeface="Arial"/>
                <a:cs typeface="Arial"/>
              </a:rPr>
              <a:t>Md. Sadakin Sanjid</a:t>
            </a:r>
            <a:endParaRPr lang="en-US" sz="1350"/>
          </a:p>
        </p:txBody>
      </p:sp>
      <p:sp>
        <p:nvSpPr>
          <p:cNvPr id="1713628283" name="Text 15"/>
          <p:cNvSpPr/>
          <p:nvPr/>
        </p:nvSpPr>
        <p:spPr bwMode="auto">
          <a:xfrm>
            <a:off x="6446520" y="4108576"/>
            <a:ext cx="2331720" cy="274320"/>
          </a:xfrm>
          <a:prstGeom prst="rect">
            <a:avLst/>
          </a:prstGeom>
          <a:noFill/>
          <a:ln/>
        </p:spPr>
        <p:txBody>
          <a:bodyPr wrap="square" lIns="0" tIns="0" rIns="0" bIns="0" rtlCol="0" anchor="ctr"/>
          <a:lstStyle/>
          <a:p>
            <a:pPr marL="0" indent="0" algn="ctr">
              <a:buNone/>
              <a:defRPr/>
            </a:pPr>
            <a:r>
              <a:rPr lang="en-US" sz="1050">
                <a:solidFill>
                  <a:srgbClr val="64748B"/>
                </a:solidFill>
                <a:latin typeface="Calibri"/>
                <a:ea typeface="Calibri"/>
                <a:cs typeface="Calibri"/>
              </a:rPr>
              <a:t>ID: 202411068033</a:t>
            </a:r>
            <a:endParaRPr lang="en-US" sz="1050"/>
          </a:p>
        </p:txBody>
      </p:sp>
      <p:sp>
        <p:nvSpPr>
          <p:cNvPr id="1890844062" name="Shape 18"/>
          <p:cNvSpPr/>
          <p:nvPr/>
        </p:nvSpPr>
        <p:spPr bwMode="auto">
          <a:xfrm>
            <a:off x="9189720" y="2023744"/>
            <a:ext cx="2606040" cy="3474720"/>
          </a:xfrm>
          <a:prstGeom prst="roundRect">
            <a:avLst>
              <a:gd name="adj" fmla="val 3509"/>
            </a:avLst>
          </a:prstGeom>
          <a:solidFill>
            <a:srgbClr val="F8FAFC"/>
          </a:solidFill>
          <a:ln w="12700">
            <a:solidFill>
              <a:srgbClr val="E2E8F0"/>
            </a:solidFill>
            <a:prstDash val="solid"/>
          </a:ln>
          <a:effectLst>
            <a:outerShdw blurRad="101600" dist="25400" dir="5400000" sx="100000" sy="100000" kx="0" ky="0" algn="bl" rotWithShape="0">
              <a:srgbClr val="64748B">
                <a:alpha val="15000"/>
              </a:srgbClr>
            </a:outerShdw>
          </a:effectLst>
        </p:spPr>
      </p:sp>
      <p:pic>
        <p:nvPicPr>
          <p:cNvPr id="1721153707" name="Image 3" descr="preencoded.png"/>
          <p:cNvPicPr>
            <a:picLocks noChangeAspect="1"/>
          </p:cNvPicPr>
          <p:nvPr/>
        </p:nvPicPr>
        <p:blipFill rotWithShape="1">
          <a:blip r:embed="rId6"/>
          <a:stretch/>
        </p:blipFill>
        <p:spPr bwMode="auto">
          <a:xfrm>
            <a:off x="10035540" y="2627629"/>
            <a:ext cx="914400" cy="914400"/>
          </a:xfrm>
          <a:prstGeom prst="rect">
            <a:avLst/>
          </a:prstGeom>
        </p:spPr>
      </p:pic>
      <p:sp>
        <p:nvSpPr>
          <p:cNvPr id="2116628773" name="Text 19"/>
          <p:cNvSpPr/>
          <p:nvPr/>
        </p:nvSpPr>
        <p:spPr bwMode="auto">
          <a:xfrm>
            <a:off x="9326880" y="3724909"/>
            <a:ext cx="2331720" cy="594360"/>
          </a:xfrm>
          <a:prstGeom prst="rect">
            <a:avLst/>
          </a:prstGeom>
          <a:noFill/>
          <a:ln/>
        </p:spPr>
        <p:txBody>
          <a:bodyPr wrap="square" lIns="0" tIns="0" rIns="0" bIns="0" rtlCol="0" anchor="t"/>
          <a:lstStyle/>
          <a:p>
            <a:pPr marL="0" indent="0" algn="ctr">
              <a:buNone/>
              <a:defRPr/>
            </a:pPr>
            <a:r>
              <a:rPr lang="en-US" sz="1350" b="1">
                <a:solidFill>
                  <a:srgbClr val="0F172A"/>
                </a:solidFill>
                <a:latin typeface="Arial"/>
                <a:ea typeface="Arial"/>
                <a:cs typeface="Arial"/>
              </a:rPr>
              <a:t>Bushra Basher</a:t>
            </a:r>
            <a:endParaRPr lang="en-US" sz="1350"/>
          </a:p>
        </p:txBody>
      </p:sp>
      <p:sp>
        <p:nvSpPr>
          <p:cNvPr id="321772062" name="Text 20"/>
          <p:cNvSpPr/>
          <p:nvPr/>
        </p:nvSpPr>
        <p:spPr bwMode="auto">
          <a:xfrm>
            <a:off x="9326880" y="4108576"/>
            <a:ext cx="2331720" cy="274320"/>
          </a:xfrm>
          <a:prstGeom prst="rect">
            <a:avLst/>
          </a:prstGeom>
          <a:noFill/>
          <a:ln/>
        </p:spPr>
        <p:txBody>
          <a:bodyPr wrap="square" lIns="0" tIns="0" rIns="0" bIns="0" rtlCol="0" anchor="ctr"/>
          <a:lstStyle/>
          <a:p>
            <a:pPr marL="0" indent="0" algn="ctr">
              <a:buNone/>
              <a:defRPr/>
            </a:pPr>
            <a:r>
              <a:rPr lang="en-US" sz="1050">
                <a:solidFill>
                  <a:srgbClr val="64748B"/>
                </a:solidFill>
                <a:latin typeface="Calibri"/>
                <a:ea typeface="Calibri"/>
                <a:cs typeface="Calibri"/>
              </a:rPr>
              <a:t>ID: 202411068004</a:t>
            </a:r>
            <a:endParaRPr lang="en-US" sz="1050"/>
          </a:p>
        </p:txBody>
      </p:sp>
      <p:sp>
        <p:nvSpPr>
          <p:cNvPr id="1108594606" name="Text 23"/>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Our Team</a:t>
            </a:r>
            <a:endParaRPr lang="en-US" sz="900"/>
          </a:p>
        </p:txBody>
      </p:sp>
      <p:sp>
        <p:nvSpPr>
          <p:cNvPr id="60516176" name="Text 24"/>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2</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FFFFF"/>
        </a:solidFill>
      </p:bgPr>
    </p:bg>
    <p:spTree>
      <p:nvGrpSpPr>
        <p:cNvPr id="1" name=""/>
        <p:cNvGrpSpPr/>
        <p:nvPr/>
      </p:nvGrpSpPr>
      <p:grpSpPr bwMode="auto">
        <a:xfrm>
          <a:off x="0" y="0"/>
          <a:ext cx="0" cy="0"/>
          <a:chOff x="0" y="0"/>
          <a:chExt cx="0" cy="0"/>
        </a:xfrm>
      </p:grpSpPr>
      <p:sp>
        <p:nvSpPr>
          <p:cNvPr id="1544879493"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THE CHALLENGE</a:t>
            </a:r>
            <a:endParaRPr lang="en-US" sz="1200"/>
          </a:p>
        </p:txBody>
      </p:sp>
      <p:sp>
        <p:nvSpPr>
          <p:cNvPr id="141130244"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The Problem</a:t>
            </a:r>
            <a:endParaRPr lang="en-US" sz="3400"/>
          </a:p>
        </p:txBody>
      </p:sp>
      <p:sp>
        <p:nvSpPr>
          <p:cNvPr id="693928828"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Paper-based attendance is holding modern classrooms back</a:t>
            </a:r>
            <a:endParaRPr lang="en-US" sz="1500"/>
          </a:p>
        </p:txBody>
      </p:sp>
      <p:sp>
        <p:nvSpPr>
          <p:cNvPr id="309101466" name="Shape 3"/>
          <p:cNvSpPr/>
          <p:nvPr/>
        </p:nvSpPr>
        <p:spPr bwMode="auto">
          <a:xfrm>
            <a:off x="548640" y="1965960"/>
            <a:ext cx="5074920" cy="1783080"/>
          </a:xfrm>
          <a:prstGeom prst="roundRect">
            <a:avLst>
              <a:gd name="adj" fmla="val 5128"/>
            </a:avLst>
          </a:prstGeom>
          <a:solidFill>
            <a:srgbClr val="F8FAFC"/>
          </a:solidFill>
          <a:ln w="12700">
            <a:solidFill>
              <a:srgbClr val="E2E8F0"/>
            </a:solidFill>
            <a:prstDash val="solid"/>
          </a:ln>
          <a:effectLst>
            <a:outerShdw blurRad="101600" dist="25400" dir="5400000" sx="100000" sy="100000" kx="0" ky="0" algn="bl" rotWithShape="0">
              <a:srgbClr val="64748B">
                <a:alpha val="18000"/>
              </a:srgbClr>
            </a:outerShdw>
          </a:effectLst>
        </p:spPr>
      </p:sp>
      <p:pic>
        <p:nvPicPr>
          <p:cNvPr id="234592410" name="Image 0" descr="preencoded.png"/>
          <p:cNvPicPr>
            <a:picLocks noChangeAspect="1"/>
          </p:cNvPicPr>
          <p:nvPr/>
        </p:nvPicPr>
        <p:blipFill rotWithShape="1">
          <a:blip r:embed="rId3"/>
          <a:stretch/>
        </p:blipFill>
        <p:spPr bwMode="auto">
          <a:xfrm>
            <a:off x="822960" y="2240280"/>
            <a:ext cx="621792" cy="621792"/>
          </a:xfrm>
          <a:prstGeom prst="rect">
            <a:avLst/>
          </a:prstGeom>
        </p:spPr>
      </p:pic>
      <p:sp>
        <p:nvSpPr>
          <p:cNvPr id="853790905" name="Text 4"/>
          <p:cNvSpPr/>
          <p:nvPr/>
        </p:nvSpPr>
        <p:spPr bwMode="auto">
          <a:xfrm>
            <a:off x="1645920" y="2221992"/>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Slow to Take</a:t>
            </a:r>
            <a:endParaRPr lang="en-US" sz="1600"/>
          </a:p>
        </p:txBody>
      </p:sp>
      <p:sp>
        <p:nvSpPr>
          <p:cNvPr id="1968703308" name="Text 5"/>
          <p:cNvSpPr/>
          <p:nvPr/>
        </p:nvSpPr>
        <p:spPr bwMode="auto">
          <a:xfrm>
            <a:off x="1645920" y="2624328"/>
            <a:ext cx="3703320" cy="914400"/>
          </a:xfrm>
          <a:prstGeom prst="rect">
            <a:avLst/>
          </a:prstGeom>
          <a:noFill/>
          <a:ln/>
        </p:spPr>
        <p:txBody>
          <a:bodyPr wrap="square" lIns="0" tIns="0" rIns="0" bIns="0" rtlCol="0" anchor="t"/>
          <a:lstStyle/>
          <a:p>
            <a:pPr marL="0" indent="0">
              <a:buNone/>
              <a:defRPr/>
            </a:pPr>
            <a:r>
              <a:rPr lang="en-US" sz="1250">
                <a:solidFill>
                  <a:srgbClr val="475569"/>
                </a:solidFill>
                <a:latin typeface="Calibri"/>
                <a:ea typeface="Calibri"/>
                <a:cs typeface="Calibri"/>
              </a:rPr>
              <a:t>Manual roll-call eats 10-15 minutes of every class.</a:t>
            </a:r>
            <a:endParaRPr lang="en-US" sz="1250"/>
          </a:p>
        </p:txBody>
      </p:sp>
      <p:sp>
        <p:nvSpPr>
          <p:cNvPr id="226156882" name="Shape 6"/>
          <p:cNvSpPr/>
          <p:nvPr/>
        </p:nvSpPr>
        <p:spPr bwMode="auto">
          <a:xfrm>
            <a:off x="5989320" y="1965960"/>
            <a:ext cx="5074920" cy="1783080"/>
          </a:xfrm>
          <a:prstGeom prst="roundRect">
            <a:avLst>
              <a:gd name="adj" fmla="val 5128"/>
            </a:avLst>
          </a:prstGeom>
          <a:solidFill>
            <a:srgbClr val="F8FAFC"/>
          </a:solidFill>
          <a:ln w="12700">
            <a:solidFill>
              <a:srgbClr val="E2E8F0"/>
            </a:solidFill>
            <a:prstDash val="solid"/>
          </a:ln>
          <a:effectLst>
            <a:outerShdw blurRad="101600" dist="25400" dir="5400000" sx="100000" sy="100000" kx="0" ky="0" algn="bl" rotWithShape="0">
              <a:srgbClr val="64748B">
                <a:alpha val="18000"/>
              </a:srgbClr>
            </a:outerShdw>
          </a:effectLst>
        </p:spPr>
      </p:sp>
      <p:pic>
        <p:nvPicPr>
          <p:cNvPr id="708938594" name="Image 1" descr="preencoded.png"/>
          <p:cNvPicPr>
            <a:picLocks noChangeAspect="1"/>
          </p:cNvPicPr>
          <p:nvPr/>
        </p:nvPicPr>
        <p:blipFill rotWithShape="1">
          <a:blip r:embed="rId4"/>
          <a:stretch/>
        </p:blipFill>
        <p:spPr bwMode="auto">
          <a:xfrm>
            <a:off x="6263640" y="2240280"/>
            <a:ext cx="621792" cy="621792"/>
          </a:xfrm>
          <a:prstGeom prst="rect">
            <a:avLst/>
          </a:prstGeom>
        </p:spPr>
      </p:pic>
      <p:sp>
        <p:nvSpPr>
          <p:cNvPr id="1939518157" name="Text 7"/>
          <p:cNvSpPr/>
          <p:nvPr/>
        </p:nvSpPr>
        <p:spPr bwMode="auto">
          <a:xfrm>
            <a:off x="7086600" y="2221992"/>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Easy to Forge</a:t>
            </a:r>
            <a:endParaRPr lang="en-US" sz="1600"/>
          </a:p>
        </p:txBody>
      </p:sp>
      <p:sp>
        <p:nvSpPr>
          <p:cNvPr id="1950410647" name="Text 8"/>
          <p:cNvSpPr/>
          <p:nvPr/>
        </p:nvSpPr>
        <p:spPr bwMode="auto">
          <a:xfrm>
            <a:off x="7086600" y="2624328"/>
            <a:ext cx="3703320" cy="914400"/>
          </a:xfrm>
          <a:prstGeom prst="rect">
            <a:avLst/>
          </a:prstGeom>
          <a:noFill/>
          <a:ln/>
        </p:spPr>
        <p:txBody>
          <a:bodyPr wrap="square" lIns="0" tIns="0" rIns="0" bIns="0" rtlCol="0" anchor="t"/>
          <a:lstStyle/>
          <a:p>
            <a:pPr marL="0" indent="0">
              <a:buNone/>
              <a:defRPr/>
            </a:pPr>
            <a:r>
              <a:rPr lang="en-US" sz="1250">
                <a:solidFill>
                  <a:srgbClr val="475569"/>
                </a:solidFill>
                <a:latin typeface="Calibri"/>
                <a:ea typeface="Calibri"/>
                <a:cs typeface="Calibri"/>
              </a:rPr>
              <a:t>Proxy attendance goes unnoticed on a paper sheet.</a:t>
            </a:r>
            <a:endParaRPr lang="en-US" sz="1250"/>
          </a:p>
        </p:txBody>
      </p:sp>
      <p:sp>
        <p:nvSpPr>
          <p:cNvPr id="279586947" name="Shape 9"/>
          <p:cNvSpPr/>
          <p:nvPr/>
        </p:nvSpPr>
        <p:spPr bwMode="auto">
          <a:xfrm>
            <a:off x="548640" y="4069080"/>
            <a:ext cx="5074920" cy="1783080"/>
          </a:xfrm>
          <a:prstGeom prst="roundRect">
            <a:avLst>
              <a:gd name="adj" fmla="val 5128"/>
            </a:avLst>
          </a:prstGeom>
          <a:solidFill>
            <a:srgbClr val="F8FAFC"/>
          </a:solidFill>
          <a:ln w="12700">
            <a:solidFill>
              <a:srgbClr val="E2E8F0"/>
            </a:solidFill>
            <a:prstDash val="solid"/>
          </a:ln>
          <a:effectLst>
            <a:outerShdw blurRad="101600" dist="25400" dir="5400000" sx="100000" sy="100000" kx="0" ky="0" algn="bl" rotWithShape="0">
              <a:srgbClr val="64748B">
                <a:alpha val="18000"/>
              </a:srgbClr>
            </a:outerShdw>
          </a:effectLst>
        </p:spPr>
      </p:sp>
      <p:pic>
        <p:nvPicPr>
          <p:cNvPr id="980454356" name="Image 2" descr="preencoded.png"/>
          <p:cNvPicPr>
            <a:picLocks noChangeAspect="1"/>
          </p:cNvPicPr>
          <p:nvPr/>
        </p:nvPicPr>
        <p:blipFill rotWithShape="1">
          <a:blip r:embed="rId5"/>
          <a:stretch/>
        </p:blipFill>
        <p:spPr bwMode="auto">
          <a:xfrm>
            <a:off x="822960" y="4343400"/>
            <a:ext cx="621792" cy="621792"/>
          </a:xfrm>
          <a:prstGeom prst="rect">
            <a:avLst/>
          </a:prstGeom>
        </p:spPr>
      </p:pic>
      <p:sp>
        <p:nvSpPr>
          <p:cNvPr id="1001469971" name="Text 10"/>
          <p:cNvSpPr/>
          <p:nvPr/>
        </p:nvSpPr>
        <p:spPr bwMode="auto">
          <a:xfrm>
            <a:off x="1645920" y="4325112"/>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Hard to Summarize</a:t>
            </a:r>
            <a:endParaRPr lang="en-US" sz="1600"/>
          </a:p>
        </p:txBody>
      </p:sp>
      <p:sp>
        <p:nvSpPr>
          <p:cNvPr id="1056966630" name="Text 11"/>
          <p:cNvSpPr/>
          <p:nvPr/>
        </p:nvSpPr>
        <p:spPr bwMode="auto">
          <a:xfrm>
            <a:off x="1645920" y="4727448"/>
            <a:ext cx="3703320" cy="914400"/>
          </a:xfrm>
          <a:prstGeom prst="rect">
            <a:avLst/>
          </a:prstGeom>
          <a:noFill/>
          <a:ln/>
        </p:spPr>
        <p:txBody>
          <a:bodyPr wrap="square" lIns="0" tIns="0" rIns="0" bIns="0" rtlCol="0" anchor="t"/>
          <a:lstStyle/>
          <a:p>
            <a:pPr marL="0" indent="0">
              <a:buNone/>
              <a:defRPr/>
            </a:pPr>
            <a:r>
              <a:rPr lang="en-US" sz="1250">
                <a:solidFill>
                  <a:srgbClr val="475569"/>
                </a:solidFill>
                <a:latin typeface="Calibri"/>
                <a:ea typeface="Calibri"/>
                <a:cs typeface="Calibri"/>
              </a:rPr>
              <a:t>Compiling monthly reports means hours of manual tallying.</a:t>
            </a:r>
            <a:endParaRPr lang="en-US" sz="1250"/>
          </a:p>
        </p:txBody>
      </p:sp>
      <p:sp>
        <p:nvSpPr>
          <p:cNvPr id="1115401229" name="Shape 12"/>
          <p:cNvSpPr/>
          <p:nvPr/>
        </p:nvSpPr>
        <p:spPr bwMode="auto">
          <a:xfrm>
            <a:off x="5989320" y="4069080"/>
            <a:ext cx="5074920" cy="1783080"/>
          </a:xfrm>
          <a:prstGeom prst="roundRect">
            <a:avLst>
              <a:gd name="adj" fmla="val 5128"/>
            </a:avLst>
          </a:prstGeom>
          <a:solidFill>
            <a:srgbClr val="F8FAFC"/>
          </a:solidFill>
          <a:ln w="12700">
            <a:solidFill>
              <a:srgbClr val="E2E8F0"/>
            </a:solidFill>
            <a:prstDash val="solid"/>
          </a:ln>
          <a:effectLst>
            <a:outerShdw blurRad="101600" dist="25400" dir="5400000" sx="100000" sy="100000" kx="0" ky="0" algn="bl" rotWithShape="0">
              <a:srgbClr val="64748B">
                <a:alpha val="18000"/>
              </a:srgbClr>
            </a:outerShdw>
          </a:effectLst>
        </p:spPr>
      </p:sp>
      <p:pic>
        <p:nvPicPr>
          <p:cNvPr id="1832414934" name="Image 3" descr="preencoded.png"/>
          <p:cNvPicPr>
            <a:picLocks noChangeAspect="1"/>
          </p:cNvPicPr>
          <p:nvPr/>
        </p:nvPicPr>
        <p:blipFill rotWithShape="1">
          <a:blip r:embed="rId6"/>
          <a:stretch/>
        </p:blipFill>
        <p:spPr bwMode="auto">
          <a:xfrm>
            <a:off x="6263640" y="4343400"/>
            <a:ext cx="621792" cy="621792"/>
          </a:xfrm>
          <a:prstGeom prst="rect">
            <a:avLst/>
          </a:prstGeom>
        </p:spPr>
      </p:pic>
      <p:sp>
        <p:nvSpPr>
          <p:cNvPr id="817857642" name="Text 13"/>
          <p:cNvSpPr/>
          <p:nvPr/>
        </p:nvSpPr>
        <p:spPr bwMode="auto">
          <a:xfrm>
            <a:off x="7086600" y="4325112"/>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Error-Prone Records</a:t>
            </a:r>
            <a:endParaRPr lang="en-US" sz="1600"/>
          </a:p>
        </p:txBody>
      </p:sp>
      <p:sp>
        <p:nvSpPr>
          <p:cNvPr id="2028257684" name="Text 14"/>
          <p:cNvSpPr/>
          <p:nvPr/>
        </p:nvSpPr>
        <p:spPr bwMode="auto">
          <a:xfrm>
            <a:off x="7086600" y="4727448"/>
            <a:ext cx="3703320" cy="914400"/>
          </a:xfrm>
          <a:prstGeom prst="rect">
            <a:avLst/>
          </a:prstGeom>
          <a:noFill/>
          <a:ln/>
        </p:spPr>
        <p:txBody>
          <a:bodyPr wrap="square" lIns="0" tIns="0" rIns="0" bIns="0" rtlCol="0" anchor="t"/>
          <a:lstStyle/>
          <a:p>
            <a:pPr marL="0" indent="0">
              <a:buNone/>
              <a:defRPr/>
            </a:pPr>
            <a:r>
              <a:rPr lang="en-US" sz="1250">
                <a:solidFill>
                  <a:srgbClr val="475569"/>
                </a:solidFill>
                <a:latin typeface="Calibri"/>
                <a:ea typeface="Calibri"/>
                <a:cs typeface="Calibri"/>
              </a:rPr>
              <a:t>Lost sheets and illegible handwriting corrupt the record.</a:t>
            </a:r>
            <a:endParaRPr lang="en-US" sz="1250"/>
          </a:p>
        </p:txBody>
      </p:sp>
      <p:sp>
        <p:nvSpPr>
          <p:cNvPr id="1298220486" name="Text 15"/>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The Problem</a:t>
            </a:r>
            <a:endParaRPr lang="en-US" sz="900"/>
          </a:p>
        </p:txBody>
      </p:sp>
      <p:sp>
        <p:nvSpPr>
          <p:cNvPr id="1703356985" name="Text 16"/>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FFFFF"/>
        </a:solidFill>
      </p:bgPr>
    </p:bg>
    <p:spTree>
      <p:nvGrpSpPr>
        <p:cNvPr id="1" name=""/>
        <p:cNvGrpSpPr/>
        <p:nvPr/>
      </p:nvGrpSpPr>
      <p:grpSpPr bwMode="auto">
        <a:xfrm>
          <a:off x="0" y="0"/>
          <a:ext cx="0" cy="0"/>
          <a:chOff x="0" y="0"/>
          <a:chExt cx="0" cy="0"/>
        </a:xfrm>
      </p:grpSpPr>
      <p:sp>
        <p:nvSpPr>
          <p:cNvPr id="219146381"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THE SOLUTION</a:t>
            </a:r>
            <a:endParaRPr lang="en-US" sz="1200"/>
          </a:p>
        </p:txBody>
      </p:sp>
      <p:sp>
        <p:nvSpPr>
          <p:cNvPr id="1567652191"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Our Solution</a:t>
            </a:r>
            <a:endParaRPr lang="en-US" sz="3400"/>
          </a:p>
        </p:txBody>
      </p:sp>
      <p:sp>
        <p:nvSpPr>
          <p:cNvPr id="1720534211"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MarkIt replaces paper with a fast, secure digital system</a:t>
            </a:r>
            <a:endParaRPr lang="en-US" sz="1500"/>
          </a:p>
        </p:txBody>
      </p:sp>
      <p:pic>
        <p:nvPicPr>
          <p:cNvPr id="1801478808" name="Image 0" descr="preencoded.png"/>
          <p:cNvPicPr>
            <a:picLocks noChangeAspect="1"/>
          </p:cNvPicPr>
          <p:nvPr/>
        </p:nvPicPr>
        <p:blipFill rotWithShape="1">
          <a:blip r:embed="rId3"/>
          <a:stretch/>
        </p:blipFill>
        <p:spPr bwMode="auto">
          <a:xfrm>
            <a:off x="548640" y="2057400"/>
            <a:ext cx="566928" cy="566928"/>
          </a:xfrm>
          <a:prstGeom prst="rect">
            <a:avLst/>
          </a:prstGeom>
        </p:spPr>
      </p:pic>
      <p:sp>
        <p:nvSpPr>
          <p:cNvPr id="1883985890" name="Text 3"/>
          <p:cNvSpPr/>
          <p:nvPr/>
        </p:nvSpPr>
        <p:spPr bwMode="auto">
          <a:xfrm>
            <a:off x="1280160" y="2039112"/>
            <a:ext cx="448056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Digital in Seconds</a:t>
            </a:r>
            <a:endParaRPr lang="en-US" sz="1550"/>
          </a:p>
        </p:txBody>
      </p:sp>
      <p:sp>
        <p:nvSpPr>
          <p:cNvPr id="916067637" name="Text 4"/>
          <p:cNvSpPr/>
          <p:nvPr/>
        </p:nvSpPr>
        <p:spPr bwMode="auto">
          <a:xfrm>
            <a:off x="1280160" y="2350008"/>
            <a:ext cx="4480560" cy="320040"/>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Mark attendance from any device in moments.</a:t>
            </a:r>
            <a:endParaRPr lang="en-US" sz="1200"/>
          </a:p>
        </p:txBody>
      </p:sp>
      <p:pic>
        <p:nvPicPr>
          <p:cNvPr id="2106417733" name="Image 1" descr="preencoded.png"/>
          <p:cNvPicPr>
            <a:picLocks noChangeAspect="1"/>
          </p:cNvPicPr>
          <p:nvPr/>
        </p:nvPicPr>
        <p:blipFill rotWithShape="1">
          <a:blip r:embed="rId4"/>
          <a:stretch/>
        </p:blipFill>
        <p:spPr bwMode="auto">
          <a:xfrm>
            <a:off x="548640" y="3081528"/>
            <a:ext cx="566928" cy="566928"/>
          </a:xfrm>
          <a:prstGeom prst="rect">
            <a:avLst/>
          </a:prstGeom>
        </p:spPr>
      </p:pic>
      <p:sp>
        <p:nvSpPr>
          <p:cNvPr id="508309533" name="Text 5"/>
          <p:cNvSpPr/>
          <p:nvPr/>
        </p:nvSpPr>
        <p:spPr bwMode="auto">
          <a:xfrm>
            <a:off x="1280160" y="3063240"/>
            <a:ext cx="448056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Prevents Proxy Attendance</a:t>
            </a:r>
            <a:endParaRPr lang="en-US" sz="1550"/>
          </a:p>
        </p:txBody>
      </p:sp>
      <p:sp>
        <p:nvSpPr>
          <p:cNvPr id="238815816" name="Text 6"/>
          <p:cNvSpPr/>
          <p:nvPr/>
        </p:nvSpPr>
        <p:spPr bwMode="auto">
          <a:xfrm>
            <a:off x="1280160" y="3374136"/>
            <a:ext cx="4480560" cy="320040"/>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Digital identity matching stops fake sign-ins.</a:t>
            </a:r>
            <a:endParaRPr lang="en-US" sz="1200"/>
          </a:p>
        </p:txBody>
      </p:sp>
      <p:pic>
        <p:nvPicPr>
          <p:cNvPr id="252581373" name="Image 2" descr="preencoded.png"/>
          <p:cNvPicPr>
            <a:picLocks noChangeAspect="1"/>
          </p:cNvPicPr>
          <p:nvPr/>
        </p:nvPicPr>
        <p:blipFill rotWithShape="1">
          <a:blip r:embed="rId5"/>
          <a:stretch/>
        </p:blipFill>
        <p:spPr bwMode="auto">
          <a:xfrm>
            <a:off x="548640" y="4105656"/>
            <a:ext cx="566928" cy="566928"/>
          </a:xfrm>
          <a:prstGeom prst="rect">
            <a:avLst/>
          </a:prstGeom>
        </p:spPr>
      </p:pic>
      <p:sp>
        <p:nvSpPr>
          <p:cNvPr id="1032465829" name="Text 7"/>
          <p:cNvSpPr/>
          <p:nvPr/>
        </p:nvSpPr>
        <p:spPr bwMode="auto">
          <a:xfrm>
            <a:off x="1280160" y="4087368"/>
            <a:ext cx="448056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Auto Reports &amp; Analytics</a:t>
            </a:r>
            <a:endParaRPr lang="en-US" sz="1550"/>
          </a:p>
        </p:txBody>
      </p:sp>
      <p:sp>
        <p:nvSpPr>
          <p:cNvPr id="1636354477" name="Text 8"/>
          <p:cNvSpPr/>
          <p:nvPr/>
        </p:nvSpPr>
        <p:spPr bwMode="auto">
          <a:xfrm>
            <a:off x="1280160" y="4398264"/>
            <a:ext cx="4480560" cy="320040"/>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Instant PDF and CSV exports, no manual work.</a:t>
            </a:r>
            <a:endParaRPr lang="en-US" sz="1200"/>
          </a:p>
        </p:txBody>
      </p:sp>
      <p:pic>
        <p:nvPicPr>
          <p:cNvPr id="2123963962" name="Image 3" descr="preencoded.png"/>
          <p:cNvPicPr>
            <a:picLocks noChangeAspect="1"/>
          </p:cNvPicPr>
          <p:nvPr/>
        </p:nvPicPr>
        <p:blipFill rotWithShape="1">
          <a:blip r:embed="rId6"/>
          <a:stretch/>
        </p:blipFill>
        <p:spPr bwMode="auto">
          <a:xfrm>
            <a:off x="548640" y="5129784"/>
            <a:ext cx="566928" cy="566928"/>
          </a:xfrm>
          <a:prstGeom prst="rect">
            <a:avLst/>
          </a:prstGeom>
        </p:spPr>
      </p:pic>
      <p:sp>
        <p:nvSpPr>
          <p:cNvPr id="1966237343" name="Text 9"/>
          <p:cNvSpPr/>
          <p:nvPr/>
        </p:nvSpPr>
        <p:spPr bwMode="auto">
          <a:xfrm>
            <a:off x="1280160" y="5111496"/>
            <a:ext cx="448056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Works Anywhere</a:t>
            </a:r>
            <a:endParaRPr lang="en-US" sz="1550"/>
          </a:p>
        </p:txBody>
      </p:sp>
      <p:sp>
        <p:nvSpPr>
          <p:cNvPr id="498586721" name="Text 10"/>
          <p:cNvSpPr/>
          <p:nvPr/>
        </p:nvSpPr>
        <p:spPr bwMode="auto">
          <a:xfrm>
            <a:off x="1280160" y="5422392"/>
            <a:ext cx="4480560" cy="320040"/>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Fully responsive on phone, tablet, or laptop.</a:t>
            </a:r>
            <a:endParaRPr lang="en-US" sz="1200"/>
          </a:p>
        </p:txBody>
      </p:sp>
      <p:sp>
        <p:nvSpPr>
          <p:cNvPr id="1419971662" name="Shape 12"/>
          <p:cNvSpPr/>
          <p:nvPr/>
        </p:nvSpPr>
        <p:spPr bwMode="auto">
          <a:xfrm>
            <a:off x="6492240" y="1857983"/>
            <a:ext cx="5120640" cy="457200"/>
          </a:xfrm>
          <a:prstGeom prst="roundRect">
            <a:avLst>
              <a:gd name="adj" fmla="val 24000"/>
            </a:avLst>
          </a:prstGeom>
          <a:solidFill>
            <a:srgbClr val="3730A3"/>
          </a:solidFill>
          <a:ln/>
        </p:spPr>
      </p:sp>
      <p:sp>
        <p:nvSpPr>
          <p:cNvPr id="555354363" name="Shape 13"/>
          <p:cNvSpPr/>
          <p:nvPr/>
        </p:nvSpPr>
        <p:spPr bwMode="auto">
          <a:xfrm>
            <a:off x="6492240" y="2114015"/>
            <a:ext cx="5120640" cy="201168"/>
          </a:xfrm>
          <a:prstGeom prst="rect">
            <a:avLst/>
          </a:prstGeom>
          <a:solidFill>
            <a:srgbClr val="3730A3"/>
          </a:solidFill>
          <a:ln/>
        </p:spPr>
      </p:sp>
      <p:sp>
        <p:nvSpPr>
          <p:cNvPr id="1927254507" name="Shape 14"/>
          <p:cNvSpPr/>
          <p:nvPr/>
        </p:nvSpPr>
        <p:spPr bwMode="auto">
          <a:xfrm>
            <a:off x="6693408" y="2022575"/>
            <a:ext cx="128016" cy="128016"/>
          </a:xfrm>
          <a:prstGeom prst="ellipse">
            <a:avLst/>
          </a:prstGeom>
          <a:solidFill>
            <a:srgbClr val="FFFFFF"/>
          </a:solidFill>
          <a:ln/>
        </p:spPr>
      </p:sp>
      <p:sp>
        <p:nvSpPr>
          <p:cNvPr id="1054822211" name="Shape 15"/>
          <p:cNvSpPr/>
          <p:nvPr/>
        </p:nvSpPr>
        <p:spPr bwMode="auto">
          <a:xfrm>
            <a:off x="6949440" y="2022575"/>
            <a:ext cx="128016" cy="128016"/>
          </a:xfrm>
          <a:prstGeom prst="ellipse">
            <a:avLst/>
          </a:prstGeom>
          <a:solidFill>
            <a:srgbClr val="FFFFFF"/>
          </a:solidFill>
          <a:ln/>
        </p:spPr>
      </p:sp>
      <p:sp>
        <p:nvSpPr>
          <p:cNvPr id="557412682" name="Shape 16"/>
          <p:cNvSpPr/>
          <p:nvPr/>
        </p:nvSpPr>
        <p:spPr bwMode="auto">
          <a:xfrm>
            <a:off x="7205470" y="2022575"/>
            <a:ext cx="128016" cy="128016"/>
          </a:xfrm>
          <a:prstGeom prst="ellipse">
            <a:avLst/>
          </a:prstGeom>
          <a:solidFill>
            <a:srgbClr val="FFFFFF"/>
          </a:solidFill>
          <a:ln/>
        </p:spPr>
      </p:sp>
      <p:sp>
        <p:nvSpPr>
          <p:cNvPr id="38209859" name="Text 17"/>
          <p:cNvSpPr/>
          <p:nvPr/>
        </p:nvSpPr>
        <p:spPr bwMode="auto">
          <a:xfrm>
            <a:off x="7680960" y="1967711"/>
            <a:ext cx="3657600" cy="274320"/>
          </a:xfrm>
          <a:prstGeom prst="rect">
            <a:avLst/>
          </a:prstGeom>
          <a:noFill/>
          <a:ln/>
        </p:spPr>
        <p:txBody>
          <a:bodyPr wrap="square" lIns="0" tIns="0" rIns="0" bIns="0" rtlCol="0" anchor="ctr"/>
          <a:lstStyle/>
          <a:p>
            <a:pPr marL="0" indent="0">
              <a:buNone/>
              <a:defRPr/>
            </a:pPr>
            <a:r>
              <a:rPr lang="en-US" sz="1000" b="0" i="0" u="none" strike="noStrike" cap="none" spc="0">
                <a:solidFill>
                  <a:srgbClr val="E0E7FF"/>
                </a:solidFill>
                <a:latin typeface="Calibri"/>
                <a:ea typeface="Calibri"/>
                <a:cs typeface="Calibri"/>
              </a:rPr>
              <a:t>bumarkit.vercel.app/attendance/take</a:t>
            </a:r>
            <a:endParaRPr lang="en-US" sz="1000"/>
          </a:p>
        </p:txBody>
      </p:sp>
      <p:sp>
        <p:nvSpPr>
          <p:cNvPr id="608033764" name="Text 48"/>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Our Solution</a:t>
            </a:r>
            <a:endParaRPr lang="en-US" sz="900"/>
          </a:p>
        </p:txBody>
      </p:sp>
      <p:sp>
        <p:nvSpPr>
          <p:cNvPr id="1068139460" name="Text 49"/>
          <p:cNvSpPr/>
          <p:nvPr/>
        </p:nvSpPr>
        <p:spPr bwMode="auto">
          <a:xfrm>
            <a:off x="11277294" y="5623767"/>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4</a:t>
            </a:r>
            <a:endParaRPr lang="en-US" sz="900"/>
          </a:p>
        </p:txBody>
      </p:sp>
      <p:pic>
        <p:nvPicPr>
          <p:cNvPr id="1927038695" name=""/>
          <p:cNvPicPr>
            <a:picLocks noChangeAspect="1"/>
          </p:cNvPicPr>
          <p:nvPr/>
        </p:nvPicPr>
        <p:blipFill rotWithShape="1">
          <a:blip r:embed="rId7"/>
          <a:srcRect l="0" t="0" r="0" b="14948"/>
          <a:stretch/>
        </p:blipFill>
        <p:spPr bwMode="auto">
          <a:xfrm flipH="0" flipV="0">
            <a:off x="6492240" y="2315183"/>
            <a:ext cx="5135786" cy="3637323"/>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FFFFF"/>
        </a:solidFill>
      </p:bgPr>
    </p:bg>
    <p:spTree>
      <p:nvGrpSpPr>
        <p:cNvPr id="1" name=""/>
        <p:cNvGrpSpPr/>
        <p:nvPr/>
      </p:nvGrpSpPr>
      <p:grpSpPr bwMode="auto">
        <a:xfrm>
          <a:off x="0" y="0"/>
          <a:ext cx="0" cy="0"/>
          <a:chOff x="0" y="0"/>
          <a:chExt cx="0" cy="0"/>
        </a:xfrm>
      </p:grpSpPr>
      <p:sp>
        <p:nvSpPr>
          <p:cNvPr id="451702161"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UNDER THE HOOD</a:t>
            </a:r>
            <a:endParaRPr lang="en-US" sz="1200"/>
          </a:p>
        </p:txBody>
      </p:sp>
      <p:sp>
        <p:nvSpPr>
          <p:cNvPr id="1190287764"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Technology Stack</a:t>
            </a:r>
            <a:endParaRPr lang="en-US" sz="3400"/>
          </a:p>
        </p:txBody>
      </p:sp>
      <p:sp>
        <p:nvSpPr>
          <p:cNvPr id="2118585610"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A modern, production-grade web stack</a:t>
            </a:r>
            <a:endParaRPr lang="en-US" sz="1500"/>
          </a:p>
        </p:txBody>
      </p:sp>
      <p:sp>
        <p:nvSpPr>
          <p:cNvPr id="267209059" name="Shape 3"/>
          <p:cNvSpPr/>
          <p:nvPr/>
        </p:nvSpPr>
        <p:spPr bwMode="auto">
          <a:xfrm>
            <a:off x="548640" y="1920240"/>
            <a:ext cx="3520440" cy="4160519"/>
          </a:xfrm>
          <a:prstGeom prst="roundRect">
            <a:avLst>
              <a:gd name="adj" fmla="val 2597"/>
            </a:avLst>
          </a:prstGeom>
          <a:solidFill>
            <a:srgbClr val="F8FAFC"/>
          </a:solidFill>
          <a:ln w="12700">
            <a:solidFill>
              <a:srgbClr val="E2E8F0"/>
            </a:solidFill>
            <a:prstDash val="solid"/>
          </a:ln>
        </p:spPr>
      </p:sp>
      <p:pic>
        <p:nvPicPr>
          <p:cNvPr id="385231353" name="Image 0" descr="preencoded.png"/>
          <p:cNvPicPr>
            <a:picLocks noChangeAspect="1"/>
          </p:cNvPicPr>
          <p:nvPr/>
        </p:nvPicPr>
        <p:blipFill rotWithShape="1">
          <a:blip r:embed="rId3"/>
          <a:stretch/>
        </p:blipFill>
        <p:spPr bwMode="auto">
          <a:xfrm>
            <a:off x="822960" y="2194560"/>
            <a:ext cx="566928" cy="566928"/>
          </a:xfrm>
          <a:prstGeom prst="rect">
            <a:avLst/>
          </a:prstGeom>
        </p:spPr>
      </p:pic>
      <p:sp>
        <p:nvSpPr>
          <p:cNvPr id="1388026623" name="Text 4"/>
          <p:cNvSpPr/>
          <p:nvPr/>
        </p:nvSpPr>
        <p:spPr bwMode="auto">
          <a:xfrm>
            <a:off x="1508759" y="2212848"/>
            <a:ext cx="2331720" cy="530352"/>
          </a:xfrm>
          <a:prstGeom prst="rect">
            <a:avLst/>
          </a:prstGeom>
          <a:noFill/>
          <a:ln/>
        </p:spPr>
        <p:txBody>
          <a:bodyPr wrap="square" lIns="0" tIns="0" rIns="0" bIns="0" rtlCol="0" anchor="ctr"/>
          <a:lstStyle/>
          <a:p>
            <a:pPr marL="0" indent="0">
              <a:buNone/>
              <a:defRPr/>
            </a:pPr>
            <a:r>
              <a:rPr lang="en-US" sz="1800" b="1">
                <a:solidFill>
                  <a:srgbClr val="0F172A"/>
                </a:solidFill>
                <a:latin typeface="Arial"/>
                <a:ea typeface="Arial"/>
                <a:cs typeface="Arial"/>
              </a:rPr>
              <a:t>Frontend</a:t>
            </a:r>
            <a:endParaRPr lang="en-US" sz="1800"/>
          </a:p>
        </p:txBody>
      </p:sp>
      <p:sp>
        <p:nvSpPr>
          <p:cNvPr id="1647128313" name="Shape 5"/>
          <p:cNvSpPr/>
          <p:nvPr/>
        </p:nvSpPr>
        <p:spPr bwMode="auto">
          <a:xfrm>
            <a:off x="841248" y="3035808"/>
            <a:ext cx="82296" cy="82296"/>
          </a:xfrm>
          <a:prstGeom prst="ellipse">
            <a:avLst/>
          </a:prstGeom>
          <a:solidFill>
            <a:srgbClr val="4F46E5"/>
          </a:solidFill>
          <a:ln/>
        </p:spPr>
      </p:sp>
      <p:sp>
        <p:nvSpPr>
          <p:cNvPr id="155293712" name="Text 6"/>
          <p:cNvSpPr/>
          <p:nvPr/>
        </p:nvSpPr>
        <p:spPr bwMode="auto">
          <a:xfrm>
            <a:off x="1051560" y="2916936"/>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React 18 (Vite)</a:t>
            </a:r>
            <a:endParaRPr lang="en-US" sz="1200"/>
          </a:p>
        </p:txBody>
      </p:sp>
      <p:sp>
        <p:nvSpPr>
          <p:cNvPr id="844604947" name="Shape 7"/>
          <p:cNvSpPr/>
          <p:nvPr/>
        </p:nvSpPr>
        <p:spPr bwMode="auto">
          <a:xfrm>
            <a:off x="841248" y="3520440"/>
            <a:ext cx="82296" cy="82296"/>
          </a:xfrm>
          <a:prstGeom prst="ellipse">
            <a:avLst/>
          </a:prstGeom>
          <a:solidFill>
            <a:srgbClr val="4F46E5"/>
          </a:solidFill>
          <a:ln/>
        </p:spPr>
      </p:sp>
      <p:sp>
        <p:nvSpPr>
          <p:cNvPr id="593603699" name="Text 8"/>
          <p:cNvSpPr/>
          <p:nvPr/>
        </p:nvSpPr>
        <p:spPr bwMode="auto">
          <a:xfrm>
            <a:off x="1051560" y="3401568"/>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React Router v6</a:t>
            </a:r>
            <a:endParaRPr lang="en-US" sz="1200"/>
          </a:p>
        </p:txBody>
      </p:sp>
      <p:sp>
        <p:nvSpPr>
          <p:cNvPr id="1816161708" name="Shape 9"/>
          <p:cNvSpPr/>
          <p:nvPr/>
        </p:nvSpPr>
        <p:spPr bwMode="auto">
          <a:xfrm>
            <a:off x="841248" y="4005072"/>
            <a:ext cx="82296" cy="82296"/>
          </a:xfrm>
          <a:prstGeom prst="ellipse">
            <a:avLst/>
          </a:prstGeom>
          <a:solidFill>
            <a:srgbClr val="4F46E5"/>
          </a:solidFill>
          <a:ln/>
        </p:spPr>
      </p:sp>
      <p:sp>
        <p:nvSpPr>
          <p:cNvPr id="1829620662" name="Text 10"/>
          <p:cNvSpPr/>
          <p:nvPr/>
        </p:nvSpPr>
        <p:spPr bwMode="auto">
          <a:xfrm>
            <a:off x="1051560" y="3886200"/>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TanStack Query v5</a:t>
            </a:r>
            <a:endParaRPr lang="en-US" sz="1200"/>
          </a:p>
        </p:txBody>
      </p:sp>
      <p:sp>
        <p:nvSpPr>
          <p:cNvPr id="1606925653" name="Shape 11"/>
          <p:cNvSpPr/>
          <p:nvPr/>
        </p:nvSpPr>
        <p:spPr bwMode="auto">
          <a:xfrm>
            <a:off x="841248" y="4489704"/>
            <a:ext cx="82296" cy="82296"/>
          </a:xfrm>
          <a:prstGeom prst="ellipse">
            <a:avLst/>
          </a:prstGeom>
          <a:solidFill>
            <a:srgbClr val="4F46E5"/>
          </a:solidFill>
          <a:ln/>
        </p:spPr>
      </p:sp>
      <p:sp>
        <p:nvSpPr>
          <p:cNvPr id="1478668159" name="Text 12"/>
          <p:cNvSpPr/>
          <p:nvPr/>
        </p:nvSpPr>
        <p:spPr bwMode="auto">
          <a:xfrm>
            <a:off x="1051560" y="4370832"/>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Axios + auto token refresh</a:t>
            </a:r>
            <a:endParaRPr lang="en-US" sz="1200"/>
          </a:p>
        </p:txBody>
      </p:sp>
      <p:sp>
        <p:nvSpPr>
          <p:cNvPr id="2116826899" name="Shape 13"/>
          <p:cNvSpPr/>
          <p:nvPr/>
        </p:nvSpPr>
        <p:spPr bwMode="auto">
          <a:xfrm>
            <a:off x="841248" y="4974336"/>
            <a:ext cx="82296" cy="82296"/>
          </a:xfrm>
          <a:prstGeom prst="ellipse">
            <a:avLst/>
          </a:prstGeom>
          <a:solidFill>
            <a:srgbClr val="4F46E5"/>
          </a:solidFill>
          <a:ln/>
        </p:spPr>
      </p:sp>
      <p:sp>
        <p:nvSpPr>
          <p:cNvPr id="605253002" name="Text 14"/>
          <p:cNvSpPr/>
          <p:nvPr/>
        </p:nvSpPr>
        <p:spPr bwMode="auto">
          <a:xfrm>
            <a:off x="1051560" y="4855464"/>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TailwindCSS (glassmorphism)</a:t>
            </a:r>
            <a:endParaRPr lang="en-US" sz="1200"/>
          </a:p>
        </p:txBody>
      </p:sp>
      <p:sp>
        <p:nvSpPr>
          <p:cNvPr id="743914007" name="Shape 15"/>
          <p:cNvSpPr/>
          <p:nvPr/>
        </p:nvSpPr>
        <p:spPr bwMode="auto">
          <a:xfrm>
            <a:off x="841248" y="5458968"/>
            <a:ext cx="82296" cy="82296"/>
          </a:xfrm>
          <a:prstGeom prst="ellipse">
            <a:avLst/>
          </a:prstGeom>
          <a:solidFill>
            <a:srgbClr val="4F46E5"/>
          </a:solidFill>
          <a:ln/>
        </p:spPr>
      </p:sp>
      <p:sp>
        <p:nvSpPr>
          <p:cNvPr id="427451113" name="Text 16"/>
          <p:cNvSpPr/>
          <p:nvPr/>
        </p:nvSpPr>
        <p:spPr bwMode="auto">
          <a:xfrm>
            <a:off x="1051560" y="5340096"/>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lucide-react + react-hot-toast</a:t>
            </a:r>
            <a:endParaRPr lang="en-US" sz="1200"/>
          </a:p>
        </p:txBody>
      </p:sp>
      <p:sp>
        <p:nvSpPr>
          <p:cNvPr id="17466237" name="Shape 17"/>
          <p:cNvSpPr/>
          <p:nvPr/>
        </p:nvSpPr>
        <p:spPr bwMode="auto">
          <a:xfrm>
            <a:off x="4389120" y="1920240"/>
            <a:ext cx="3520440" cy="4160519"/>
          </a:xfrm>
          <a:prstGeom prst="roundRect">
            <a:avLst>
              <a:gd name="adj" fmla="val 2597"/>
            </a:avLst>
          </a:prstGeom>
          <a:solidFill>
            <a:srgbClr val="F8FAFC"/>
          </a:solidFill>
          <a:ln w="12700">
            <a:solidFill>
              <a:srgbClr val="E2E8F0"/>
            </a:solidFill>
            <a:prstDash val="solid"/>
          </a:ln>
        </p:spPr>
      </p:sp>
      <p:pic>
        <p:nvPicPr>
          <p:cNvPr id="873278626" name="Image 1" descr="preencoded.png"/>
          <p:cNvPicPr>
            <a:picLocks noChangeAspect="1"/>
          </p:cNvPicPr>
          <p:nvPr/>
        </p:nvPicPr>
        <p:blipFill rotWithShape="1">
          <a:blip r:embed="rId4"/>
          <a:stretch/>
        </p:blipFill>
        <p:spPr bwMode="auto">
          <a:xfrm>
            <a:off x="4663440" y="2194560"/>
            <a:ext cx="566928" cy="566928"/>
          </a:xfrm>
          <a:prstGeom prst="rect">
            <a:avLst/>
          </a:prstGeom>
        </p:spPr>
      </p:pic>
      <p:sp>
        <p:nvSpPr>
          <p:cNvPr id="69638901" name="Text 18"/>
          <p:cNvSpPr/>
          <p:nvPr/>
        </p:nvSpPr>
        <p:spPr bwMode="auto">
          <a:xfrm>
            <a:off x="5349240" y="2212848"/>
            <a:ext cx="2331720" cy="530352"/>
          </a:xfrm>
          <a:prstGeom prst="rect">
            <a:avLst/>
          </a:prstGeom>
          <a:noFill/>
          <a:ln/>
        </p:spPr>
        <p:txBody>
          <a:bodyPr wrap="square" lIns="0" tIns="0" rIns="0" bIns="0" rtlCol="0" anchor="ctr"/>
          <a:lstStyle/>
          <a:p>
            <a:pPr marL="0" indent="0">
              <a:buNone/>
              <a:defRPr/>
            </a:pPr>
            <a:r>
              <a:rPr lang="en-US" sz="1800" b="1">
                <a:solidFill>
                  <a:srgbClr val="0F172A"/>
                </a:solidFill>
                <a:latin typeface="Arial"/>
                <a:ea typeface="Arial"/>
                <a:cs typeface="Arial"/>
              </a:rPr>
              <a:t>Backend</a:t>
            </a:r>
            <a:endParaRPr lang="en-US" sz="1800"/>
          </a:p>
        </p:txBody>
      </p:sp>
      <p:sp>
        <p:nvSpPr>
          <p:cNvPr id="1164317215" name="Shape 19"/>
          <p:cNvSpPr/>
          <p:nvPr/>
        </p:nvSpPr>
        <p:spPr bwMode="auto">
          <a:xfrm>
            <a:off x="4681728" y="3035808"/>
            <a:ext cx="82296" cy="82296"/>
          </a:xfrm>
          <a:prstGeom prst="ellipse">
            <a:avLst/>
          </a:prstGeom>
          <a:solidFill>
            <a:srgbClr val="7C3AED"/>
          </a:solidFill>
          <a:ln/>
        </p:spPr>
      </p:sp>
      <p:sp>
        <p:nvSpPr>
          <p:cNvPr id="1896753319" name="Text 20"/>
          <p:cNvSpPr/>
          <p:nvPr/>
        </p:nvSpPr>
        <p:spPr bwMode="auto">
          <a:xfrm>
            <a:off x="4892039" y="2916936"/>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Node.js + Express 4</a:t>
            </a:r>
            <a:endParaRPr lang="en-US" sz="1200"/>
          </a:p>
        </p:txBody>
      </p:sp>
      <p:sp>
        <p:nvSpPr>
          <p:cNvPr id="698767776" name="Shape 21"/>
          <p:cNvSpPr/>
          <p:nvPr/>
        </p:nvSpPr>
        <p:spPr bwMode="auto">
          <a:xfrm>
            <a:off x="4681728" y="3520440"/>
            <a:ext cx="82296" cy="82296"/>
          </a:xfrm>
          <a:prstGeom prst="ellipse">
            <a:avLst/>
          </a:prstGeom>
          <a:solidFill>
            <a:srgbClr val="7C3AED"/>
          </a:solidFill>
          <a:ln/>
        </p:spPr>
      </p:sp>
      <p:sp>
        <p:nvSpPr>
          <p:cNvPr id="812849180" name="Text 22"/>
          <p:cNvSpPr/>
          <p:nvPr/>
        </p:nvSpPr>
        <p:spPr bwMode="auto">
          <a:xfrm>
            <a:off x="4892039" y="3401568"/>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MongoDB + Mongoose 8</a:t>
            </a:r>
            <a:endParaRPr lang="en-US" sz="1200"/>
          </a:p>
        </p:txBody>
      </p:sp>
      <p:sp>
        <p:nvSpPr>
          <p:cNvPr id="216951399" name="Shape 23"/>
          <p:cNvSpPr/>
          <p:nvPr/>
        </p:nvSpPr>
        <p:spPr bwMode="auto">
          <a:xfrm>
            <a:off x="4681728" y="4005072"/>
            <a:ext cx="82296" cy="82296"/>
          </a:xfrm>
          <a:prstGeom prst="ellipse">
            <a:avLst/>
          </a:prstGeom>
          <a:solidFill>
            <a:srgbClr val="7C3AED"/>
          </a:solidFill>
          <a:ln/>
        </p:spPr>
      </p:sp>
      <p:sp>
        <p:nvSpPr>
          <p:cNvPr id="1558676908" name="Text 24"/>
          <p:cNvSpPr/>
          <p:nvPr/>
        </p:nvSpPr>
        <p:spPr bwMode="auto">
          <a:xfrm>
            <a:off x="4892039" y="3886200"/>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JSON Web Token auth</a:t>
            </a:r>
            <a:endParaRPr lang="en-US" sz="1200"/>
          </a:p>
        </p:txBody>
      </p:sp>
      <p:sp>
        <p:nvSpPr>
          <p:cNvPr id="546951146" name="Shape 25"/>
          <p:cNvSpPr/>
          <p:nvPr/>
        </p:nvSpPr>
        <p:spPr bwMode="auto">
          <a:xfrm>
            <a:off x="4681728" y="4489704"/>
            <a:ext cx="82296" cy="82296"/>
          </a:xfrm>
          <a:prstGeom prst="ellipse">
            <a:avLst/>
          </a:prstGeom>
          <a:solidFill>
            <a:srgbClr val="7C3AED"/>
          </a:solidFill>
          <a:ln/>
        </p:spPr>
      </p:sp>
      <p:sp>
        <p:nvSpPr>
          <p:cNvPr id="1753537761" name="Text 26"/>
          <p:cNvSpPr/>
          <p:nvPr/>
        </p:nvSpPr>
        <p:spPr bwMode="auto">
          <a:xfrm>
            <a:off x="4892039" y="4370832"/>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bcryptjs password hashing</a:t>
            </a:r>
            <a:endParaRPr lang="en-US" sz="1200"/>
          </a:p>
        </p:txBody>
      </p:sp>
      <p:sp>
        <p:nvSpPr>
          <p:cNvPr id="99023292" name="Shape 27"/>
          <p:cNvSpPr/>
          <p:nvPr/>
        </p:nvSpPr>
        <p:spPr bwMode="auto">
          <a:xfrm>
            <a:off x="8229600" y="1920240"/>
            <a:ext cx="3520440" cy="4160519"/>
          </a:xfrm>
          <a:prstGeom prst="roundRect">
            <a:avLst>
              <a:gd name="adj" fmla="val 2597"/>
            </a:avLst>
          </a:prstGeom>
          <a:solidFill>
            <a:srgbClr val="F8FAFC"/>
          </a:solidFill>
          <a:ln w="12700">
            <a:solidFill>
              <a:srgbClr val="E2E8F0"/>
            </a:solidFill>
            <a:prstDash val="solid"/>
          </a:ln>
        </p:spPr>
      </p:sp>
      <p:pic>
        <p:nvPicPr>
          <p:cNvPr id="214935872" name="Image 2" descr="preencoded.png"/>
          <p:cNvPicPr>
            <a:picLocks noChangeAspect="1"/>
          </p:cNvPicPr>
          <p:nvPr/>
        </p:nvPicPr>
        <p:blipFill rotWithShape="1">
          <a:blip r:embed="rId5"/>
          <a:stretch/>
        </p:blipFill>
        <p:spPr bwMode="auto">
          <a:xfrm>
            <a:off x="8503920" y="2194560"/>
            <a:ext cx="566928" cy="566928"/>
          </a:xfrm>
          <a:prstGeom prst="rect">
            <a:avLst/>
          </a:prstGeom>
        </p:spPr>
      </p:pic>
      <p:sp>
        <p:nvSpPr>
          <p:cNvPr id="465156086" name="Text 28"/>
          <p:cNvSpPr/>
          <p:nvPr/>
        </p:nvSpPr>
        <p:spPr bwMode="auto">
          <a:xfrm>
            <a:off x="9189720" y="2212848"/>
            <a:ext cx="2331720" cy="530352"/>
          </a:xfrm>
          <a:prstGeom prst="rect">
            <a:avLst/>
          </a:prstGeom>
          <a:noFill/>
          <a:ln/>
        </p:spPr>
        <p:txBody>
          <a:bodyPr wrap="square" lIns="0" tIns="0" rIns="0" bIns="0" rtlCol="0" anchor="ctr"/>
          <a:lstStyle/>
          <a:p>
            <a:pPr marL="0" indent="0">
              <a:buNone/>
              <a:defRPr/>
            </a:pPr>
            <a:r>
              <a:rPr lang="en-US" sz="1800" b="1">
                <a:solidFill>
                  <a:srgbClr val="0F172A"/>
                </a:solidFill>
                <a:latin typeface="Arial"/>
                <a:ea typeface="Arial"/>
                <a:cs typeface="Arial"/>
              </a:rPr>
              <a:t>Deployment</a:t>
            </a:r>
            <a:endParaRPr lang="en-US" sz="1800"/>
          </a:p>
        </p:txBody>
      </p:sp>
      <p:sp>
        <p:nvSpPr>
          <p:cNvPr id="736212696" name="Shape 29"/>
          <p:cNvSpPr/>
          <p:nvPr/>
        </p:nvSpPr>
        <p:spPr bwMode="auto">
          <a:xfrm>
            <a:off x="8522208" y="3035808"/>
            <a:ext cx="82296" cy="82296"/>
          </a:xfrm>
          <a:prstGeom prst="ellipse">
            <a:avLst/>
          </a:prstGeom>
          <a:solidFill>
            <a:srgbClr val="4F46E5"/>
          </a:solidFill>
          <a:ln/>
        </p:spPr>
      </p:sp>
      <p:sp>
        <p:nvSpPr>
          <p:cNvPr id="1368432513" name="Text 30"/>
          <p:cNvSpPr/>
          <p:nvPr/>
        </p:nvSpPr>
        <p:spPr bwMode="auto">
          <a:xfrm>
            <a:off x="8732520" y="2916936"/>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Vercel — static frontend</a:t>
            </a:r>
            <a:endParaRPr lang="en-US" sz="1200"/>
          </a:p>
        </p:txBody>
      </p:sp>
      <p:sp>
        <p:nvSpPr>
          <p:cNvPr id="1380430752" name="Shape 31"/>
          <p:cNvSpPr/>
          <p:nvPr/>
        </p:nvSpPr>
        <p:spPr bwMode="auto">
          <a:xfrm>
            <a:off x="8522208" y="3520440"/>
            <a:ext cx="82296" cy="82296"/>
          </a:xfrm>
          <a:prstGeom prst="ellipse">
            <a:avLst/>
          </a:prstGeom>
          <a:solidFill>
            <a:srgbClr val="4F46E5"/>
          </a:solidFill>
          <a:ln/>
        </p:spPr>
      </p:sp>
      <p:sp>
        <p:nvSpPr>
          <p:cNvPr id="1262738903" name="Text 32"/>
          <p:cNvSpPr/>
          <p:nvPr/>
        </p:nvSpPr>
        <p:spPr bwMode="auto">
          <a:xfrm>
            <a:off x="8732520" y="3401568"/>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Vercel — serverless backend</a:t>
            </a:r>
            <a:endParaRPr lang="en-US" sz="1200"/>
          </a:p>
        </p:txBody>
      </p:sp>
      <p:sp>
        <p:nvSpPr>
          <p:cNvPr id="2114549996" name="Shape 33"/>
          <p:cNvSpPr/>
          <p:nvPr/>
        </p:nvSpPr>
        <p:spPr bwMode="auto">
          <a:xfrm>
            <a:off x="8522208" y="4005072"/>
            <a:ext cx="82296" cy="82296"/>
          </a:xfrm>
          <a:prstGeom prst="ellipse">
            <a:avLst/>
          </a:prstGeom>
          <a:solidFill>
            <a:srgbClr val="4F46E5"/>
          </a:solidFill>
          <a:ln/>
        </p:spPr>
      </p:sp>
      <p:sp>
        <p:nvSpPr>
          <p:cNvPr id="1284426129" name="Text 34"/>
          <p:cNvSpPr/>
          <p:nvPr/>
        </p:nvSpPr>
        <p:spPr bwMode="auto">
          <a:xfrm>
            <a:off x="8732520" y="3886200"/>
            <a:ext cx="2743200" cy="384048"/>
          </a:xfrm>
          <a:prstGeom prst="rect">
            <a:avLst/>
          </a:prstGeom>
          <a:noFill/>
          <a:ln/>
        </p:spPr>
        <p:txBody>
          <a:bodyPr wrap="square" lIns="0" tIns="0" rIns="0" bIns="0" rtlCol="0" anchor="t"/>
          <a:lstStyle/>
          <a:p>
            <a:pPr marL="0" indent="0">
              <a:buNone/>
              <a:defRPr/>
            </a:pPr>
            <a:r>
              <a:rPr lang="en-US" sz="1200">
                <a:solidFill>
                  <a:srgbClr val="1E293B"/>
                </a:solidFill>
                <a:latin typeface="Calibri"/>
                <a:ea typeface="Calibri"/>
                <a:cs typeface="Calibri"/>
              </a:rPr>
              <a:t>MongoDB Atlas cloud DB</a:t>
            </a:r>
            <a:endParaRPr lang="en-US" sz="1200"/>
          </a:p>
        </p:txBody>
      </p:sp>
      <p:sp>
        <p:nvSpPr>
          <p:cNvPr id="1612292026" name="Text 35"/>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Technology Stack</a:t>
            </a:r>
            <a:endParaRPr lang="en-US" sz="900"/>
          </a:p>
        </p:txBody>
      </p:sp>
      <p:sp>
        <p:nvSpPr>
          <p:cNvPr id="1112785362" name="Text 36"/>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FFFFF"/>
        </a:solidFill>
      </p:bgPr>
    </p:bg>
    <p:spTree>
      <p:nvGrpSpPr>
        <p:cNvPr id="1" name=""/>
        <p:cNvGrpSpPr/>
        <p:nvPr/>
      </p:nvGrpSpPr>
      <p:grpSpPr bwMode="auto">
        <a:xfrm>
          <a:off x="0" y="0"/>
          <a:ext cx="0" cy="0"/>
          <a:chOff x="0" y="0"/>
          <a:chExt cx="0" cy="0"/>
        </a:xfrm>
      </p:grpSpPr>
      <p:sp>
        <p:nvSpPr>
          <p:cNvPr id="222261778"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HOW IT FITS TOGETHER</a:t>
            </a:r>
            <a:endParaRPr lang="en-US" sz="1200"/>
          </a:p>
        </p:txBody>
      </p:sp>
      <p:sp>
        <p:nvSpPr>
          <p:cNvPr id="1023190978"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System Architecture</a:t>
            </a:r>
            <a:endParaRPr lang="en-US" sz="3400"/>
          </a:p>
        </p:txBody>
      </p:sp>
      <p:sp>
        <p:nvSpPr>
          <p:cNvPr id="624128371"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Client-server design with clear separation of concerns</a:t>
            </a:r>
            <a:endParaRPr lang="en-US" sz="1500"/>
          </a:p>
        </p:txBody>
      </p:sp>
      <p:sp>
        <p:nvSpPr>
          <p:cNvPr id="1242920565" name="Shape 3"/>
          <p:cNvSpPr/>
          <p:nvPr/>
        </p:nvSpPr>
        <p:spPr bwMode="auto">
          <a:xfrm>
            <a:off x="640080" y="2148840"/>
            <a:ext cx="2651760" cy="1005840"/>
          </a:xfrm>
          <a:prstGeom prst="roundRect">
            <a:avLst>
              <a:gd name="adj" fmla="val 9091"/>
            </a:avLst>
          </a:prstGeom>
          <a:solidFill>
            <a:srgbClr val="3730A3"/>
          </a:solidFill>
          <a:ln/>
        </p:spPr>
      </p:sp>
      <p:pic>
        <p:nvPicPr>
          <p:cNvPr id="1504590416" name="Image 0" descr="preencoded.png"/>
          <p:cNvPicPr>
            <a:picLocks noChangeAspect="1"/>
          </p:cNvPicPr>
          <p:nvPr/>
        </p:nvPicPr>
        <p:blipFill rotWithShape="1">
          <a:blip r:embed="rId3"/>
          <a:stretch/>
        </p:blipFill>
        <p:spPr bwMode="auto">
          <a:xfrm>
            <a:off x="822960" y="2331720"/>
            <a:ext cx="640080" cy="640080"/>
          </a:xfrm>
          <a:prstGeom prst="rect">
            <a:avLst/>
          </a:prstGeom>
        </p:spPr>
      </p:pic>
      <p:sp>
        <p:nvSpPr>
          <p:cNvPr id="1203917700" name="Text 4"/>
          <p:cNvSpPr/>
          <p:nvPr/>
        </p:nvSpPr>
        <p:spPr bwMode="auto">
          <a:xfrm>
            <a:off x="1554480" y="2313432"/>
            <a:ext cx="1600200" cy="365760"/>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React SPA</a:t>
            </a:r>
            <a:endParaRPr lang="en-US" sz="1500"/>
          </a:p>
        </p:txBody>
      </p:sp>
      <p:sp>
        <p:nvSpPr>
          <p:cNvPr id="915652663" name="Text 5"/>
          <p:cNvSpPr/>
          <p:nvPr/>
        </p:nvSpPr>
        <p:spPr bwMode="auto">
          <a:xfrm>
            <a:off x="1554480" y="2660904"/>
            <a:ext cx="1600200" cy="274320"/>
          </a:xfrm>
          <a:prstGeom prst="rect">
            <a:avLst/>
          </a:prstGeom>
          <a:noFill/>
          <a:ln/>
        </p:spPr>
        <p:txBody>
          <a:bodyPr wrap="square" lIns="0" tIns="0" rIns="0" bIns="0" rtlCol="0" anchor="ctr"/>
          <a:lstStyle/>
          <a:p>
            <a:pPr marL="0" indent="0">
              <a:buNone/>
              <a:defRPr/>
            </a:pPr>
            <a:r>
              <a:rPr lang="en-US" sz="1100">
                <a:solidFill>
                  <a:srgbClr val="C7D2FE"/>
                </a:solidFill>
                <a:latin typeface="Calibri"/>
                <a:ea typeface="Calibri"/>
                <a:cs typeface="Calibri"/>
              </a:rPr>
              <a:t>(Client)</a:t>
            </a:r>
            <a:endParaRPr lang="en-US" sz="1100"/>
          </a:p>
        </p:txBody>
      </p:sp>
      <p:sp>
        <p:nvSpPr>
          <p:cNvPr id="1214413839" name="Shape 6"/>
          <p:cNvSpPr/>
          <p:nvPr/>
        </p:nvSpPr>
        <p:spPr bwMode="auto">
          <a:xfrm>
            <a:off x="4754880" y="2148840"/>
            <a:ext cx="2651760" cy="1005840"/>
          </a:xfrm>
          <a:prstGeom prst="roundRect">
            <a:avLst>
              <a:gd name="adj" fmla="val 9091"/>
            </a:avLst>
          </a:prstGeom>
          <a:solidFill>
            <a:srgbClr val="3730A3"/>
          </a:solidFill>
          <a:ln/>
        </p:spPr>
      </p:sp>
      <p:pic>
        <p:nvPicPr>
          <p:cNvPr id="1624708495" name="Image 1" descr="preencoded.png"/>
          <p:cNvPicPr>
            <a:picLocks noChangeAspect="1"/>
          </p:cNvPicPr>
          <p:nvPr/>
        </p:nvPicPr>
        <p:blipFill rotWithShape="1">
          <a:blip r:embed="rId4"/>
          <a:stretch/>
        </p:blipFill>
        <p:spPr bwMode="auto">
          <a:xfrm>
            <a:off x="4937760" y="2331720"/>
            <a:ext cx="640080" cy="640080"/>
          </a:xfrm>
          <a:prstGeom prst="rect">
            <a:avLst/>
          </a:prstGeom>
        </p:spPr>
      </p:pic>
      <p:sp>
        <p:nvSpPr>
          <p:cNvPr id="1024214711" name="Text 7"/>
          <p:cNvSpPr/>
          <p:nvPr/>
        </p:nvSpPr>
        <p:spPr bwMode="auto">
          <a:xfrm>
            <a:off x="5669280" y="2313432"/>
            <a:ext cx="1600200" cy="365760"/>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REST API</a:t>
            </a:r>
            <a:endParaRPr lang="en-US" sz="1500"/>
          </a:p>
        </p:txBody>
      </p:sp>
      <p:sp>
        <p:nvSpPr>
          <p:cNvPr id="1164618316" name="Text 8"/>
          <p:cNvSpPr/>
          <p:nvPr/>
        </p:nvSpPr>
        <p:spPr bwMode="auto">
          <a:xfrm>
            <a:off x="5669280" y="2660904"/>
            <a:ext cx="1600200" cy="274320"/>
          </a:xfrm>
          <a:prstGeom prst="rect">
            <a:avLst/>
          </a:prstGeom>
          <a:noFill/>
          <a:ln/>
        </p:spPr>
        <p:txBody>
          <a:bodyPr wrap="square" lIns="0" tIns="0" rIns="0" bIns="0" rtlCol="0" anchor="ctr"/>
          <a:lstStyle/>
          <a:p>
            <a:pPr marL="0" indent="0">
              <a:buNone/>
              <a:defRPr/>
            </a:pPr>
            <a:r>
              <a:rPr lang="en-US" sz="1100">
                <a:solidFill>
                  <a:srgbClr val="C7D2FE"/>
                </a:solidFill>
                <a:latin typeface="Calibri"/>
                <a:ea typeface="Calibri"/>
                <a:cs typeface="Calibri"/>
              </a:rPr>
              <a:t>(Express)</a:t>
            </a:r>
            <a:endParaRPr lang="en-US" sz="1100"/>
          </a:p>
        </p:txBody>
      </p:sp>
      <p:sp>
        <p:nvSpPr>
          <p:cNvPr id="815466142" name="Shape 9"/>
          <p:cNvSpPr/>
          <p:nvPr/>
        </p:nvSpPr>
        <p:spPr bwMode="auto">
          <a:xfrm>
            <a:off x="8869680" y="2148840"/>
            <a:ext cx="2651760" cy="1005840"/>
          </a:xfrm>
          <a:prstGeom prst="roundRect">
            <a:avLst>
              <a:gd name="adj" fmla="val 9091"/>
            </a:avLst>
          </a:prstGeom>
          <a:solidFill>
            <a:srgbClr val="3730A3"/>
          </a:solidFill>
          <a:ln/>
        </p:spPr>
      </p:sp>
      <p:pic>
        <p:nvPicPr>
          <p:cNvPr id="1886280100" name="Image 2" descr="preencoded.png"/>
          <p:cNvPicPr>
            <a:picLocks noChangeAspect="1"/>
          </p:cNvPicPr>
          <p:nvPr/>
        </p:nvPicPr>
        <p:blipFill rotWithShape="1">
          <a:blip r:embed="rId5"/>
          <a:stretch/>
        </p:blipFill>
        <p:spPr bwMode="auto">
          <a:xfrm>
            <a:off x="9052560" y="2331720"/>
            <a:ext cx="640080" cy="640080"/>
          </a:xfrm>
          <a:prstGeom prst="rect">
            <a:avLst/>
          </a:prstGeom>
        </p:spPr>
      </p:pic>
      <p:sp>
        <p:nvSpPr>
          <p:cNvPr id="1673353126" name="Text 10"/>
          <p:cNvSpPr/>
          <p:nvPr/>
        </p:nvSpPr>
        <p:spPr bwMode="auto">
          <a:xfrm>
            <a:off x="9784079" y="2313432"/>
            <a:ext cx="1600200" cy="365760"/>
          </a:xfrm>
          <a:prstGeom prst="rect">
            <a:avLst/>
          </a:prstGeom>
          <a:noFill/>
          <a:ln/>
        </p:spPr>
        <p:txBody>
          <a:bodyPr wrap="square" lIns="0" tIns="0" rIns="0" bIns="0" rtlCol="0" anchor="ctr"/>
          <a:lstStyle/>
          <a:p>
            <a:pPr marL="0" indent="0">
              <a:buNone/>
              <a:defRPr/>
            </a:pPr>
            <a:r>
              <a:rPr lang="en-US" sz="1500" b="1">
                <a:solidFill>
                  <a:srgbClr val="FFFFFF"/>
                </a:solidFill>
                <a:latin typeface="Arial"/>
                <a:ea typeface="Arial"/>
                <a:cs typeface="Arial"/>
              </a:rPr>
              <a:t>MongoDB Atlas</a:t>
            </a:r>
            <a:endParaRPr lang="en-US" sz="1500"/>
          </a:p>
        </p:txBody>
      </p:sp>
      <p:sp>
        <p:nvSpPr>
          <p:cNvPr id="1333343590" name="Text 11"/>
          <p:cNvSpPr/>
          <p:nvPr/>
        </p:nvSpPr>
        <p:spPr bwMode="auto">
          <a:xfrm>
            <a:off x="9784079" y="2660904"/>
            <a:ext cx="1600200" cy="274320"/>
          </a:xfrm>
          <a:prstGeom prst="rect">
            <a:avLst/>
          </a:prstGeom>
          <a:noFill/>
          <a:ln/>
        </p:spPr>
        <p:txBody>
          <a:bodyPr wrap="square" lIns="0" tIns="0" rIns="0" bIns="0" rtlCol="0" anchor="ctr"/>
          <a:lstStyle/>
          <a:p>
            <a:pPr marL="0" indent="0">
              <a:buNone/>
              <a:defRPr/>
            </a:pPr>
            <a:r>
              <a:rPr lang="en-US" sz="1100">
                <a:solidFill>
                  <a:srgbClr val="C7D2FE"/>
                </a:solidFill>
                <a:latin typeface="Calibri"/>
                <a:ea typeface="Calibri"/>
                <a:cs typeface="Calibri"/>
              </a:rPr>
              <a:t>(Database)</a:t>
            </a:r>
            <a:endParaRPr lang="en-US" sz="1100"/>
          </a:p>
        </p:txBody>
      </p:sp>
      <p:pic>
        <p:nvPicPr>
          <p:cNvPr id="620689517" name="Image 3" descr="preencoded.png"/>
          <p:cNvPicPr>
            <a:picLocks noChangeAspect="1"/>
          </p:cNvPicPr>
          <p:nvPr/>
        </p:nvPicPr>
        <p:blipFill rotWithShape="1">
          <a:blip r:embed="rId6"/>
          <a:stretch/>
        </p:blipFill>
        <p:spPr bwMode="auto">
          <a:xfrm flipH="0" flipV="1">
            <a:off x="3432069" y="2441619"/>
            <a:ext cx="1063493" cy="523204"/>
          </a:xfrm>
          <a:prstGeom prst="rect">
            <a:avLst/>
          </a:prstGeom>
        </p:spPr>
      </p:pic>
      <p:sp>
        <p:nvSpPr>
          <p:cNvPr id="387598650" name="Shape 12"/>
          <p:cNvSpPr/>
          <p:nvPr/>
        </p:nvSpPr>
        <p:spPr bwMode="auto">
          <a:xfrm>
            <a:off x="640080" y="3611880"/>
            <a:ext cx="2651760" cy="2514600"/>
          </a:xfrm>
          <a:prstGeom prst="roundRect">
            <a:avLst>
              <a:gd name="adj" fmla="val 3636"/>
            </a:avLst>
          </a:prstGeom>
          <a:solidFill>
            <a:srgbClr val="F8FAFC"/>
          </a:solidFill>
          <a:ln w="12700">
            <a:solidFill>
              <a:srgbClr val="E2E8F0"/>
            </a:solidFill>
            <a:prstDash val="solid"/>
          </a:ln>
        </p:spPr>
      </p:sp>
      <p:sp>
        <p:nvSpPr>
          <p:cNvPr id="1048295147" name="Text 13"/>
          <p:cNvSpPr/>
          <p:nvPr/>
        </p:nvSpPr>
        <p:spPr bwMode="auto">
          <a:xfrm>
            <a:off x="868680" y="3794760"/>
            <a:ext cx="2194560" cy="320040"/>
          </a:xfrm>
          <a:prstGeom prst="rect">
            <a:avLst/>
          </a:prstGeom>
          <a:noFill/>
          <a:ln/>
        </p:spPr>
        <p:txBody>
          <a:bodyPr wrap="square" lIns="0" tIns="0" rIns="0" bIns="0" rtlCol="0" anchor="ctr"/>
          <a:lstStyle/>
          <a:p>
            <a:pPr marL="0" indent="0">
              <a:buNone/>
              <a:defRPr/>
            </a:pPr>
            <a:r>
              <a:rPr lang="en-US" sz="1300" b="1">
                <a:solidFill>
                  <a:srgbClr val="3730A3"/>
                </a:solidFill>
                <a:latin typeface="Arial"/>
                <a:ea typeface="Arial"/>
                <a:cs typeface="Arial"/>
              </a:rPr>
              <a:t>Frontend Layers</a:t>
            </a:r>
            <a:endParaRPr lang="en-US" sz="1300"/>
          </a:p>
        </p:txBody>
      </p:sp>
      <p:sp>
        <p:nvSpPr>
          <p:cNvPr id="1174148033" name="Shape 14"/>
          <p:cNvSpPr/>
          <p:nvPr/>
        </p:nvSpPr>
        <p:spPr bwMode="auto">
          <a:xfrm>
            <a:off x="868680" y="4215384"/>
            <a:ext cx="2194560" cy="274320"/>
          </a:xfrm>
          <a:prstGeom prst="roundRect">
            <a:avLst>
              <a:gd name="adj" fmla="val 16667"/>
            </a:avLst>
          </a:prstGeom>
          <a:solidFill>
            <a:srgbClr val="FFFFFF"/>
          </a:solidFill>
          <a:ln w="9525">
            <a:solidFill>
              <a:srgbClr val="E2E8F0"/>
            </a:solidFill>
            <a:prstDash val="solid"/>
          </a:ln>
        </p:spPr>
      </p:sp>
      <p:sp>
        <p:nvSpPr>
          <p:cNvPr id="1616403807" name="Text 15"/>
          <p:cNvSpPr/>
          <p:nvPr/>
        </p:nvSpPr>
        <p:spPr bwMode="auto">
          <a:xfrm>
            <a:off x="960120" y="421538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Pages</a:t>
            </a:r>
            <a:endParaRPr lang="en-US" sz="1000"/>
          </a:p>
        </p:txBody>
      </p:sp>
      <p:sp>
        <p:nvSpPr>
          <p:cNvPr id="57995661" name="Shape 16"/>
          <p:cNvSpPr/>
          <p:nvPr/>
        </p:nvSpPr>
        <p:spPr bwMode="auto">
          <a:xfrm>
            <a:off x="868680" y="4581144"/>
            <a:ext cx="2194560" cy="274320"/>
          </a:xfrm>
          <a:prstGeom prst="roundRect">
            <a:avLst>
              <a:gd name="adj" fmla="val 16667"/>
            </a:avLst>
          </a:prstGeom>
          <a:solidFill>
            <a:srgbClr val="FFFFFF"/>
          </a:solidFill>
          <a:ln w="9525">
            <a:solidFill>
              <a:srgbClr val="E2E8F0"/>
            </a:solidFill>
            <a:prstDash val="solid"/>
          </a:ln>
        </p:spPr>
      </p:sp>
      <p:sp>
        <p:nvSpPr>
          <p:cNvPr id="346182067" name="Text 17"/>
          <p:cNvSpPr/>
          <p:nvPr/>
        </p:nvSpPr>
        <p:spPr bwMode="auto">
          <a:xfrm>
            <a:off x="960120" y="458114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Layout components</a:t>
            </a:r>
            <a:endParaRPr lang="en-US" sz="1000"/>
          </a:p>
        </p:txBody>
      </p:sp>
      <p:sp>
        <p:nvSpPr>
          <p:cNvPr id="33461379" name="Shape 18"/>
          <p:cNvSpPr/>
          <p:nvPr/>
        </p:nvSpPr>
        <p:spPr bwMode="auto">
          <a:xfrm>
            <a:off x="868680" y="4946904"/>
            <a:ext cx="2194560" cy="274320"/>
          </a:xfrm>
          <a:prstGeom prst="roundRect">
            <a:avLst>
              <a:gd name="adj" fmla="val 16667"/>
            </a:avLst>
          </a:prstGeom>
          <a:solidFill>
            <a:srgbClr val="FFFFFF"/>
          </a:solidFill>
          <a:ln w="9525">
            <a:solidFill>
              <a:srgbClr val="E2E8F0"/>
            </a:solidFill>
            <a:prstDash val="solid"/>
          </a:ln>
        </p:spPr>
      </p:sp>
      <p:sp>
        <p:nvSpPr>
          <p:cNvPr id="282360892" name="Text 19"/>
          <p:cNvSpPr/>
          <p:nvPr/>
        </p:nvSpPr>
        <p:spPr bwMode="auto">
          <a:xfrm>
            <a:off x="960120" y="494690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UI components</a:t>
            </a:r>
            <a:endParaRPr lang="en-US" sz="1000"/>
          </a:p>
        </p:txBody>
      </p:sp>
      <p:sp>
        <p:nvSpPr>
          <p:cNvPr id="967643175" name="Shape 20"/>
          <p:cNvSpPr/>
          <p:nvPr/>
        </p:nvSpPr>
        <p:spPr bwMode="auto">
          <a:xfrm>
            <a:off x="868680" y="5312664"/>
            <a:ext cx="2194560" cy="274320"/>
          </a:xfrm>
          <a:prstGeom prst="roundRect">
            <a:avLst>
              <a:gd name="adj" fmla="val 16667"/>
            </a:avLst>
          </a:prstGeom>
          <a:solidFill>
            <a:srgbClr val="FFFFFF"/>
          </a:solidFill>
          <a:ln w="9525">
            <a:solidFill>
              <a:srgbClr val="E2E8F0"/>
            </a:solidFill>
            <a:prstDash val="solid"/>
          </a:ln>
        </p:spPr>
      </p:sp>
      <p:sp>
        <p:nvSpPr>
          <p:cNvPr id="1194325899" name="Text 21"/>
          <p:cNvSpPr/>
          <p:nvPr/>
        </p:nvSpPr>
        <p:spPr bwMode="auto">
          <a:xfrm>
            <a:off x="960120" y="531266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Context providers (Auth, Theme)</a:t>
            </a:r>
            <a:endParaRPr lang="en-US" sz="1000"/>
          </a:p>
        </p:txBody>
      </p:sp>
      <p:sp>
        <p:nvSpPr>
          <p:cNvPr id="1516762036" name="Shape 22"/>
          <p:cNvSpPr/>
          <p:nvPr/>
        </p:nvSpPr>
        <p:spPr bwMode="auto">
          <a:xfrm>
            <a:off x="868680" y="5678424"/>
            <a:ext cx="2194560" cy="274320"/>
          </a:xfrm>
          <a:prstGeom prst="roundRect">
            <a:avLst>
              <a:gd name="adj" fmla="val 16667"/>
            </a:avLst>
          </a:prstGeom>
          <a:solidFill>
            <a:srgbClr val="FFFFFF"/>
          </a:solidFill>
          <a:ln w="9525">
            <a:solidFill>
              <a:srgbClr val="E2E8F0"/>
            </a:solidFill>
            <a:prstDash val="solid"/>
          </a:ln>
        </p:spPr>
      </p:sp>
      <p:sp>
        <p:nvSpPr>
          <p:cNvPr id="266445593" name="Text 23"/>
          <p:cNvSpPr/>
          <p:nvPr/>
        </p:nvSpPr>
        <p:spPr bwMode="auto">
          <a:xfrm>
            <a:off x="960120" y="567842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API service layer</a:t>
            </a:r>
            <a:endParaRPr lang="en-US" sz="1000"/>
          </a:p>
        </p:txBody>
      </p:sp>
      <p:sp>
        <p:nvSpPr>
          <p:cNvPr id="84897675" name="Shape 24"/>
          <p:cNvSpPr/>
          <p:nvPr/>
        </p:nvSpPr>
        <p:spPr bwMode="auto">
          <a:xfrm>
            <a:off x="4754880" y="3611880"/>
            <a:ext cx="2651760" cy="2514600"/>
          </a:xfrm>
          <a:prstGeom prst="roundRect">
            <a:avLst>
              <a:gd name="adj" fmla="val 3636"/>
            </a:avLst>
          </a:prstGeom>
          <a:solidFill>
            <a:srgbClr val="F8FAFC"/>
          </a:solidFill>
          <a:ln w="12700">
            <a:solidFill>
              <a:srgbClr val="E2E8F0"/>
            </a:solidFill>
            <a:prstDash val="solid"/>
          </a:ln>
        </p:spPr>
      </p:sp>
      <p:sp>
        <p:nvSpPr>
          <p:cNvPr id="1121528240" name="Text 25"/>
          <p:cNvSpPr/>
          <p:nvPr/>
        </p:nvSpPr>
        <p:spPr bwMode="auto">
          <a:xfrm>
            <a:off x="4983480" y="3794760"/>
            <a:ext cx="2194560" cy="320040"/>
          </a:xfrm>
          <a:prstGeom prst="rect">
            <a:avLst/>
          </a:prstGeom>
          <a:noFill/>
          <a:ln/>
        </p:spPr>
        <p:txBody>
          <a:bodyPr wrap="square" lIns="0" tIns="0" rIns="0" bIns="0" rtlCol="0" anchor="ctr"/>
          <a:lstStyle/>
          <a:p>
            <a:pPr marL="0" indent="0">
              <a:buNone/>
              <a:defRPr/>
            </a:pPr>
            <a:r>
              <a:rPr lang="en-US" sz="1300" b="1">
                <a:solidFill>
                  <a:srgbClr val="3730A3"/>
                </a:solidFill>
                <a:latin typeface="Arial"/>
                <a:ea typeface="Arial"/>
                <a:cs typeface="Arial"/>
              </a:rPr>
              <a:t>API Layers</a:t>
            </a:r>
            <a:endParaRPr lang="en-US" sz="1300"/>
          </a:p>
        </p:txBody>
      </p:sp>
      <p:sp>
        <p:nvSpPr>
          <p:cNvPr id="961160743" name="Shape 26"/>
          <p:cNvSpPr/>
          <p:nvPr/>
        </p:nvSpPr>
        <p:spPr bwMode="auto">
          <a:xfrm>
            <a:off x="4983480" y="4215384"/>
            <a:ext cx="2194560" cy="274320"/>
          </a:xfrm>
          <a:prstGeom prst="roundRect">
            <a:avLst>
              <a:gd name="adj" fmla="val 16667"/>
            </a:avLst>
          </a:prstGeom>
          <a:solidFill>
            <a:srgbClr val="FFFFFF"/>
          </a:solidFill>
          <a:ln w="9525">
            <a:solidFill>
              <a:srgbClr val="E2E8F0"/>
            </a:solidFill>
            <a:prstDash val="solid"/>
          </a:ln>
        </p:spPr>
      </p:sp>
      <p:sp>
        <p:nvSpPr>
          <p:cNvPr id="518877639" name="Text 27"/>
          <p:cNvSpPr/>
          <p:nvPr/>
        </p:nvSpPr>
        <p:spPr bwMode="auto">
          <a:xfrm>
            <a:off x="5074920" y="421538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Routes</a:t>
            </a:r>
            <a:endParaRPr lang="en-US" sz="1000"/>
          </a:p>
        </p:txBody>
      </p:sp>
      <p:sp>
        <p:nvSpPr>
          <p:cNvPr id="750018944" name="Shape 28"/>
          <p:cNvSpPr/>
          <p:nvPr/>
        </p:nvSpPr>
        <p:spPr bwMode="auto">
          <a:xfrm>
            <a:off x="4983480" y="4581144"/>
            <a:ext cx="2194560" cy="274320"/>
          </a:xfrm>
          <a:prstGeom prst="roundRect">
            <a:avLst>
              <a:gd name="adj" fmla="val 16667"/>
            </a:avLst>
          </a:prstGeom>
          <a:solidFill>
            <a:srgbClr val="FFFFFF"/>
          </a:solidFill>
          <a:ln w="9525">
            <a:solidFill>
              <a:srgbClr val="E2E8F0"/>
            </a:solidFill>
            <a:prstDash val="solid"/>
          </a:ln>
        </p:spPr>
      </p:sp>
      <p:sp>
        <p:nvSpPr>
          <p:cNvPr id="419335368" name="Text 29"/>
          <p:cNvSpPr/>
          <p:nvPr/>
        </p:nvSpPr>
        <p:spPr bwMode="auto">
          <a:xfrm>
            <a:off x="5074920" y="458114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Middleware</a:t>
            </a:r>
            <a:endParaRPr lang="en-US" sz="1000"/>
          </a:p>
        </p:txBody>
      </p:sp>
      <p:sp>
        <p:nvSpPr>
          <p:cNvPr id="477287372" name="Shape 30"/>
          <p:cNvSpPr/>
          <p:nvPr/>
        </p:nvSpPr>
        <p:spPr bwMode="auto">
          <a:xfrm>
            <a:off x="4983480" y="4946904"/>
            <a:ext cx="2194560" cy="274320"/>
          </a:xfrm>
          <a:prstGeom prst="roundRect">
            <a:avLst>
              <a:gd name="adj" fmla="val 16667"/>
            </a:avLst>
          </a:prstGeom>
          <a:solidFill>
            <a:srgbClr val="FFFFFF"/>
          </a:solidFill>
          <a:ln w="9525">
            <a:solidFill>
              <a:srgbClr val="E2E8F0"/>
            </a:solidFill>
            <a:prstDash val="solid"/>
          </a:ln>
        </p:spPr>
      </p:sp>
      <p:sp>
        <p:nvSpPr>
          <p:cNvPr id="474864728" name="Text 31"/>
          <p:cNvSpPr/>
          <p:nvPr/>
        </p:nvSpPr>
        <p:spPr bwMode="auto">
          <a:xfrm>
            <a:off x="5074920" y="494690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Controllers</a:t>
            </a:r>
            <a:endParaRPr lang="en-US" sz="1000"/>
          </a:p>
        </p:txBody>
      </p:sp>
      <p:sp>
        <p:nvSpPr>
          <p:cNvPr id="1609929766" name="Shape 32"/>
          <p:cNvSpPr/>
          <p:nvPr/>
        </p:nvSpPr>
        <p:spPr bwMode="auto">
          <a:xfrm>
            <a:off x="4983480" y="5312664"/>
            <a:ext cx="2194560" cy="274320"/>
          </a:xfrm>
          <a:prstGeom prst="roundRect">
            <a:avLst>
              <a:gd name="adj" fmla="val 16667"/>
            </a:avLst>
          </a:prstGeom>
          <a:solidFill>
            <a:srgbClr val="FFFFFF"/>
          </a:solidFill>
          <a:ln w="9525">
            <a:solidFill>
              <a:srgbClr val="E2E8F0"/>
            </a:solidFill>
            <a:prstDash val="solid"/>
          </a:ln>
        </p:spPr>
      </p:sp>
      <p:sp>
        <p:nvSpPr>
          <p:cNvPr id="700943383" name="Text 33"/>
          <p:cNvSpPr/>
          <p:nvPr/>
        </p:nvSpPr>
        <p:spPr bwMode="auto">
          <a:xfrm>
            <a:off x="5074920" y="531266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Models</a:t>
            </a:r>
            <a:endParaRPr lang="en-US" sz="1000"/>
          </a:p>
        </p:txBody>
      </p:sp>
      <p:sp>
        <p:nvSpPr>
          <p:cNvPr id="393733659" name="Shape 34"/>
          <p:cNvSpPr/>
          <p:nvPr/>
        </p:nvSpPr>
        <p:spPr bwMode="auto">
          <a:xfrm>
            <a:off x="8869680" y="3611880"/>
            <a:ext cx="2651760" cy="2514600"/>
          </a:xfrm>
          <a:prstGeom prst="roundRect">
            <a:avLst>
              <a:gd name="adj" fmla="val 3636"/>
            </a:avLst>
          </a:prstGeom>
          <a:solidFill>
            <a:srgbClr val="F8FAFC"/>
          </a:solidFill>
          <a:ln w="12700">
            <a:solidFill>
              <a:srgbClr val="E2E8F0"/>
            </a:solidFill>
            <a:prstDash val="solid"/>
          </a:ln>
        </p:spPr>
      </p:sp>
      <p:sp>
        <p:nvSpPr>
          <p:cNvPr id="2047138768" name="Text 35"/>
          <p:cNvSpPr/>
          <p:nvPr/>
        </p:nvSpPr>
        <p:spPr bwMode="auto">
          <a:xfrm>
            <a:off x="9098280" y="3794760"/>
            <a:ext cx="2194560" cy="320040"/>
          </a:xfrm>
          <a:prstGeom prst="rect">
            <a:avLst/>
          </a:prstGeom>
          <a:noFill/>
          <a:ln/>
        </p:spPr>
        <p:txBody>
          <a:bodyPr wrap="square" lIns="0" tIns="0" rIns="0" bIns="0" rtlCol="0" anchor="ctr"/>
          <a:lstStyle/>
          <a:p>
            <a:pPr marL="0" indent="0">
              <a:buNone/>
              <a:defRPr/>
            </a:pPr>
            <a:r>
              <a:rPr lang="en-US" sz="1300" b="1">
                <a:solidFill>
                  <a:srgbClr val="3730A3"/>
                </a:solidFill>
                <a:latin typeface="Arial"/>
                <a:ea typeface="Arial"/>
                <a:cs typeface="Arial"/>
              </a:rPr>
              <a:t>Managed Cloud DB</a:t>
            </a:r>
            <a:endParaRPr lang="en-US" sz="1300"/>
          </a:p>
        </p:txBody>
      </p:sp>
      <p:sp>
        <p:nvSpPr>
          <p:cNvPr id="2145952369" name="Shape 36"/>
          <p:cNvSpPr/>
          <p:nvPr/>
        </p:nvSpPr>
        <p:spPr bwMode="auto">
          <a:xfrm>
            <a:off x="9098280" y="4215384"/>
            <a:ext cx="2194560" cy="274320"/>
          </a:xfrm>
          <a:prstGeom prst="roundRect">
            <a:avLst>
              <a:gd name="adj" fmla="val 16667"/>
            </a:avLst>
          </a:prstGeom>
          <a:solidFill>
            <a:srgbClr val="FFFFFF"/>
          </a:solidFill>
          <a:ln w="9525">
            <a:solidFill>
              <a:srgbClr val="E2E8F0"/>
            </a:solidFill>
            <a:prstDash val="solid"/>
          </a:ln>
        </p:spPr>
      </p:sp>
      <p:sp>
        <p:nvSpPr>
          <p:cNvPr id="209881337" name="Text 37"/>
          <p:cNvSpPr/>
          <p:nvPr/>
        </p:nvSpPr>
        <p:spPr bwMode="auto">
          <a:xfrm>
            <a:off x="9189720" y="421538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Fully managed by MongoDB Atlas</a:t>
            </a:r>
            <a:endParaRPr lang="en-US" sz="1000"/>
          </a:p>
        </p:txBody>
      </p:sp>
      <p:sp>
        <p:nvSpPr>
          <p:cNvPr id="1599274136" name="Shape 38"/>
          <p:cNvSpPr/>
          <p:nvPr/>
        </p:nvSpPr>
        <p:spPr bwMode="auto">
          <a:xfrm>
            <a:off x="9098280" y="4581144"/>
            <a:ext cx="2194560" cy="274320"/>
          </a:xfrm>
          <a:prstGeom prst="roundRect">
            <a:avLst>
              <a:gd name="adj" fmla="val 16667"/>
            </a:avLst>
          </a:prstGeom>
          <a:solidFill>
            <a:srgbClr val="FFFFFF"/>
          </a:solidFill>
          <a:ln w="9525">
            <a:solidFill>
              <a:srgbClr val="E2E8F0"/>
            </a:solidFill>
            <a:prstDash val="solid"/>
          </a:ln>
        </p:spPr>
      </p:sp>
      <p:sp>
        <p:nvSpPr>
          <p:cNvPr id="1643475587" name="Text 39"/>
          <p:cNvSpPr/>
          <p:nvPr/>
        </p:nvSpPr>
        <p:spPr bwMode="auto">
          <a:xfrm>
            <a:off x="9189720" y="458114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Automatic backups &amp; scaling</a:t>
            </a:r>
            <a:endParaRPr lang="en-US" sz="1000"/>
          </a:p>
        </p:txBody>
      </p:sp>
      <p:sp>
        <p:nvSpPr>
          <p:cNvPr id="1813143068" name="Shape 40"/>
          <p:cNvSpPr/>
          <p:nvPr/>
        </p:nvSpPr>
        <p:spPr bwMode="auto">
          <a:xfrm>
            <a:off x="9098280" y="4946904"/>
            <a:ext cx="2194560" cy="274320"/>
          </a:xfrm>
          <a:prstGeom prst="roundRect">
            <a:avLst>
              <a:gd name="adj" fmla="val 16667"/>
            </a:avLst>
          </a:prstGeom>
          <a:solidFill>
            <a:srgbClr val="FFFFFF"/>
          </a:solidFill>
          <a:ln w="9525">
            <a:solidFill>
              <a:srgbClr val="E2E8F0"/>
            </a:solidFill>
            <a:prstDash val="solid"/>
          </a:ln>
        </p:spPr>
      </p:sp>
      <p:sp>
        <p:nvSpPr>
          <p:cNvPr id="1115798163" name="Text 41"/>
          <p:cNvSpPr/>
          <p:nvPr/>
        </p:nvSpPr>
        <p:spPr bwMode="auto">
          <a:xfrm>
            <a:off x="9189720" y="4946904"/>
            <a:ext cx="2011680" cy="274320"/>
          </a:xfrm>
          <a:prstGeom prst="rect">
            <a:avLst/>
          </a:prstGeom>
          <a:noFill/>
          <a:ln/>
        </p:spPr>
        <p:txBody>
          <a:bodyPr wrap="square" lIns="0" tIns="0" rIns="0" bIns="0" rtlCol="0" anchor="ctr"/>
          <a:lstStyle/>
          <a:p>
            <a:pPr marL="0" indent="0">
              <a:buNone/>
              <a:defRPr/>
            </a:pPr>
            <a:r>
              <a:rPr lang="en-US" sz="1000">
                <a:solidFill>
                  <a:srgbClr val="475569"/>
                </a:solidFill>
                <a:latin typeface="Calibri"/>
                <a:ea typeface="Calibri"/>
                <a:cs typeface="Calibri"/>
              </a:rPr>
              <a:t>Accessed only via Mongoose models</a:t>
            </a:r>
            <a:endParaRPr lang="en-US" sz="1000"/>
          </a:p>
        </p:txBody>
      </p:sp>
      <p:sp>
        <p:nvSpPr>
          <p:cNvPr id="677823123" name="Text 42"/>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System Architecture</a:t>
            </a:r>
            <a:endParaRPr lang="en-US" sz="900"/>
          </a:p>
        </p:txBody>
      </p:sp>
      <p:sp>
        <p:nvSpPr>
          <p:cNvPr id="1872805641" name="Text 43"/>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6</a:t>
            </a:r>
            <a:endParaRPr lang="en-US" sz="900"/>
          </a:p>
        </p:txBody>
      </p:sp>
      <p:pic>
        <p:nvPicPr>
          <p:cNvPr id="776679247" name="Image 3" descr="preencoded.png"/>
          <p:cNvPicPr>
            <a:picLocks noChangeAspect="1"/>
          </p:cNvPicPr>
          <p:nvPr/>
        </p:nvPicPr>
        <p:blipFill rotWithShape="1">
          <a:blip r:embed="rId6"/>
          <a:stretch/>
        </p:blipFill>
        <p:spPr bwMode="auto">
          <a:xfrm flipH="0" flipV="1">
            <a:off x="7636717" y="2441619"/>
            <a:ext cx="1063493" cy="52320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FFFFF"/>
        </a:solidFill>
      </p:bgPr>
    </p:bg>
    <p:spTree>
      <p:nvGrpSpPr>
        <p:cNvPr id="1" name=""/>
        <p:cNvGrpSpPr/>
        <p:nvPr/>
      </p:nvGrpSpPr>
      <p:grpSpPr bwMode="auto">
        <a:xfrm>
          <a:off x="0" y="0"/>
          <a:ext cx="0" cy="0"/>
          <a:chOff x="0" y="0"/>
          <a:chExt cx="0" cy="0"/>
        </a:xfrm>
      </p:grpSpPr>
      <p:sp>
        <p:nvSpPr>
          <p:cNvPr id="1778656564"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SECURE BY DESIGN</a:t>
            </a:r>
            <a:endParaRPr sz="1200">
              <a:solidFill>
                <a:srgbClr val="4F46E5"/>
              </a:solidFill>
            </a:endParaRPr>
          </a:p>
        </p:txBody>
      </p:sp>
      <p:sp>
        <p:nvSpPr>
          <p:cNvPr id="2086971181" name="Text 1"/>
          <p:cNvSpPr/>
          <p:nvPr/>
        </p:nvSpPr>
        <p:spPr bwMode="auto">
          <a:xfrm>
            <a:off x="548640" y="658368"/>
            <a:ext cx="10515600" cy="640080"/>
          </a:xfrm>
          <a:prstGeom prst="rect">
            <a:avLst/>
          </a:prstGeom>
          <a:noFill/>
          <a:ln/>
        </p:spPr>
        <p:txBody>
          <a:bodyPr wrap="square" lIns="0" tIns="0" rIns="0" bIns="0" rtlCol="0" anchor="ctr"/>
          <a:lstStyle/>
          <a:p>
            <a:pPr marL="0" indent="0">
              <a:buNone/>
              <a:defRPr/>
            </a:pPr>
            <a:r>
              <a:rPr lang="en-US" sz="3400" b="1">
                <a:solidFill>
                  <a:schemeClr val="tx1"/>
                </a:solidFill>
                <a:latin typeface="Arial"/>
                <a:ea typeface="Arial"/>
                <a:cs typeface="Arial"/>
              </a:rPr>
              <a:t>Authentication </a:t>
            </a:r>
            <a:r>
              <a:rPr lang="en-US" sz="3200" b="1">
                <a:solidFill>
                  <a:schemeClr val="tx1"/>
                </a:solidFill>
                <a:latin typeface="Arial"/>
                <a:ea typeface="Arial"/>
                <a:cs typeface="Arial"/>
              </a:rPr>
              <a:t>Flow</a:t>
            </a:r>
            <a:endParaRPr sz="3200">
              <a:solidFill>
                <a:schemeClr val="tx1"/>
              </a:solidFill>
            </a:endParaRPr>
          </a:p>
        </p:txBody>
      </p:sp>
      <p:sp>
        <p:nvSpPr>
          <p:cNvPr id="483248436" name="Text 2"/>
          <p:cNvSpPr/>
          <p:nvPr/>
        </p:nvSpPr>
        <p:spPr bwMode="auto">
          <a:xfrm>
            <a:off x="548640" y="1261872"/>
            <a:ext cx="10058400" cy="365760"/>
          </a:xfrm>
          <a:prstGeom prst="rect">
            <a:avLst/>
          </a:prstGeom>
          <a:noFill/>
          <a:ln/>
        </p:spPr>
        <p:txBody>
          <a:bodyPr wrap="square" lIns="0" tIns="0" rIns="0" bIns="0" rtlCol="0" anchor="ctr"/>
          <a:lstStyle/>
          <a:p>
            <a:pPr marL="0" indent="0">
              <a:buNone/>
              <a:defRPr/>
            </a:pPr>
            <a:r>
              <a:rPr lang="en-US" sz="1600">
                <a:solidFill>
                  <a:srgbClr val="475569"/>
                </a:solidFill>
                <a:latin typeface="Calibri"/>
                <a:ea typeface="Calibri"/>
                <a:cs typeface="Calibri"/>
              </a:rPr>
              <a:t>Dual-token pattern keeps sessions seamless and secure</a:t>
            </a:r>
            <a:endParaRPr sz="1600">
              <a:solidFill>
                <a:srgbClr val="475569"/>
              </a:solidFill>
            </a:endParaRPr>
          </a:p>
        </p:txBody>
      </p:sp>
      <p:sp>
        <p:nvSpPr>
          <p:cNvPr id="1418025425" name="Shape 3"/>
          <p:cNvSpPr/>
          <p:nvPr/>
        </p:nvSpPr>
        <p:spPr bwMode="auto">
          <a:xfrm>
            <a:off x="594360" y="2552441"/>
            <a:ext cx="2514600" cy="2331720"/>
          </a:xfrm>
          <a:prstGeom prst="roundRect">
            <a:avLst>
              <a:gd name="adj" fmla="val 3922"/>
            </a:avLst>
          </a:prstGeom>
          <a:solidFill>
            <a:srgbClr val="A9CBD8">
              <a:alpha val="24999"/>
            </a:srgbClr>
          </a:solidFill>
          <a:ln w="9525">
            <a:solidFill>
              <a:srgbClr val="FFFFFF">
                <a:alpha val="35000"/>
              </a:srgbClr>
            </a:solidFill>
            <a:prstDash val="solid"/>
          </a:ln>
        </p:spPr>
        <p:txBody>
          <a:bodyPr anchor="ctr"/>
          <a:p>
            <a:pPr algn="ctr">
              <a:defRPr/>
            </a:pPr>
            <a:endParaRPr>
              <a:solidFill>
                <a:schemeClr val="tx1"/>
              </a:solidFill>
            </a:endParaRPr>
          </a:p>
        </p:txBody>
      </p:sp>
      <p:pic>
        <p:nvPicPr>
          <p:cNvPr id="1415262905" name="Image 1" descr="preencoded.png"/>
          <p:cNvPicPr>
            <a:picLocks noChangeAspect="1"/>
          </p:cNvPicPr>
          <p:nvPr/>
        </p:nvPicPr>
        <p:blipFill rotWithShape="1">
          <a:blip r:embed="rId3"/>
          <a:stretch/>
        </p:blipFill>
        <p:spPr bwMode="auto">
          <a:xfrm>
            <a:off x="1531620" y="2826761"/>
            <a:ext cx="640080" cy="640080"/>
          </a:xfrm>
          <a:prstGeom prst="rect">
            <a:avLst/>
          </a:prstGeom>
        </p:spPr>
      </p:pic>
      <p:sp>
        <p:nvSpPr>
          <p:cNvPr id="443758733" name="Text 4"/>
          <p:cNvSpPr/>
          <p:nvPr/>
        </p:nvSpPr>
        <p:spPr bwMode="auto">
          <a:xfrm>
            <a:off x="777240" y="3604001"/>
            <a:ext cx="2148840" cy="320040"/>
          </a:xfrm>
          <a:prstGeom prst="rect">
            <a:avLst/>
          </a:prstGeom>
          <a:noFill/>
          <a:ln/>
        </p:spPr>
        <p:txBody>
          <a:bodyPr wrap="square" lIns="0" tIns="0" rIns="0" bIns="0" rtlCol="0" anchor="ctr"/>
          <a:lstStyle/>
          <a:p>
            <a:pPr marL="0" indent="0" algn="ctr">
              <a:buNone/>
              <a:defRPr/>
            </a:pPr>
            <a:r>
              <a:rPr lang="en-US" sz="1400" b="1">
                <a:solidFill>
                  <a:schemeClr val="tx1"/>
                </a:solidFill>
                <a:latin typeface="Arial"/>
                <a:ea typeface="Arial"/>
                <a:cs typeface="Arial"/>
              </a:rPr>
              <a:t>1. Sign In</a:t>
            </a:r>
            <a:endParaRPr sz="1400">
              <a:solidFill>
                <a:schemeClr val="tx1"/>
              </a:solidFill>
            </a:endParaRPr>
          </a:p>
        </p:txBody>
      </p:sp>
      <p:sp>
        <p:nvSpPr>
          <p:cNvPr id="2146644157" name="Text 5"/>
          <p:cNvSpPr/>
          <p:nvPr/>
        </p:nvSpPr>
        <p:spPr bwMode="auto">
          <a:xfrm>
            <a:off x="777240" y="3969761"/>
            <a:ext cx="2148840" cy="822960"/>
          </a:xfrm>
          <a:prstGeom prst="rect">
            <a:avLst/>
          </a:prstGeom>
          <a:noFill/>
          <a:ln/>
        </p:spPr>
        <p:txBody>
          <a:bodyPr wrap="square" lIns="0" tIns="0" rIns="0" bIns="0" rtlCol="0" anchor="t"/>
          <a:lstStyle/>
          <a:p>
            <a:pPr marL="0" indent="0" algn="ctr">
              <a:buNone/>
              <a:defRPr/>
            </a:pPr>
            <a:r>
              <a:rPr lang="en-US" sz="1050">
                <a:solidFill>
                  <a:schemeClr val="tx1"/>
                </a:solidFill>
                <a:latin typeface="Calibri"/>
                <a:ea typeface="Calibri"/>
                <a:cs typeface="Calibri"/>
              </a:rPr>
              <a:t>User submits email + password credentials.</a:t>
            </a:r>
            <a:endParaRPr sz="1050">
              <a:solidFill>
                <a:schemeClr val="tx1"/>
              </a:solidFill>
            </a:endParaRPr>
          </a:p>
        </p:txBody>
      </p:sp>
      <p:pic>
        <p:nvPicPr>
          <p:cNvPr id="692616377" name="Image 2" descr="preencoded.png"/>
          <p:cNvPicPr>
            <a:picLocks noChangeAspect="1"/>
          </p:cNvPicPr>
          <p:nvPr/>
        </p:nvPicPr>
        <p:blipFill rotWithShape="1">
          <a:blip r:embed="rId4"/>
          <a:stretch/>
        </p:blipFill>
        <p:spPr bwMode="auto">
          <a:xfrm>
            <a:off x="3127248" y="3590285"/>
            <a:ext cx="219456" cy="256032"/>
          </a:xfrm>
          <a:prstGeom prst="rect">
            <a:avLst/>
          </a:prstGeom>
        </p:spPr>
      </p:pic>
      <p:sp>
        <p:nvSpPr>
          <p:cNvPr id="971743094" name="Shape 6"/>
          <p:cNvSpPr/>
          <p:nvPr/>
        </p:nvSpPr>
        <p:spPr bwMode="auto">
          <a:xfrm>
            <a:off x="3364992" y="2552441"/>
            <a:ext cx="2514600" cy="2331720"/>
          </a:xfrm>
          <a:prstGeom prst="roundRect">
            <a:avLst>
              <a:gd name="adj" fmla="val 3922"/>
            </a:avLst>
          </a:prstGeom>
          <a:solidFill>
            <a:srgbClr val="A9CBD8">
              <a:alpha val="24999"/>
            </a:srgbClr>
          </a:solidFill>
          <a:ln w="9525">
            <a:solidFill>
              <a:srgbClr val="FFFFFF">
                <a:alpha val="35000"/>
              </a:srgbClr>
            </a:solidFill>
            <a:prstDash val="solid"/>
          </a:ln>
        </p:spPr>
        <p:txBody>
          <a:bodyPr anchor="ctr"/>
          <a:p>
            <a:pPr algn="ctr">
              <a:defRPr/>
            </a:pPr>
            <a:endParaRPr>
              <a:solidFill>
                <a:schemeClr val="tx1"/>
              </a:solidFill>
            </a:endParaRPr>
          </a:p>
        </p:txBody>
      </p:sp>
      <p:pic>
        <p:nvPicPr>
          <p:cNvPr id="1641865341" name="Image 3" descr="preencoded.png"/>
          <p:cNvPicPr>
            <a:picLocks noChangeAspect="1"/>
          </p:cNvPicPr>
          <p:nvPr/>
        </p:nvPicPr>
        <p:blipFill rotWithShape="1">
          <a:blip r:embed="rId5"/>
          <a:stretch/>
        </p:blipFill>
        <p:spPr bwMode="auto">
          <a:xfrm>
            <a:off x="4302252" y="2826761"/>
            <a:ext cx="640080" cy="640080"/>
          </a:xfrm>
          <a:prstGeom prst="rect">
            <a:avLst/>
          </a:prstGeom>
        </p:spPr>
      </p:pic>
      <p:sp>
        <p:nvSpPr>
          <p:cNvPr id="878814204" name="Text 7"/>
          <p:cNvSpPr/>
          <p:nvPr/>
        </p:nvSpPr>
        <p:spPr bwMode="auto">
          <a:xfrm>
            <a:off x="3547872" y="3604001"/>
            <a:ext cx="2148840" cy="320040"/>
          </a:xfrm>
          <a:prstGeom prst="rect">
            <a:avLst/>
          </a:prstGeom>
          <a:noFill/>
          <a:ln/>
        </p:spPr>
        <p:txBody>
          <a:bodyPr wrap="square" lIns="0" tIns="0" rIns="0" bIns="0" rtlCol="0" anchor="ctr"/>
          <a:lstStyle/>
          <a:p>
            <a:pPr marL="0" indent="0" algn="ctr">
              <a:buNone/>
              <a:defRPr/>
            </a:pPr>
            <a:r>
              <a:rPr lang="en-US" sz="1400" b="1">
                <a:solidFill>
                  <a:schemeClr val="tx1"/>
                </a:solidFill>
                <a:latin typeface="Arial"/>
                <a:ea typeface="Arial"/>
                <a:cs typeface="Arial"/>
              </a:rPr>
              <a:t>2. Tokens Issued</a:t>
            </a:r>
            <a:endParaRPr sz="1400">
              <a:solidFill>
                <a:schemeClr val="tx1"/>
              </a:solidFill>
            </a:endParaRPr>
          </a:p>
        </p:txBody>
      </p:sp>
      <p:sp>
        <p:nvSpPr>
          <p:cNvPr id="1177258894" name="Text 8"/>
          <p:cNvSpPr/>
          <p:nvPr/>
        </p:nvSpPr>
        <p:spPr bwMode="auto">
          <a:xfrm>
            <a:off x="3547872" y="3969761"/>
            <a:ext cx="2148840" cy="822960"/>
          </a:xfrm>
          <a:prstGeom prst="rect">
            <a:avLst/>
          </a:prstGeom>
          <a:noFill/>
          <a:ln/>
        </p:spPr>
        <p:txBody>
          <a:bodyPr wrap="square" lIns="0" tIns="0" rIns="0" bIns="0" rtlCol="0" anchor="t"/>
          <a:lstStyle/>
          <a:p>
            <a:pPr marL="0" indent="0" algn="ctr">
              <a:buNone/>
              <a:defRPr/>
            </a:pPr>
            <a:r>
              <a:rPr lang="en-US" sz="1050">
                <a:solidFill>
                  <a:schemeClr val="tx1"/>
                </a:solidFill>
                <a:latin typeface="Calibri"/>
                <a:ea typeface="Calibri"/>
                <a:cs typeface="Calibri"/>
              </a:rPr>
              <a:t>15-min access token + 7-day refresh token, both httpOnly cookies.</a:t>
            </a:r>
            <a:endParaRPr sz="1050">
              <a:solidFill>
                <a:schemeClr val="tx1"/>
              </a:solidFill>
            </a:endParaRPr>
          </a:p>
        </p:txBody>
      </p:sp>
      <p:pic>
        <p:nvPicPr>
          <p:cNvPr id="1325267776" name="Image 4" descr="preencoded.png"/>
          <p:cNvPicPr>
            <a:picLocks noChangeAspect="1"/>
          </p:cNvPicPr>
          <p:nvPr/>
        </p:nvPicPr>
        <p:blipFill rotWithShape="1">
          <a:blip r:embed="rId6"/>
          <a:stretch/>
        </p:blipFill>
        <p:spPr bwMode="auto">
          <a:xfrm>
            <a:off x="5897880" y="3590285"/>
            <a:ext cx="219456" cy="256032"/>
          </a:xfrm>
          <a:prstGeom prst="rect">
            <a:avLst/>
          </a:prstGeom>
        </p:spPr>
      </p:pic>
      <p:sp>
        <p:nvSpPr>
          <p:cNvPr id="1700695077" name="Shape 9"/>
          <p:cNvSpPr/>
          <p:nvPr/>
        </p:nvSpPr>
        <p:spPr bwMode="auto">
          <a:xfrm>
            <a:off x="6135624" y="2552441"/>
            <a:ext cx="2514600" cy="2331720"/>
          </a:xfrm>
          <a:prstGeom prst="roundRect">
            <a:avLst>
              <a:gd name="adj" fmla="val 3922"/>
            </a:avLst>
          </a:prstGeom>
          <a:solidFill>
            <a:srgbClr val="A9CBD8">
              <a:alpha val="24999"/>
            </a:srgbClr>
          </a:solidFill>
          <a:ln w="9525">
            <a:solidFill>
              <a:srgbClr val="FFFFFF">
                <a:alpha val="35000"/>
              </a:srgbClr>
            </a:solidFill>
            <a:prstDash val="solid"/>
          </a:ln>
        </p:spPr>
        <p:txBody>
          <a:bodyPr anchor="ctr"/>
          <a:p>
            <a:pPr algn="ctr">
              <a:defRPr/>
            </a:pPr>
            <a:endParaRPr>
              <a:solidFill>
                <a:schemeClr val="tx1"/>
              </a:solidFill>
            </a:endParaRPr>
          </a:p>
        </p:txBody>
      </p:sp>
      <p:pic>
        <p:nvPicPr>
          <p:cNvPr id="1226928226" name="Image 5" descr="preencoded.png"/>
          <p:cNvPicPr>
            <a:picLocks noChangeAspect="1"/>
          </p:cNvPicPr>
          <p:nvPr/>
        </p:nvPicPr>
        <p:blipFill rotWithShape="1">
          <a:blip r:embed="rId7"/>
          <a:stretch/>
        </p:blipFill>
        <p:spPr bwMode="auto">
          <a:xfrm>
            <a:off x="7072884" y="2826761"/>
            <a:ext cx="640080" cy="640080"/>
          </a:xfrm>
          <a:prstGeom prst="rect">
            <a:avLst/>
          </a:prstGeom>
        </p:spPr>
      </p:pic>
      <p:sp>
        <p:nvSpPr>
          <p:cNvPr id="1017707716" name="Text 10"/>
          <p:cNvSpPr/>
          <p:nvPr/>
        </p:nvSpPr>
        <p:spPr bwMode="auto">
          <a:xfrm>
            <a:off x="6318504" y="3604001"/>
            <a:ext cx="2148840" cy="320040"/>
          </a:xfrm>
          <a:prstGeom prst="rect">
            <a:avLst/>
          </a:prstGeom>
          <a:noFill/>
          <a:ln/>
        </p:spPr>
        <p:txBody>
          <a:bodyPr wrap="square" lIns="0" tIns="0" rIns="0" bIns="0" rtlCol="0" anchor="ctr"/>
          <a:lstStyle/>
          <a:p>
            <a:pPr marL="0" indent="0" algn="ctr">
              <a:buNone/>
              <a:defRPr/>
            </a:pPr>
            <a:r>
              <a:rPr lang="en-US" sz="1400" b="1">
                <a:solidFill>
                  <a:schemeClr val="tx1"/>
                </a:solidFill>
                <a:latin typeface="Arial"/>
                <a:ea typeface="Arial"/>
                <a:cs typeface="Arial"/>
              </a:rPr>
              <a:t>3. 401 Intercepted</a:t>
            </a:r>
            <a:endParaRPr sz="1400">
              <a:solidFill>
                <a:schemeClr val="tx1"/>
              </a:solidFill>
            </a:endParaRPr>
          </a:p>
        </p:txBody>
      </p:sp>
      <p:sp>
        <p:nvSpPr>
          <p:cNvPr id="247274484" name="Text 11"/>
          <p:cNvSpPr/>
          <p:nvPr/>
        </p:nvSpPr>
        <p:spPr bwMode="auto">
          <a:xfrm>
            <a:off x="6318504" y="3969761"/>
            <a:ext cx="2148840" cy="822960"/>
          </a:xfrm>
          <a:prstGeom prst="rect">
            <a:avLst/>
          </a:prstGeom>
          <a:noFill/>
          <a:ln/>
        </p:spPr>
        <p:txBody>
          <a:bodyPr wrap="square" lIns="0" tIns="0" rIns="0" bIns="0" rtlCol="0" anchor="t"/>
          <a:lstStyle/>
          <a:p>
            <a:pPr marL="0" indent="0" algn="ctr">
              <a:buNone/>
              <a:defRPr/>
            </a:pPr>
            <a:r>
              <a:rPr lang="en-US" sz="1050">
                <a:solidFill>
                  <a:schemeClr val="tx1"/>
                </a:solidFill>
                <a:latin typeface="Calibri"/>
                <a:ea typeface="Calibri"/>
                <a:cs typeface="Calibri"/>
              </a:rPr>
              <a:t>Axios interceptor catches expiry, queues requests.</a:t>
            </a:r>
            <a:endParaRPr sz="1050">
              <a:solidFill>
                <a:schemeClr val="tx1"/>
              </a:solidFill>
            </a:endParaRPr>
          </a:p>
        </p:txBody>
      </p:sp>
      <p:pic>
        <p:nvPicPr>
          <p:cNvPr id="2041780911" name="Image 6" descr="preencoded.png"/>
          <p:cNvPicPr>
            <a:picLocks noChangeAspect="1"/>
          </p:cNvPicPr>
          <p:nvPr/>
        </p:nvPicPr>
        <p:blipFill rotWithShape="1">
          <a:blip r:embed="rId8"/>
          <a:stretch/>
        </p:blipFill>
        <p:spPr bwMode="auto">
          <a:xfrm>
            <a:off x="8668512" y="3590285"/>
            <a:ext cx="219456" cy="256032"/>
          </a:xfrm>
          <a:prstGeom prst="rect">
            <a:avLst/>
          </a:prstGeom>
        </p:spPr>
      </p:pic>
      <p:sp>
        <p:nvSpPr>
          <p:cNvPr id="1356347948" name="Shape 12"/>
          <p:cNvSpPr/>
          <p:nvPr/>
        </p:nvSpPr>
        <p:spPr bwMode="auto">
          <a:xfrm>
            <a:off x="8906256" y="2552441"/>
            <a:ext cx="2514600" cy="2331720"/>
          </a:xfrm>
          <a:prstGeom prst="roundRect">
            <a:avLst>
              <a:gd name="adj" fmla="val 3922"/>
            </a:avLst>
          </a:prstGeom>
          <a:solidFill>
            <a:srgbClr val="A9CBD8">
              <a:alpha val="24999"/>
            </a:srgbClr>
          </a:solidFill>
          <a:ln w="9525">
            <a:solidFill>
              <a:srgbClr val="FFFFFF">
                <a:alpha val="35000"/>
              </a:srgbClr>
            </a:solidFill>
            <a:prstDash val="solid"/>
          </a:ln>
        </p:spPr>
        <p:txBody>
          <a:bodyPr anchor="ctr"/>
          <a:p>
            <a:pPr algn="ctr">
              <a:defRPr/>
            </a:pPr>
            <a:endParaRPr>
              <a:solidFill>
                <a:schemeClr val="tx1"/>
              </a:solidFill>
            </a:endParaRPr>
          </a:p>
        </p:txBody>
      </p:sp>
      <p:pic>
        <p:nvPicPr>
          <p:cNvPr id="1169455187" name="Image 7" descr="preencoded.png"/>
          <p:cNvPicPr>
            <a:picLocks noChangeAspect="1"/>
          </p:cNvPicPr>
          <p:nvPr/>
        </p:nvPicPr>
        <p:blipFill rotWithShape="1">
          <a:blip r:embed="rId9"/>
          <a:stretch/>
        </p:blipFill>
        <p:spPr bwMode="auto">
          <a:xfrm>
            <a:off x="9843516" y="2826761"/>
            <a:ext cx="640080" cy="640080"/>
          </a:xfrm>
          <a:prstGeom prst="rect">
            <a:avLst/>
          </a:prstGeom>
        </p:spPr>
      </p:pic>
      <p:sp>
        <p:nvSpPr>
          <p:cNvPr id="597959513" name="Text 13"/>
          <p:cNvSpPr/>
          <p:nvPr/>
        </p:nvSpPr>
        <p:spPr bwMode="auto">
          <a:xfrm>
            <a:off x="9089136" y="3604001"/>
            <a:ext cx="2148840" cy="320040"/>
          </a:xfrm>
          <a:prstGeom prst="rect">
            <a:avLst/>
          </a:prstGeom>
          <a:noFill/>
          <a:ln/>
        </p:spPr>
        <p:txBody>
          <a:bodyPr wrap="square" lIns="0" tIns="0" rIns="0" bIns="0" rtlCol="0" anchor="ctr"/>
          <a:lstStyle/>
          <a:p>
            <a:pPr marL="0" indent="0" algn="ctr">
              <a:buNone/>
              <a:defRPr/>
            </a:pPr>
            <a:r>
              <a:rPr lang="en-US" sz="1400" b="1">
                <a:solidFill>
                  <a:schemeClr val="tx1"/>
                </a:solidFill>
                <a:latin typeface="Arial"/>
                <a:ea typeface="Arial"/>
                <a:cs typeface="Arial"/>
              </a:rPr>
              <a:t>4. Silent Retry</a:t>
            </a:r>
            <a:endParaRPr sz="1400">
              <a:solidFill>
                <a:schemeClr val="tx1"/>
              </a:solidFill>
            </a:endParaRPr>
          </a:p>
        </p:txBody>
      </p:sp>
      <p:sp>
        <p:nvSpPr>
          <p:cNvPr id="1127967146" name="Text 14"/>
          <p:cNvSpPr/>
          <p:nvPr/>
        </p:nvSpPr>
        <p:spPr bwMode="auto">
          <a:xfrm>
            <a:off x="9089136" y="3969761"/>
            <a:ext cx="2148840" cy="822960"/>
          </a:xfrm>
          <a:prstGeom prst="rect">
            <a:avLst/>
          </a:prstGeom>
          <a:noFill/>
          <a:ln/>
        </p:spPr>
        <p:txBody>
          <a:bodyPr wrap="square" lIns="0" tIns="0" rIns="0" bIns="0" rtlCol="0" anchor="t"/>
          <a:lstStyle/>
          <a:p>
            <a:pPr marL="0" indent="0" algn="ctr">
              <a:buNone/>
              <a:defRPr/>
            </a:pPr>
            <a:r>
              <a:rPr lang="en-US" sz="1050">
                <a:solidFill>
                  <a:schemeClr val="tx1"/>
                </a:solidFill>
                <a:latin typeface="Calibri"/>
                <a:ea typeface="Calibri"/>
                <a:cs typeface="Calibri"/>
              </a:rPr>
              <a:t>Token refreshes &amp; rotates; request retries automatically.</a:t>
            </a:r>
            <a:endParaRPr sz="1050">
              <a:solidFill>
                <a:schemeClr val="tx1"/>
              </a:solidFill>
            </a:endParaRPr>
          </a:p>
        </p:txBody>
      </p:sp>
      <p:sp>
        <p:nvSpPr>
          <p:cNvPr id="1639703325" name="Text 17"/>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chemeClr val="tx1"/>
                </a:solidFill>
                <a:latin typeface="Calibri"/>
                <a:ea typeface="Calibri"/>
                <a:cs typeface="Calibri"/>
              </a:rPr>
              <a:t>MarkIt  ·  Authentication Flow</a:t>
            </a:r>
            <a:endParaRPr sz="900">
              <a:solidFill>
                <a:schemeClr val="tx1"/>
              </a:solidFill>
            </a:endParaRPr>
          </a:p>
        </p:txBody>
      </p:sp>
      <p:sp>
        <p:nvSpPr>
          <p:cNvPr id="1912683294" name="Text 18"/>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chemeClr val="tx1"/>
                </a:solidFill>
                <a:latin typeface="Calibri"/>
                <a:ea typeface="Calibri"/>
                <a:cs typeface="Calibri"/>
              </a:rPr>
              <a:t>7</a:t>
            </a:r>
            <a:endParaRPr sz="900">
              <a:solidFill>
                <a:schemeClr val="tx1"/>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FFFFF"/>
        </a:solidFill>
      </p:bgPr>
    </p:bg>
    <p:spTree>
      <p:nvGrpSpPr>
        <p:cNvPr id="1" name=""/>
        <p:cNvGrpSpPr/>
        <p:nvPr/>
      </p:nvGrpSpPr>
      <p:grpSpPr bwMode="auto">
        <a:xfrm>
          <a:off x="0" y="0"/>
          <a:ext cx="0" cy="0"/>
          <a:chOff x="0" y="0"/>
          <a:chExt cx="0" cy="0"/>
        </a:xfrm>
      </p:grpSpPr>
      <p:sp>
        <p:nvSpPr>
          <p:cNvPr id="418940232"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DEFENSE IN DEPTH</a:t>
            </a:r>
            <a:endParaRPr lang="en-US" sz="1200"/>
          </a:p>
        </p:txBody>
      </p:sp>
      <p:sp>
        <p:nvSpPr>
          <p:cNvPr id="995827798"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Security Features</a:t>
            </a:r>
            <a:endParaRPr lang="en-US" sz="3400"/>
          </a:p>
        </p:txBody>
      </p:sp>
      <p:sp>
        <p:nvSpPr>
          <p:cNvPr id="1922198722"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Nine layers of protection, built in from the ground up</a:t>
            </a:r>
            <a:endParaRPr lang="en-US" sz="1500"/>
          </a:p>
        </p:txBody>
      </p:sp>
      <p:sp>
        <p:nvSpPr>
          <p:cNvPr id="769053854" name="Shape 3"/>
          <p:cNvSpPr/>
          <p:nvPr/>
        </p:nvSpPr>
        <p:spPr bwMode="auto">
          <a:xfrm>
            <a:off x="548640" y="1938528"/>
            <a:ext cx="3520440" cy="1298448"/>
          </a:xfrm>
          <a:prstGeom prst="roundRect">
            <a:avLst>
              <a:gd name="adj" fmla="val 6338"/>
            </a:avLst>
          </a:prstGeom>
          <a:solidFill>
            <a:srgbClr val="EEF2FF"/>
          </a:solidFill>
          <a:ln/>
        </p:spPr>
      </p:sp>
      <p:pic>
        <p:nvPicPr>
          <p:cNvPr id="808999849" name="Image 0" descr="preencoded.png"/>
          <p:cNvPicPr>
            <a:picLocks noChangeAspect="1"/>
          </p:cNvPicPr>
          <p:nvPr/>
        </p:nvPicPr>
        <p:blipFill rotWithShape="1">
          <a:blip r:embed="rId3"/>
          <a:stretch/>
        </p:blipFill>
        <p:spPr bwMode="auto">
          <a:xfrm>
            <a:off x="749808" y="2340928"/>
            <a:ext cx="502920" cy="502920"/>
          </a:xfrm>
          <a:prstGeom prst="rect">
            <a:avLst/>
          </a:prstGeom>
        </p:spPr>
      </p:pic>
      <p:sp>
        <p:nvSpPr>
          <p:cNvPr id="2047207009" name="Text 4"/>
          <p:cNvSpPr/>
          <p:nvPr/>
        </p:nvSpPr>
        <p:spPr bwMode="auto">
          <a:xfrm>
            <a:off x="1371600" y="2304351"/>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Bcrypt Hashing</a:t>
            </a:r>
            <a:endParaRPr lang="en-US" sz="1250"/>
          </a:p>
        </p:txBody>
      </p:sp>
      <p:sp>
        <p:nvSpPr>
          <p:cNvPr id="396602838" name="Text 5"/>
          <p:cNvSpPr/>
          <p:nvPr/>
        </p:nvSpPr>
        <p:spPr bwMode="auto">
          <a:xfrm flipH="0" flipV="0">
            <a:off x="1371600" y="2642680"/>
            <a:ext cx="2514599" cy="281896"/>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Cost factor 12 — never stored in plain text</a:t>
            </a:r>
            <a:endParaRPr lang="en-US" sz="1000"/>
          </a:p>
        </p:txBody>
      </p:sp>
      <p:sp>
        <p:nvSpPr>
          <p:cNvPr id="446453171" name="Shape 6"/>
          <p:cNvSpPr/>
          <p:nvPr/>
        </p:nvSpPr>
        <p:spPr bwMode="auto">
          <a:xfrm>
            <a:off x="4343400" y="1938528"/>
            <a:ext cx="3520440" cy="1298448"/>
          </a:xfrm>
          <a:prstGeom prst="roundRect">
            <a:avLst>
              <a:gd name="adj" fmla="val 6338"/>
            </a:avLst>
          </a:prstGeom>
          <a:solidFill>
            <a:srgbClr val="EEF2FF"/>
          </a:solidFill>
          <a:ln/>
        </p:spPr>
      </p:sp>
      <p:pic>
        <p:nvPicPr>
          <p:cNvPr id="981944591" name="Image 1" descr="preencoded.png"/>
          <p:cNvPicPr>
            <a:picLocks noChangeAspect="1"/>
          </p:cNvPicPr>
          <p:nvPr/>
        </p:nvPicPr>
        <p:blipFill rotWithShape="1">
          <a:blip r:embed="rId4"/>
          <a:stretch/>
        </p:blipFill>
        <p:spPr bwMode="auto">
          <a:xfrm>
            <a:off x="4544568" y="2340928"/>
            <a:ext cx="502920" cy="502920"/>
          </a:xfrm>
          <a:prstGeom prst="rect">
            <a:avLst/>
          </a:prstGeom>
        </p:spPr>
      </p:pic>
      <p:sp>
        <p:nvSpPr>
          <p:cNvPr id="1219326016" name="Text 7"/>
          <p:cNvSpPr/>
          <p:nvPr/>
        </p:nvSpPr>
        <p:spPr bwMode="auto">
          <a:xfrm>
            <a:off x="5166360" y="2304351"/>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httpOnly Cookies</a:t>
            </a:r>
            <a:endParaRPr lang="en-US" sz="1250"/>
          </a:p>
        </p:txBody>
      </p:sp>
      <p:sp>
        <p:nvSpPr>
          <p:cNvPr id="98706028" name="Text 8"/>
          <p:cNvSpPr/>
          <p:nvPr/>
        </p:nvSpPr>
        <p:spPr bwMode="auto">
          <a:xfrm>
            <a:off x="5166360" y="2642680"/>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SameSite, immune to JS/XSS token theft</a:t>
            </a:r>
            <a:endParaRPr lang="en-US" sz="1000"/>
          </a:p>
        </p:txBody>
      </p:sp>
      <p:sp>
        <p:nvSpPr>
          <p:cNvPr id="527058131" name="Shape 9"/>
          <p:cNvSpPr/>
          <p:nvPr/>
        </p:nvSpPr>
        <p:spPr bwMode="auto">
          <a:xfrm>
            <a:off x="8138160" y="1938528"/>
            <a:ext cx="3520440" cy="1298448"/>
          </a:xfrm>
          <a:prstGeom prst="roundRect">
            <a:avLst>
              <a:gd name="adj" fmla="val 6338"/>
            </a:avLst>
          </a:prstGeom>
          <a:solidFill>
            <a:srgbClr val="EEF2FF"/>
          </a:solidFill>
          <a:ln/>
        </p:spPr>
      </p:sp>
      <p:pic>
        <p:nvPicPr>
          <p:cNvPr id="1775564636" name="Image 2" descr="preencoded.png"/>
          <p:cNvPicPr>
            <a:picLocks noChangeAspect="1"/>
          </p:cNvPicPr>
          <p:nvPr/>
        </p:nvPicPr>
        <p:blipFill rotWithShape="1">
          <a:blip r:embed="rId5"/>
          <a:stretch/>
        </p:blipFill>
        <p:spPr bwMode="auto">
          <a:xfrm>
            <a:off x="8339328" y="2340928"/>
            <a:ext cx="502920" cy="502920"/>
          </a:xfrm>
          <a:prstGeom prst="rect">
            <a:avLst/>
          </a:prstGeom>
        </p:spPr>
      </p:pic>
      <p:sp>
        <p:nvSpPr>
          <p:cNvPr id="823322379" name="Text 10"/>
          <p:cNvSpPr/>
          <p:nvPr/>
        </p:nvSpPr>
        <p:spPr bwMode="auto">
          <a:xfrm>
            <a:off x="8961120" y="2304351"/>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Token Rotation</a:t>
            </a:r>
            <a:endParaRPr lang="en-US" sz="1250"/>
          </a:p>
        </p:txBody>
      </p:sp>
      <p:sp>
        <p:nvSpPr>
          <p:cNvPr id="446396338" name="Text 11"/>
          <p:cNvSpPr/>
          <p:nvPr/>
        </p:nvSpPr>
        <p:spPr bwMode="auto">
          <a:xfrm>
            <a:off x="8961120" y="2642680"/>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Refresh tokens rotate with reuse detection</a:t>
            </a:r>
            <a:endParaRPr lang="en-US" sz="1000"/>
          </a:p>
        </p:txBody>
      </p:sp>
      <p:sp>
        <p:nvSpPr>
          <p:cNvPr id="1399196336" name="Shape 12"/>
          <p:cNvSpPr/>
          <p:nvPr/>
        </p:nvSpPr>
        <p:spPr bwMode="auto">
          <a:xfrm>
            <a:off x="548640" y="3438144"/>
            <a:ext cx="3520440" cy="1298448"/>
          </a:xfrm>
          <a:prstGeom prst="roundRect">
            <a:avLst>
              <a:gd name="adj" fmla="val 6338"/>
            </a:avLst>
          </a:prstGeom>
          <a:solidFill>
            <a:srgbClr val="EEF2FF"/>
          </a:solidFill>
          <a:ln/>
        </p:spPr>
      </p:sp>
      <p:pic>
        <p:nvPicPr>
          <p:cNvPr id="746934330" name="Image 3" descr="preencoded.png"/>
          <p:cNvPicPr>
            <a:picLocks noChangeAspect="1"/>
          </p:cNvPicPr>
          <p:nvPr/>
        </p:nvPicPr>
        <p:blipFill rotWithShape="1">
          <a:blip r:embed="rId6"/>
          <a:stretch/>
        </p:blipFill>
        <p:spPr bwMode="auto">
          <a:xfrm>
            <a:off x="749808" y="3840544"/>
            <a:ext cx="502920" cy="502920"/>
          </a:xfrm>
          <a:prstGeom prst="rect">
            <a:avLst/>
          </a:prstGeom>
        </p:spPr>
      </p:pic>
      <p:sp>
        <p:nvSpPr>
          <p:cNvPr id="122741383" name="Text 13"/>
          <p:cNvSpPr/>
          <p:nvPr/>
        </p:nvSpPr>
        <p:spPr bwMode="auto">
          <a:xfrm>
            <a:off x="1371600" y="3803968"/>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Brute-Force Lockout</a:t>
            </a:r>
            <a:endParaRPr lang="en-US" sz="1250"/>
          </a:p>
        </p:txBody>
      </p:sp>
      <p:sp>
        <p:nvSpPr>
          <p:cNvPr id="1070686316" name="Text 14"/>
          <p:cNvSpPr/>
          <p:nvPr/>
        </p:nvSpPr>
        <p:spPr bwMode="auto">
          <a:xfrm>
            <a:off x="1371600" y="4142296"/>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15-min lock after 5 failed attempts</a:t>
            </a:r>
            <a:endParaRPr lang="en-US" sz="1000"/>
          </a:p>
        </p:txBody>
      </p:sp>
      <p:sp>
        <p:nvSpPr>
          <p:cNvPr id="387312840" name="Shape 15"/>
          <p:cNvSpPr/>
          <p:nvPr/>
        </p:nvSpPr>
        <p:spPr bwMode="auto">
          <a:xfrm>
            <a:off x="4343400" y="3438144"/>
            <a:ext cx="3520440" cy="1298448"/>
          </a:xfrm>
          <a:prstGeom prst="roundRect">
            <a:avLst>
              <a:gd name="adj" fmla="val 6338"/>
            </a:avLst>
          </a:prstGeom>
          <a:solidFill>
            <a:srgbClr val="EEF2FF"/>
          </a:solidFill>
          <a:ln/>
        </p:spPr>
      </p:sp>
      <p:pic>
        <p:nvPicPr>
          <p:cNvPr id="1262575281" name="Image 4" descr="preencoded.png"/>
          <p:cNvPicPr>
            <a:picLocks noChangeAspect="1"/>
          </p:cNvPicPr>
          <p:nvPr/>
        </p:nvPicPr>
        <p:blipFill rotWithShape="1">
          <a:blip r:embed="rId7"/>
          <a:stretch/>
        </p:blipFill>
        <p:spPr bwMode="auto">
          <a:xfrm>
            <a:off x="4544568" y="3840544"/>
            <a:ext cx="502920" cy="502920"/>
          </a:xfrm>
          <a:prstGeom prst="rect">
            <a:avLst/>
          </a:prstGeom>
        </p:spPr>
      </p:pic>
      <p:sp>
        <p:nvSpPr>
          <p:cNvPr id="1914197402" name="Text 16"/>
          <p:cNvSpPr/>
          <p:nvPr/>
        </p:nvSpPr>
        <p:spPr bwMode="auto">
          <a:xfrm>
            <a:off x="5166360" y="3803968"/>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Rate Limiting</a:t>
            </a:r>
            <a:endParaRPr lang="en-US" sz="1250"/>
          </a:p>
        </p:txBody>
      </p:sp>
      <p:sp>
        <p:nvSpPr>
          <p:cNvPr id="428277372" name="Text 17"/>
          <p:cNvSpPr/>
          <p:nvPr/>
        </p:nvSpPr>
        <p:spPr bwMode="auto">
          <a:xfrm>
            <a:off x="5166360" y="4142296"/>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Middleware applied on all API routes</a:t>
            </a:r>
            <a:endParaRPr lang="en-US" sz="1000"/>
          </a:p>
        </p:txBody>
      </p:sp>
      <p:sp>
        <p:nvSpPr>
          <p:cNvPr id="323826770" name="Shape 18"/>
          <p:cNvSpPr/>
          <p:nvPr/>
        </p:nvSpPr>
        <p:spPr bwMode="auto">
          <a:xfrm>
            <a:off x="8138160" y="3438144"/>
            <a:ext cx="3520440" cy="1298448"/>
          </a:xfrm>
          <a:prstGeom prst="roundRect">
            <a:avLst>
              <a:gd name="adj" fmla="val 6338"/>
            </a:avLst>
          </a:prstGeom>
          <a:solidFill>
            <a:srgbClr val="EEF2FF"/>
          </a:solidFill>
          <a:ln/>
        </p:spPr>
      </p:sp>
      <p:pic>
        <p:nvPicPr>
          <p:cNvPr id="596818938" name="Image 5" descr="preencoded.png"/>
          <p:cNvPicPr>
            <a:picLocks noChangeAspect="1"/>
          </p:cNvPicPr>
          <p:nvPr/>
        </p:nvPicPr>
        <p:blipFill rotWithShape="1">
          <a:blip r:embed="rId8"/>
          <a:stretch/>
        </p:blipFill>
        <p:spPr bwMode="auto">
          <a:xfrm>
            <a:off x="8339328" y="3840544"/>
            <a:ext cx="502920" cy="502920"/>
          </a:xfrm>
          <a:prstGeom prst="rect">
            <a:avLst/>
          </a:prstGeom>
        </p:spPr>
      </p:pic>
      <p:sp>
        <p:nvSpPr>
          <p:cNvPr id="19641461" name="Text 19"/>
          <p:cNvSpPr/>
          <p:nvPr/>
        </p:nvSpPr>
        <p:spPr bwMode="auto">
          <a:xfrm>
            <a:off x="8961120" y="3803968"/>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Helmet + CORS</a:t>
            </a:r>
            <a:endParaRPr lang="en-US" sz="1250"/>
          </a:p>
        </p:txBody>
      </p:sp>
      <p:sp>
        <p:nvSpPr>
          <p:cNvPr id="1394242724" name="Text 20"/>
          <p:cNvSpPr/>
          <p:nvPr/>
        </p:nvSpPr>
        <p:spPr bwMode="auto">
          <a:xfrm>
            <a:off x="8961120" y="4142296"/>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Security headers, trusted origins only</a:t>
            </a:r>
            <a:endParaRPr lang="en-US" sz="1000"/>
          </a:p>
        </p:txBody>
      </p:sp>
      <p:sp>
        <p:nvSpPr>
          <p:cNvPr id="1888662110" name="Shape 21"/>
          <p:cNvSpPr/>
          <p:nvPr/>
        </p:nvSpPr>
        <p:spPr bwMode="auto">
          <a:xfrm>
            <a:off x="548640" y="4937760"/>
            <a:ext cx="3520440" cy="1298448"/>
          </a:xfrm>
          <a:prstGeom prst="roundRect">
            <a:avLst>
              <a:gd name="adj" fmla="val 6338"/>
            </a:avLst>
          </a:prstGeom>
          <a:solidFill>
            <a:srgbClr val="EEF2FF"/>
          </a:solidFill>
          <a:ln/>
        </p:spPr>
      </p:sp>
      <p:pic>
        <p:nvPicPr>
          <p:cNvPr id="32456712" name="Image 6" descr="preencoded.png"/>
          <p:cNvPicPr>
            <a:picLocks noChangeAspect="1"/>
          </p:cNvPicPr>
          <p:nvPr/>
        </p:nvPicPr>
        <p:blipFill rotWithShape="1">
          <a:blip r:embed="rId9"/>
          <a:stretch/>
        </p:blipFill>
        <p:spPr bwMode="auto">
          <a:xfrm>
            <a:off x="749808" y="5340160"/>
            <a:ext cx="502920" cy="502920"/>
          </a:xfrm>
          <a:prstGeom prst="rect">
            <a:avLst/>
          </a:prstGeom>
        </p:spPr>
      </p:pic>
      <p:sp>
        <p:nvSpPr>
          <p:cNvPr id="935408111" name="Text 22"/>
          <p:cNvSpPr/>
          <p:nvPr/>
        </p:nvSpPr>
        <p:spPr bwMode="auto">
          <a:xfrm>
            <a:off x="1371600" y="5303584"/>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Input Sanitization</a:t>
            </a:r>
            <a:endParaRPr lang="en-US" sz="1250"/>
          </a:p>
        </p:txBody>
      </p:sp>
      <p:sp>
        <p:nvSpPr>
          <p:cNvPr id="685073400" name="Text 23"/>
          <p:cNvSpPr/>
          <p:nvPr/>
        </p:nvSpPr>
        <p:spPr bwMode="auto">
          <a:xfrm>
            <a:off x="1371600" y="5641912"/>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Validation, NoSQL injection &amp; HPP protection</a:t>
            </a:r>
            <a:endParaRPr lang="en-US" sz="1000"/>
          </a:p>
        </p:txBody>
      </p:sp>
      <p:sp>
        <p:nvSpPr>
          <p:cNvPr id="220321909" name="Shape 24"/>
          <p:cNvSpPr/>
          <p:nvPr/>
        </p:nvSpPr>
        <p:spPr bwMode="auto">
          <a:xfrm>
            <a:off x="4343400" y="4937760"/>
            <a:ext cx="3520440" cy="1298448"/>
          </a:xfrm>
          <a:prstGeom prst="roundRect">
            <a:avLst>
              <a:gd name="adj" fmla="val 6338"/>
            </a:avLst>
          </a:prstGeom>
          <a:solidFill>
            <a:srgbClr val="EEF2FF"/>
          </a:solidFill>
          <a:ln/>
        </p:spPr>
      </p:sp>
      <p:pic>
        <p:nvPicPr>
          <p:cNvPr id="1777566463" name="Image 7" descr="preencoded.png"/>
          <p:cNvPicPr>
            <a:picLocks noChangeAspect="1"/>
          </p:cNvPicPr>
          <p:nvPr/>
        </p:nvPicPr>
        <p:blipFill rotWithShape="1">
          <a:blip r:embed="rId10"/>
          <a:stretch/>
        </p:blipFill>
        <p:spPr bwMode="auto">
          <a:xfrm>
            <a:off x="4544568" y="5340160"/>
            <a:ext cx="502920" cy="502920"/>
          </a:xfrm>
          <a:prstGeom prst="rect">
            <a:avLst/>
          </a:prstGeom>
        </p:spPr>
      </p:pic>
      <p:sp>
        <p:nvSpPr>
          <p:cNvPr id="1742140945" name="Text 25"/>
          <p:cNvSpPr/>
          <p:nvPr/>
        </p:nvSpPr>
        <p:spPr bwMode="auto">
          <a:xfrm>
            <a:off x="5166360" y="5303584"/>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Role-Based Access</a:t>
            </a:r>
            <a:endParaRPr lang="en-US" sz="1250"/>
          </a:p>
        </p:txBody>
      </p:sp>
      <p:sp>
        <p:nvSpPr>
          <p:cNvPr id="254856587" name="Text 26"/>
          <p:cNvSpPr/>
          <p:nvPr/>
        </p:nvSpPr>
        <p:spPr bwMode="auto">
          <a:xfrm>
            <a:off x="5166360" y="5641912"/>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Admin vs teacher enforced at route level</a:t>
            </a:r>
            <a:endParaRPr lang="en-US" sz="1000"/>
          </a:p>
        </p:txBody>
      </p:sp>
      <p:sp>
        <p:nvSpPr>
          <p:cNvPr id="701855803" name="Shape 27"/>
          <p:cNvSpPr/>
          <p:nvPr/>
        </p:nvSpPr>
        <p:spPr bwMode="auto">
          <a:xfrm>
            <a:off x="8138160" y="4937760"/>
            <a:ext cx="3520440" cy="1298448"/>
          </a:xfrm>
          <a:prstGeom prst="roundRect">
            <a:avLst>
              <a:gd name="adj" fmla="val 6338"/>
            </a:avLst>
          </a:prstGeom>
          <a:solidFill>
            <a:srgbClr val="EEF2FF"/>
          </a:solidFill>
          <a:ln/>
        </p:spPr>
      </p:sp>
      <p:pic>
        <p:nvPicPr>
          <p:cNvPr id="344338569" name="Image 8" descr="preencoded.png"/>
          <p:cNvPicPr>
            <a:picLocks noChangeAspect="1"/>
          </p:cNvPicPr>
          <p:nvPr/>
        </p:nvPicPr>
        <p:blipFill rotWithShape="1">
          <a:blip r:embed="rId11"/>
          <a:stretch/>
        </p:blipFill>
        <p:spPr bwMode="auto">
          <a:xfrm>
            <a:off x="8339328" y="5340160"/>
            <a:ext cx="502920" cy="502920"/>
          </a:xfrm>
          <a:prstGeom prst="rect">
            <a:avLst/>
          </a:prstGeom>
        </p:spPr>
      </p:pic>
      <p:sp>
        <p:nvSpPr>
          <p:cNvPr id="1567253487" name="Text 28"/>
          <p:cNvSpPr/>
          <p:nvPr/>
        </p:nvSpPr>
        <p:spPr bwMode="auto">
          <a:xfrm>
            <a:off x="8961120" y="5303584"/>
            <a:ext cx="2514600" cy="310896"/>
          </a:xfrm>
          <a:prstGeom prst="rect">
            <a:avLst/>
          </a:prstGeom>
          <a:noFill/>
          <a:ln/>
        </p:spPr>
        <p:txBody>
          <a:bodyPr wrap="square" lIns="0" tIns="0" rIns="0" bIns="0" rtlCol="0" anchor="ctr"/>
          <a:lstStyle/>
          <a:p>
            <a:pPr marL="0" indent="0">
              <a:buNone/>
              <a:defRPr/>
            </a:pPr>
            <a:r>
              <a:rPr lang="en-US" sz="1250" b="1">
                <a:solidFill>
                  <a:srgbClr val="0F172A"/>
                </a:solidFill>
                <a:latin typeface="Arial"/>
                <a:ea typeface="Arial"/>
                <a:cs typeface="Arial"/>
              </a:rPr>
              <a:t>Validated Uploads</a:t>
            </a:r>
            <a:endParaRPr lang="en-US" sz="1250"/>
          </a:p>
        </p:txBody>
      </p:sp>
      <p:sp>
        <p:nvSpPr>
          <p:cNvPr id="79911592" name="Text 29"/>
          <p:cNvSpPr/>
          <p:nvPr/>
        </p:nvSpPr>
        <p:spPr bwMode="auto">
          <a:xfrm>
            <a:off x="8961120" y="5641912"/>
            <a:ext cx="2514600" cy="685800"/>
          </a:xfrm>
          <a:prstGeom prst="rect">
            <a:avLst/>
          </a:prstGeom>
          <a:noFill/>
          <a:ln/>
        </p:spPr>
        <p:txBody>
          <a:bodyPr wrap="square" lIns="0" tIns="0" rIns="0" bIns="0" rtlCol="0" anchor="t"/>
          <a:lstStyle/>
          <a:p>
            <a:pPr marL="0" indent="0">
              <a:buNone/>
              <a:defRPr/>
            </a:pPr>
            <a:r>
              <a:rPr lang="en-US" sz="1000">
                <a:solidFill>
                  <a:srgbClr val="475569"/>
                </a:solidFill>
                <a:latin typeface="Calibri"/>
                <a:ea typeface="Calibri"/>
                <a:cs typeface="Calibri"/>
              </a:rPr>
              <a:t>Profile images checked, sized &amp; compressed</a:t>
            </a:r>
            <a:endParaRPr lang="en-US" sz="1000"/>
          </a:p>
        </p:txBody>
      </p:sp>
      <p:sp>
        <p:nvSpPr>
          <p:cNvPr id="787974724" name="Text 30"/>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Security Features</a:t>
            </a:r>
            <a:endParaRPr lang="en-US" sz="900"/>
          </a:p>
        </p:txBody>
      </p:sp>
      <p:sp>
        <p:nvSpPr>
          <p:cNvPr id="1826042092" name="Text 31"/>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8</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FFFFF"/>
        </a:solidFill>
      </p:bgPr>
    </p:bg>
    <p:spTree>
      <p:nvGrpSpPr>
        <p:cNvPr id="1" name=""/>
        <p:cNvGrpSpPr/>
        <p:nvPr/>
      </p:nvGrpSpPr>
      <p:grpSpPr bwMode="auto">
        <a:xfrm>
          <a:off x="0" y="0"/>
          <a:ext cx="0" cy="0"/>
          <a:chOff x="0" y="0"/>
          <a:chExt cx="0" cy="0"/>
        </a:xfrm>
      </p:grpSpPr>
      <p:sp>
        <p:nvSpPr>
          <p:cNvPr id="622854892"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CORE FEATURE</a:t>
            </a:r>
            <a:endParaRPr lang="en-US" sz="1200"/>
          </a:p>
        </p:txBody>
      </p:sp>
      <p:sp>
        <p:nvSpPr>
          <p:cNvPr id="2140740066"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Student Roster Management</a:t>
            </a:r>
            <a:endParaRPr lang="en-US" sz="3400"/>
          </a:p>
        </p:txBody>
      </p:sp>
      <p:sp>
        <p:nvSpPr>
          <p:cNvPr id="1244641212"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Enroll, organize, and maintain the official student record</a:t>
            </a:r>
            <a:endParaRPr lang="en-US" sz="1500"/>
          </a:p>
        </p:txBody>
      </p:sp>
      <p:sp>
        <p:nvSpPr>
          <p:cNvPr id="1409925963" name="Shape 3"/>
          <p:cNvSpPr/>
          <p:nvPr/>
        </p:nvSpPr>
        <p:spPr bwMode="auto">
          <a:xfrm>
            <a:off x="548640" y="2061209"/>
            <a:ext cx="5074920" cy="1783080"/>
          </a:xfrm>
          <a:prstGeom prst="roundRect">
            <a:avLst>
              <a:gd name="adj" fmla="val 5128"/>
            </a:avLst>
          </a:prstGeom>
          <a:solidFill>
            <a:srgbClr val="F8FAFC"/>
          </a:solidFill>
          <a:ln w="12700">
            <a:solidFill>
              <a:srgbClr val="E2E8F0"/>
            </a:solidFill>
            <a:prstDash val="solid"/>
          </a:ln>
        </p:spPr>
      </p:sp>
      <p:pic>
        <p:nvPicPr>
          <p:cNvPr id="352102322" name="Image 0" descr="preencoded.png"/>
          <p:cNvPicPr>
            <a:picLocks noChangeAspect="1"/>
          </p:cNvPicPr>
          <p:nvPr/>
        </p:nvPicPr>
        <p:blipFill rotWithShape="1">
          <a:blip r:embed="rId3"/>
          <a:stretch/>
        </p:blipFill>
        <p:spPr bwMode="auto">
          <a:xfrm>
            <a:off x="822960" y="2621279"/>
            <a:ext cx="621792" cy="621792"/>
          </a:xfrm>
          <a:prstGeom prst="rect">
            <a:avLst/>
          </a:prstGeom>
        </p:spPr>
      </p:pic>
      <p:sp>
        <p:nvSpPr>
          <p:cNvPr id="668537240" name="Text 4"/>
          <p:cNvSpPr/>
          <p:nvPr/>
        </p:nvSpPr>
        <p:spPr bwMode="auto">
          <a:xfrm>
            <a:off x="1645920" y="2602990"/>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Flexible Enrollment</a:t>
            </a:r>
            <a:endParaRPr lang="en-US" sz="1600"/>
          </a:p>
        </p:txBody>
      </p:sp>
      <p:sp>
        <p:nvSpPr>
          <p:cNvPr id="1207540970" name="Text 5"/>
          <p:cNvSpPr/>
          <p:nvPr/>
        </p:nvSpPr>
        <p:spPr bwMode="auto">
          <a:xfrm>
            <a:off x="1645920" y="3005327"/>
            <a:ext cx="3703320" cy="100584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Add students one at a time, or bulk-import up to 500 at once from a spreadsheet.</a:t>
            </a:r>
            <a:endParaRPr lang="en-US" sz="1200"/>
          </a:p>
        </p:txBody>
      </p:sp>
      <p:sp>
        <p:nvSpPr>
          <p:cNvPr id="2033276191" name="Shape 6"/>
          <p:cNvSpPr/>
          <p:nvPr/>
        </p:nvSpPr>
        <p:spPr bwMode="auto">
          <a:xfrm>
            <a:off x="5989320" y="2061209"/>
            <a:ext cx="5074920" cy="1783080"/>
          </a:xfrm>
          <a:prstGeom prst="roundRect">
            <a:avLst>
              <a:gd name="adj" fmla="val 5128"/>
            </a:avLst>
          </a:prstGeom>
          <a:solidFill>
            <a:srgbClr val="F8FAFC"/>
          </a:solidFill>
          <a:ln w="12700">
            <a:solidFill>
              <a:srgbClr val="E2E8F0"/>
            </a:solidFill>
            <a:prstDash val="solid"/>
          </a:ln>
        </p:spPr>
      </p:sp>
      <p:pic>
        <p:nvPicPr>
          <p:cNvPr id="1154701255" name="Image 1" descr="preencoded.png"/>
          <p:cNvPicPr>
            <a:picLocks noChangeAspect="1"/>
          </p:cNvPicPr>
          <p:nvPr/>
        </p:nvPicPr>
        <p:blipFill rotWithShape="1">
          <a:blip r:embed="rId4"/>
          <a:stretch/>
        </p:blipFill>
        <p:spPr bwMode="auto">
          <a:xfrm>
            <a:off x="6263640" y="2621279"/>
            <a:ext cx="621792" cy="621792"/>
          </a:xfrm>
          <a:prstGeom prst="rect">
            <a:avLst/>
          </a:prstGeom>
        </p:spPr>
      </p:pic>
      <p:sp>
        <p:nvSpPr>
          <p:cNvPr id="1691739144" name="Text 7"/>
          <p:cNvSpPr/>
          <p:nvPr/>
        </p:nvSpPr>
        <p:spPr bwMode="auto">
          <a:xfrm>
            <a:off x="7086600" y="2602990"/>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Instant Search</a:t>
            </a:r>
            <a:endParaRPr lang="en-US" sz="1600"/>
          </a:p>
        </p:txBody>
      </p:sp>
      <p:sp>
        <p:nvSpPr>
          <p:cNvPr id="857924208" name="Text 8"/>
          <p:cNvSpPr/>
          <p:nvPr/>
        </p:nvSpPr>
        <p:spPr bwMode="auto">
          <a:xfrm>
            <a:off x="7086600" y="3005327"/>
            <a:ext cx="3703320" cy="100584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Find any student instantly by name or roll ID.</a:t>
            </a:r>
            <a:endParaRPr lang="en-US" sz="1200"/>
          </a:p>
        </p:txBody>
      </p:sp>
      <p:sp>
        <p:nvSpPr>
          <p:cNvPr id="912687309" name="Shape 9"/>
          <p:cNvSpPr/>
          <p:nvPr/>
        </p:nvSpPr>
        <p:spPr bwMode="auto">
          <a:xfrm>
            <a:off x="548640" y="4164329"/>
            <a:ext cx="5074920" cy="1783080"/>
          </a:xfrm>
          <a:prstGeom prst="roundRect">
            <a:avLst>
              <a:gd name="adj" fmla="val 5128"/>
            </a:avLst>
          </a:prstGeom>
          <a:solidFill>
            <a:srgbClr val="F8FAFC"/>
          </a:solidFill>
          <a:ln w="12700">
            <a:solidFill>
              <a:srgbClr val="E2E8F0"/>
            </a:solidFill>
            <a:prstDash val="solid"/>
          </a:ln>
        </p:spPr>
      </p:sp>
      <p:pic>
        <p:nvPicPr>
          <p:cNvPr id="1620224321" name="Image 2" descr="preencoded.png"/>
          <p:cNvPicPr>
            <a:picLocks noChangeAspect="1"/>
          </p:cNvPicPr>
          <p:nvPr/>
        </p:nvPicPr>
        <p:blipFill rotWithShape="1">
          <a:blip r:embed="rId5"/>
          <a:stretch/>
        </p:blipFill>
        <p:spPr bwMode="auto">
          <a:xfrm>
            <a:off x="822960" y="4724399"/>
            <a:ext cx="621792" cy="621792"/>
          </a:xfrm>
          <a:prstGeom prst="rect">
            <a:avLst/>
          </a:prstGeom>
        </p:spPr>
      </p:pic>
      <p:sp>
        <p:nvSpPr>
          <p:cNvPr id="885267430" name="Text 10"/>
          <p:cNvSpPr/>
          <p:nvPr/>
        </p:nvSpPr>
        <p:spPr bwMode="auto">
          <a:xfrm>
            <a:off x="1645920" y="4706111"/>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Cascading Filters</a:t>
            </a:r>
            <a:endParaRPr lang="en-US" sz="1600"/>
          </a:p>
        </p:txBody>
      </p:sp>
      <p:sp>
        <p:nvSpPr>
          <p:cNvPr id="1939986368" name="Text 11"/>
          <p:cNvSpPr/>
          <p:nvPr/>
        </p:nvSpPr>
        <p:spPr bwMode="auto">
          <a:xfrm>
            <a:off x="1645920" y="5108447"/>
            <a:ext cx="3703320" cy="100584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Narrow the roster by department, then batch, then section.</a:t>
            </a:r>
            <a:endParaRPr lang="en-US" sz="1200"/>
          </a:p>
        </p:txBody>
      </p:sp>
      <p:sp>
        <p:nvSpPr>
          <p:cNvPr id="864807101" name="Shape 12"/>
          <p:cNvSpPr/>
          <p:nvPr/>
        </p:nvSpPr>
        <p:spPr bwMode="auto">
          <a:xfrm>
            <a:off x="5989320" y="4164329"/>
            <a:ext cx="5074920" cy="1783080"/>
          </a:xfrm>
          <a:prstGeom prst="roundRect">
            <a:avLst>
              <a:gd name="adj" fmla="val 5128"/>
            </a:avLst>
          </a:prstGeom>
          <a:solidFill>
            <a:srgbClr val="F8FAFC"/>
          </a:solidFill>
          <a:ln w="12700">
            <a:solidFill>
              <a:srgbClr val="E2E8F0"/>
            </a:solidFill>
            <a:prstDash val="solid"/>
          </a:ln>
        </p:spPr>
      </p:sp>
      <p:pic>
        <p:nvPicPr>
          <p:cNvPr id="714990679" name="Image 3" descr="preencoded.png"/>
          <p:cNvPicPr>
            <a:picLocks noChangeAspect="1"/>
          </p:cNvPicPr>
          <p:nvPr/>
        </p:nvPicPr>
        <p:blipFill rotWithShape="1">
          <a:blip r:embed="rId6"/>
          <a:stretch/>
        </p:blipFill>
        <p:spPr bwMode="auto">
          <a:xfrm>
            <a:off x="6263640" y="4724399"/>
            <a:ext cx="621792" cy="621792"/>
          </a:xfrm>
          <a:prstGeom prst="rect">
            <a:avLst/>
          </a:prstGeom>
        </p:spPr>
      </p:pic>
      <p:sp>
        <p:nvSpPr>
          <p:cNvPr id="2059462802" name="Text 13"/>
          <p:cNvSpPr/>
          <p:nvPr/>
        </p:nvSpPr>
        <p:spPr bwMode="auto">
          <a:xfrm>
            <a:off x="7086600" y="4706111"/>
            <a:ext cx="3703320" cy="365760"/>
          </a:xfrm>
          <a:prstGeom prst="rect">
            <a:avLst/>
          </a:prstGeom>
          <a:noFill/>
          <a:ln/>
        </p:spPr>
        <p:txBody>
          <a:bodyPr wrap="square" lIns="0" tIns="0" rIns="0" bIns="0" rtlCol="0" anchor="ctr"/>
          <a:lstStyle/>
          <a:p>
            <a:pPr marL="0" indent="0">
              <a:buNone/>
              <a:defRPr/>
            </a:pPr>
            <a:r>
              <a:rPr lang="en-US" sz="1600" b="1">
                <a:solidFill>
                  <a:srgbClr val="0F172A"/>
                </a:solidFill>
                <a:latin typeface="Arial"/>
                <a:ea typeface="Arial"/>
                <a:cs typeface="Arial"/>
              </a:rPr>
              <a:t>Safe Editing</a:t>
            </a:r>
            <a:endParaRPr lang="en-US" sz="1600"/>
          </a:p>
        </p:txBody>
      </p:sp>
      <p:sp>
        <p:nvSpPr>
          <p:cNvPr id="67378023" name="Text 14"/>
          <p:cNvSpPr/>
          <p:nvPr/>
        </p:nvSpPr>
        <p:spPr bwMode="auto">
          <a:xfrm>
            <a:off x="7086600" y="5108447"/>
            <a:ext cx="3703320" cy="100584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Edit records or bulk-delete, with confirmation dialogs on every destructive action.</a:t>
            </a:r>
            <a:endParaRPr lang="en-US" sz="1200"/>
          </a:p>
        </p:txBody>
      </p:sp>
      <p:sp>
        <p:nvSpPr>
          <p:cNvPr id="575129056" name="Text 15"/>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Student Roster Management</a:t>
            </a:r>
            <a:endParaRPr lang="en-US" sz="900"/>
          </a:p>
        </p:txBody>
      </p:sp>
      <p:sp>
        <p:nvSpPr>
          <p:cNvPr id="571400676" name="Text 16"/>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9</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FFFFF"/>
        </a:solidFill>
      </p:bgPr>
    </p:bg>
    <p:spTree>
      <p:nvGrpSpPr>
        <p:cNvPr id="1" name=""/>
        <p:cNvGrpSpPr/>
        <p:nvPr/>
      </p:nvGrpSpPr>
      <p:grpSpPr bwMode="auto">
        <a:xfrm>
          <a:off x="0" y="0"/>
          <a:ext cx="0" cy="0"/>
          <a:chOff x="0" y="0"/>
          <a:chExt cx="0" cy="0"/>
        </a:xfrm>
      </p:grpSpPr>
      <p:sp>
        <p:nvSpPr>
          <p:cNvPr id="441520487" name="Text 0"/>
          <p:cNvSpPr/>
          <p:nvPr/>
        </p:nvSpPr>
        <p:spPr bwMode="auto">
          <a:xfrm>
            <a:off x="548640" y="765046"/>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CORE FEATURE</a:t>
            </a:r>
            <a:endParaRPr lang="en-US" sz="1200"/>
          </a:p>
        </p:txBody>
      </p:sp>
      <p:sp>
        <p:nvSpPr>
          <p:cNvPr id="631349035" name="Text 1"/>
          <p:cNvSpPr/>
          <p:nvPr/>
        </p:nvSpPr>
        <p:spPr bwMode="auto">
          <a:xfrm>
            <a:off x="548640" y="1039367"/>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Taking Attendance</a:t>
            </a:r>
            <a:endParaRPr lang="en-US" sz="3400"/>
          </a:p>
        </p:txBody>
      </p:sp>
      <p:sp>
        <p:nvSpPr>
          <p:cNvPr id="1048564005" name="Text 2"/>
          <p:cNvSpPr/>
          <p:nvPr/>
        </p:nvSpPr>
        <p:spPr bwMode="auto">
          <a:xfrm>
            <a:off x="548640" y="1679447"/>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A fast roll-call, with a shortcut for large classes</a:t>
            </a:r>
            <a:endParaRPr lang="en-US" sz="1500"/>
          </a:p>
        </p:txBody>
      </p:sp>
      <p:pic>
        <p:nvPicPr>
          <p:cNvPr id="1774270635" name="Image 0" descr="preencoded.png"/>
          <p:cNvPicPr>
            <a:picLocks noChangeAspect="1"/>
          </p:cNvPicPr>
          <p:nvPr/>
        </p:nvPicPr>
        <p:blipFill rotWithShape="1">
          <a:blip r:embed="rId3"/>
          <a:stretch/>
        </p:blipFill>
        <p:spPr bwMode="auto">
          <a:xfrm>
            <a:off x="548640" y="2960369"/>
            <a:ext cx="566928" cy="566928"/>
          </a:xfrm>
          <a:prstGeom prst="rect">
            <a:avLst/>
          </a:prstGeom>
        </p:spPr>
      </p:pic>
      <p:sp>
        <p:nvSpPr>
          <p:cNvPr id="64775785" name="Text 3"/>
          <p:cNvSpPr/>
          <p:nvPr/>
        </p:nvSpPr>
        <p:spPr bwMode="auto">
          <a:xfrm>
            <a:off x="1280160" y="2932937"/>
            <a:ext cx="420624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One-Tap Toggles</a:t>
            </a:r>
            <a:endParaRPr lang="en-US" sz="1550"/>
          </a:p>
        </p:txBody>
      </p:sp>
      <p:sp>
        <p:nvSpPr>
          <p:cNvPr id="226077951" name="Text 4"/>
          <p:cNvSpPr/>
          <p:nvPr/>
        </p:nvSpPr>
        <p:spPr bwMode="auto">
          <a:xfrm flipH="0" flipV="0">
            <a:off x="1280160" y="3252977"/>
            <a:ext cx="4206240" cy="366521"/>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Mark each student present or absent with a single tap.</a:t>
            </a:r>
            <a:endParaRPr lang="en-US" sz="1200"/>
          </a:p>
        </p:txBody>
      </p:sp>
      <p:pic>
        <p:nvPicPr>
          <p:cNvPr id="946223020" name="Image 1" descr="preencoded.png"/>
          <p:cNvPicPr>
            <a:picLocks noChangeAspect="1"/>
          </p:cNvPicPr>
          <p:nvPr/>
        </p:nvPicPr>
        <p:blipFill rotWithShape="1">
          <a:blip r:embed="rId4"/>
          <a:stretch/>
        </p:blipFill>
        <p:spPr bwMode="auto">
          <a:xfrm>
            <a:off x="548640" y="3901439"/>
            <a:ext cx="566928" cy="566928"/>
          </a:xfrm>
          <a:prstGeom prst="rect">
            <a:avLst/>
          </a:prstGeom>
        </p:spPr>
      </p:pic>
      <p:sp>
        <p:nvSpPr>
          <p:cNvPr id="1803504265" name="Text 5"/>
          <p:cNvSpPr/>
          <p:nvPr/>
        </p:nvSpPr>
        <p:spPr bwMode="auto">
          <a:xfrm>
            <a:off x="1280160" y="3874007"/>
            <a:ext cx="4206240" cy="320040"/>
          </a:xfrm>
          <a:prstGeom prst="rect">
            <a:avLst/>
          </a:prstGeom>
          <a:noFill/>
          <a:ln/>
        </p:spPr>
        <p:txBody>
          <a:bodyPr wrap="square" lIns="0" tIns="0" rIns="0" bIns="0" rtlCol="0" anchor="ctr"/>
          <a:lstStyle/>
          <a:p>
            <a:pPr marL="0" indent="0">
              <a:buNone/>
              <a:defRPr/>
            </a:pPr>
            <a:r>
              <a:rPr lang="en-US" sz="1550" b="1">
                <a:solidFill>
                  <a:srgbClr val="0F172A"/>
                </a:solidFill>
                <a:latin typeface="Arial"/>
                <a:ea typeface="Arial"/>
                <a:cs typeface="Arial"/>
              </a:rPr>
              <a:t>Live Counters</a:t>
            </a:r>
            <a:endParaRPr lang="en-US" sz="1550"/>
          </a:p>
        </p:txBody>
      </p:sp>
      <p:sp>
        <p:nvSpPr>
          <p:cNvPr id="578233338" name="Text 6"/>
          <p:cNvSpPr/>
          <p:nvPr/>
        </p:nvSpPr>
        <p:spPr bwMode="auto">
          <a:xfrm flipH="0" flipV="0">
            <a:off x="1280160" y="4194047"/>
            <a:ext cx="4206240" cy="274320"/>
          </a:xfrm>
          <a:prstGeom prst="rect">
            <a:avLst/>
          </a:prstGeom>
          <a:noFill/>
          <a:ln/>
        </p:spPr>
        <p:txBody>
          <a:bodyPr wrap="square" lIns="0" tIns="0" rIns="0" bIns="0" rtlCol="0" anchor="t"/>
          <a:lstStyle/>
          <a:p>
            <a:pPr marL="0" indent="0">
              <a:buNone/>
              <a:defRPr/>
            </a:pPr>
            <a:r>
              <a:rPr lang="en-US" sz="1200">
                <a:solidFill>
                  <a:srgbClr val="475569"/>
                </a:solidFill>
                <a:latin typeface="Calibri"/>
                <a:ea typeface="Calibri"/>
                <a:cs typeface="Calibri"/>
              </a:rPr>
              <a:t>"All Present" / "All Absent" shortcuts plus a running total.</a:t>
            </a:r>
            <a:endParaRPr lang="en-US" sz="1200"/>
          </a:p>
        </p:txBody>
      </p:sp>
      <p:sp>
        <p:nvSpPr>
          <p:cNvPr id="1315359557" name="Text 7"/>
          <p:cNvSpPr/>
          <p:nvPr/>
        </p:nvSpPr>
        <p:spPr bwMode="auto">
          <a:xfrm>
            <a:off x="548640" y="5410199"/>
            <a:ext cx="5029200" cy="365760"/>
          </a:xfrm>
          <a:prstGeom prst="rect">
            <a:avLst/>
          </a:prstGeom>
          <a:noFill/>
          <a:ln/>
        </p:spPr>
        <p:txBody>
          <a:bodyPr wrap="square" lIns="0" tIns="0" rIns="0" bIns="0" rtlCol="0" anchor="ctr"/>
          <a:lstStyle/>
          <a:p>
            <a:pPr marL="0" indent="0">
              <a:buNone/>
              <a:defRPr/>
            </a:pPr>
            <a:r>
              <a:rPr lang="en-US" sz="1150" i="1">
                <a:solidFill>
                  <a:srgbClr val="64748B"/>
                </a:solidFill>
                <a:latin typeface="Calibri"/>
                <a:ea typeface="Calibri"/>
                <a:cs typeface="Calibri"/>
              </a:rPr>
              <a:t>Existing sessions can be edited and resubmitted safely.</a:t>
            </a:r>
            <a:endParaRPr lang="en-US" sz="1150"/>
          </a:p>
        </p:txBody>
      </p:sp>
      <p:sp>
        <p:nvSpPr>
          <p:cNvPr id="2145275917" name="Shape 8"/>
          <p:cNvSpPr/>
          <p:nvPr/>
        </p:nvSpPr>
        <p:spPr bwMode="auto">
          <a:xfrm>
            <a:off x="6309360" y="1965960"/>
            <a:ext cx="5303520" cy="4160519"/>
          </a:xfrm>
          <a:prstGeom prst="roundRect">
            <a:avLst>
              <a:gd name="adj" fmla="val 2637"/>
            </a:avLst>
          </a:prstGeom>
          <a:solidFill>
            <a:srgbClr val="3730A3"/>
          </a:solidFill>
          <a:ln/>
        </p:spPr>
      </p:sp>
      <p:pic>
        <p:nvPicPr>
          <p:cNvPr id="327065766" name="Image 2" descr="preencoded.png"/>
          <p:cNvPicPr>
            <a:picLocks noChangeAspect="1"/>
          </p:cNvPicPr>
          <p:nvPr/>
        </p:nvPicPr>
        <p:blipFill rotWithShape="1">
          <a:blip r:embed="rId5"/>
          <a:stretch/>
        </p:blipFill>
        <p:spPr bwMode="auto">
          <a:xfrm>
            <a:off x="6629400" y="2286000"/>
            <a:ext cx="594360" cy="594360"/>
          </a:xfrm>
          <a:prstGeom prst="rect">
            <a:avLst/>
          </a:prstGeom>
        </p:spPr>
      </p:pic>
      <p:sp>
        <p:nvSpPr>
          <p:cNvPr id="1701448928" name="Text 9"/>
          <p:cNvSpPr/>
          <p:nvPr/>
        </p:nvSpPr>
        <p:spPr bwMode="auto">
          <a:xfrm>
            <a:off x="7360920" y="2313432"/>
            <a:ext cx="4023360" cy="411480"/>
          </a:xfrm>
          <a:prstGeom prst="rect">
            <a:avLst/>
          </a:prstGeom>
          <a:noFill/>
          <a:ln/>
        </p:spPr>
        <p:txBody>
          <a:bodyPr wrap="square" lIns="0" tIns="0" rIns="0" bIns="0" rtlCol="0" anchor="ctr"/>
          <a:lstStyle/>
          <a:p>
            <a:pPr marL="0" indent="0">
              <a:buNone/>
              <a:defRPr/>
            </a:pPr>
            <a:r>
              <a:rPr lang="en-US" sz="2000" b="1">
                <a:solidFill>
                  <a:srgbClr val="FFFFFF"/>
                </a:solidFill>
                <a:latin typeface="Arial"/>
                <a:ea typeface="Arial"/>
                <a:cs typeface="Arial"/>
              </a:rPr>
              <a:t>Quick Select</a:t>
            </a:r>
            <a:endParaRPr lang="en-US" sz="2000"/>
          </a:p>
        </p:txBody>
      </p:sp>
      <p:sp>
        <p:nvSpPr>
          <p:cNvPr id="1594500096" name="Text 10"/>
          <p:cNvSpPr/>
          <p:nvPr/>
        </p:nvSpPr>
        <p:spPr bwMode="auto">
          <a:xfrm>
            <a:off x="7360920" y="2715768"/>
            <a:ext cx="4023360" cy="274320"/>
          </a:xfrm>
          <a:prstGeom prst="rect">
            <a:avLst/>
          </a:prstGeom>
          <a:noFill/>
          <a:ln/>
        </p:spPr>
        <p:txBody>
          <a:bodyPr wrap="square" lIns="0" tIns="0" rIns="0" bIns="0" rtlCol="0" anchor="ctr"/>
          <a:lstStyle/>
          <a:p>
            <a:pPr marL="0" indent="0">
              <a:buNone/>
              <a:defRPr/>
            </a:pPr>
            <a:r>
              <a:rPr lang="en-US" sz="1100">
                <a:solidFill>
                  <a:srgbClr val="C7D2FE"/>
                </a:solidFill>
                <a:latin typeface="Calibri"/>
                <a:ea typeface="Calibri"/>
                <a:cs typeface="Calibri"/>
              </a:rPr>
              <a:t>Highlight Feature</a:t>
            </a:r>
            <a:endParaRPr lang="en-US" sz="1100"/>
          </a:p>
        </p:txBody>
      </p:sp>
      <p:sp>
        <p:nvSpPr>
          <p:cNvPr id="955062200" name="Shape 11"/>
          <p:cNvSpPr/>
          <p:nvPr/>
        </p:nvSpPr>
        <p:spPr bwMode="auto">
          <a:xfrm>
            <a:off x="6629400" y="3200400"/>
            <a:ext cx="4663440" cy="594360"/>
          </a:xfrm>
          <a:prstGeom prst="roundRect">
            <a:avLst>
              <a:gd name="adj" fmla="val 12308"/>
            </a:avLst>
          </a:prstGeom>
          <a:solidFill>
            <a:srgbClr val="FFFFFF">
              <a:alpha val="12000"/>
            </a:srgbClr>
          </a:solidFill>
          <a:ln/>
        </p:spPr>
      </p:sp>
      <p:sp>
        <p:nvSpPr>
          <p:cNvPr id="32765695" name="Text 12"/>
          <p:cNvSpPr/>
          <p:nvPr/>
        </p:nvSpPr>
        <p:spPr bwMode="auto">
          <a:xfrm>
            <a:off x="6812280" y="3200400"/>
            <a:ext cx="4297680" cy="594360"/>
          </a:xfrm>
          <a:prstGeom prst="rect">
            <a:avLst/>
          </a:prstGeom>
          <a:noFill/>
          <a:ln/>
        </p:spPr>
        <p:txBody>
          <a:bodyPr wrap="square" lIns="0" tIns="0" rIns="0" bIns="0" rtlCol="0" anchor="ctr"/>
          <a:lstStyle/>
          <a:p>
            <a:pPr marL="0" indent="0">
              <a:buNone/>
              <a:defRPr/>
            </a:pPr>
            <a:r>
              <a:rPr lang="en-US" sz="1400" b="1">
                <a:solidFill>
                  <a:srgbClr val="FFFFFF"/>
                </a:solidFill>
                <a:latin typeface="Courier New"/>
                <a:ea typeface="Courier New"/>
                <a:cs typeface="Courier New"/>
              </a:rPr>
              <a:t>Teacher types:  "1, 2, 33, 45"</a:t>
            </a:r>
            <a:endParaRPr lang="en-US" sz="1400"/>
          </a:p>
        </p:txBody>
      </p:sp>
      <p:sp>
        <p:nvSpPr>
          <p:cNvPr id="2011606641" name="Text 13"/>
          <p:cNvSpPr/>
          <p:nvPr/>
        </p:nvSpPr>
        <p:spPr bwMode="auto">
          <a:xfrm>
            <a:off x="6629400" y="3977640"/>
            <a:ext cx="4663440" cy="685800"/>
          </a:xfrm>
          <a:prstGeom prst="rect">
            <a:avLst/>
          </a:prstGeom>
          <a:noFill/>
          <a:ln/>
        </p:spPr>
        <p:txBody>
          <a:bodyPr wrap="square" lIns="0" tIns="0" rIns="0" bIns="0" rtlCol="0" anchor="ctr"/>
          <a:lstStyle/>
          <a:p>
            <a:pPr marL="0" indent="0">
              <a:buNone/>
              <a:defRPr/>
            </a:pPr>
            <a:r>
              <a:rPr lang="en-US" sz="1250">
                <a:solidFill>
                  <a:srgbClr val="E0E7FF"/>
                </a:solidFill>
                <a:latin typeface="Calibri"/>
                <a:ea typeface="Calibri"/>
                <a:cs typeface="Calibri"/>
              </a:rPr>
              <a:t>The system intelligently matches last digits to full student IDs using batch-aware regex patterns.</a:t>
            </a:r>
            <a:endParaRPr lang="en-US" sz="1250"/>
          </a:p>
        </p:txBody>
      </p:sp>
      <p:sp>
        <p:nvSpPr>
          <p:cNvPr id="157777812" name="Text 14"/>
          <p:cNvSpPr/>
          <p:nvPr/>
        </p:nvSpPr>
        <p:spPr bwMode="auto">
          <a:xfrm>
            <a:off x="6629400" y="4846320"/>
            <a:ext cx="2331720" cy="640080"/>
          </a:xfrm>
          <a:prstGeom prst="rect">
            <a:avLst/>
          </a:prstGeom>
          <a:noFill/>
          <a:ln/>
        </p:spPr>
        <p:txBody>
          <a:bodyPr wrap="square" lIns="0" tIns="0" rIns="0" bIns="0" rtlCol="0" anchor="ctr"/>
          <a:lstStyle/>
          <a:p>
            <a:pPr marL="0" indent="0">
              <a:buNone/>
              <a:defRPr/>
            </a:pPr>
            <a:r>
              <a:rPr lang="en-US" sz="3000" b="1">
                <a:solidFill>
                  <a:srgbClr val="FFFFFF"/>
                </a:solidFill>
                <a:latin typeface="Arial"/>
                <a:ea typeface="Arial"/>
                <a:cs typeface="Arial"/>
              </a:rPr>
              <a:t>30 students</a:t>
            </a:r>
            <a:endParaRPr lang="en-US" sz="3000"/>
          </a:p>
        </p:txBody>
      </p:sp>
      <p:sp>
        <p:nvSpPr>
          <p:cNvPr id="916842867" name="Text 15"/>
          <p:cNvSpPr/>
          <p:nvPr/>
        </p:nvSpPr>
        <p:spPr bwMode="auto">
          <a:xfrm flipH="0" flipV="0">
            <a:off x="6629400" y="5422392"/>
            <a:ext cx="2331720" cy="353567"/>
          </a:xfrm>
          <a:prstGeom prst="rect">
            <a:avLst/>
          </a:prstGeom>
          <a:noFill/>
          <a:ln/>
        </p:spPr>
        <p:txBody>
          <a:bodyPr wrap="square" lIns="0" tIns="0" rIns="0" bIns="0" rtlCol="0" anchor="ctr"/>
          <a:lstStyle/>
          <a:p>
            <a:pPr marL="0" indent="0">
              <a:buNone/>
              <a:defRPr/>
            </a:pPr>
            <a:r>
              <a:rPr lang="en-US" sz="1150">
                <a:solidFill>
                  <a:srgbClr val="C7D2FE"/>
                </a:solidFill>
                <a:latin typeface="Calibri"/>
                <a:ea typeface="Calibri"/>
                <a:cs typeface="Calibri"/>
              </a:rPr>
              <a:t>marked in seconds</a:t>
            </a:r>
            <a:endParaRPr lang="en-US" sz="1150"/>
          </a:p>
        </p:txBody>
      </p:sp>
      <p:sp>
        <p:nvSpPr>
          <p:cNvPr id="851867140" name="Text 16"/>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Taking Attendance</a:t>
            </a:r>
            <a:endParaRPr lang="en-US" sz="900"/>
          </a:p>
        </p:txBody>
      </p:sp>
      <p:sp>
        <p:nvSpPr>
          <p:cNvPr id="479167995" name="Text 17"/>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10</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FFFFF"/>
        </a:solidFill>
      </p:bgPr>
    </p:bg>
    <p:spTree>
      <p:nvGrpSpPr>
        <p:cNvPr id="1" name=""/>
        <p:cNvGrpSpPr/>
        <p:nvPr/>
      </p:nvGrpSpPr>
      <p:grpSpPr bwMode="auto">
        <a:xfrm>
          <a:off x="0" y="0"/>
          <a:ext cx="0" cy="0"/>
          <a:chOff x="0" y="0"/>
          <a:chExt cx="0" cy="0"/>
        </a:xfrm>
      </p:grpSpPr>
      <p:sp>
        <p:nvSpPr>
          <p:cNvPr id="1485665275"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CORE FEATURE</a:t>
            </a:r>
            <a:endParaRPr lang="en-US" sz="1200"/>
          </a:p>
        </p:txBody>
      </p:sp>
      <p:sp>
        <p:nvSpPr>
          <p:cNvPr id="1004996586"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Reports, History &amp; Analytics</a:t>
            </a:r>
            <a:endParaRPr lang="en-US" sz="3400"/>
          </a:p>
        </p:txBody>
      </p:sp>
      <p:sp>
        <p:nvSpPr>
          <p:cNvPr id="1105133791"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Every session recorded, summarized, and export-ready</a:t>
            </a:r>
            <a:endParaRPr lang="en-US" sz="1500"/>
          </a:p>
        </p:txBody>
      </p:sp>
      <p:sp>
        <p:nvSpPr>
          <p:cNvPr id="396649242" name="Shape 3"/>
          <p:cNvSpPr/>
          <p:nvPr/>
        </p:nvSpPr>
        <p:spPr bwMode="auto">
          <a:xfrm>
            <a:off x="548640" y="2251710"/>
            <a:ext cx="3520440" cy="2331720"/>
          </a:xfrm>
          <a:prstGeom prst="roundRect">
            <a:avLst>
              <a:gd name="adj" fmla="val 3922"/>
            </a:avLst>
          </a:prstGeom>
          <a:solidFill>
            <a:srgbClr val="F8FAFC"/>
          </a:solidFill>
          <a:ln w="12700">
            <a:solidFill>
              <a:srgbClr val="E2E8F0"/>
            </a:solidFill>
            <a:prstDash val="solid"/>
          </a:ln>
        </p:spPr>
      </p:sp>
      <p:pic>
        <p:nvPicPr>
          <p:cNvPr id="405159712" name="Image 0" descr="preencoded.png"/>
          <p:cNvPicPr>
            <a:picLocks noChangeAspect="1"/>
          </p:cNvPicPr>
          <p:nvPr/>
        </p:nvPicPr>
        <p:blipFill rotWithShape="1">
          <a:blip r:embed="rId3"/>
          <a:stretch/>
        </p:blipFill>
        <p:spPr bwMode="auto">
          <a:xfrm>
            <a:off x="1988820" y="2571749"/>
            <a:ext cx="640080" cy="640080"/>
          </a:xfrm>
          <a:prstGeom prst="rect">
            <a:avLst/>
          </a:prstGeom>
        </p:spPr>
      </p:pic>
      <p:sp>
        <p:nvSpPr>
          <p:cNvPr id="350468026" name="Text 4"/>
          <p:cNvSpPr/>
          <p:nvPr/>
        </p:nvSpPr>
        <p:spPr bwMode="auto">
          <a:xfrm>
            <a:off x="777240" y="3348988"/>
            <a:ext cx="3063240" cy="457200"/>
          </a:xfrm>
          <a:prstGeom prst="rect">
            <a:avLst/>
          </a:prstGeom>
          <a:noFill/>
          <a:ln/>
        </p:spPr>
        <p:txBody>
          <a:bodyPr wrap="square" lIns="0" tIns="0" rIns="0" bIns="0" rtlCol="0" anchor="ctr"/>
          <a:lstStyle/>
          <a:p>
            <a:pPr marL="0" indent="0" algn="ctr">
              <a:buNone/>
              <a:defRPr/>
            </a:pPr>
            <a:r>
              <a:rPr lang="en-US" sz="1450" b="1">
                <a:solidFill>
                  <a:srgbClr val="0F172A"/>
                </a:solidFill>
                <a:latin typeface="Arial"/>
                <a:ea typeface="Arial"/>
                <a:cs typeface="Arial"/>
              </a:rPr>
              <a:t>Full Attendance History</a:t>
            </a:r>
            <a:endParaRPr lang="en-US" sz="1450"/>
          </a:p>
        </p:txBody>
      </p:sp>
      <p:sp>
        <p:nvSpPr>
          <p:cNvPr id="2122271165" name="Text 5"/>
          <p:cNvSpPr/>
          <p:nvPr/>
        </p:nvSpPr>
        <p:spPr bwMode="auto">
          <a:xfrm>
            <a:off x="777240" y="3806190"/>
            <a:ext cx="3063240" cy="68580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Browse every past session by class or by day.</a:t>
            </a:r>
            <a:endParaRPr lang="en-US" sz="1150"/>
          </a:p>
        </p:txBody>
      </p:sp>
      <p:sp>
        <p:nvSpPr>
          <p:cNvPr id="1495552321" name="Shape 6"/>
          <p:cNvSpPr/>
          <p:nvPr/>
        </p:nvSpPr>
        <p:spPr bwMode="auto">
          <a:xfrm>
            <a:off x="4389120" y="2251710"/>
            <a:ext cx="3520440" cy="2331720"/>
          </a:xfrm>
          <a:prstGeom prst="roundRect">
            <a:avLst>
              <a:gd name="adj" fmla="val 3922"/>
            </a:avLst>
          </a:prstGeom>
          <a:solidFill>
            <a:srgbClr val="F8FAFC"/>
          </a:solidFill>
          <a:ln w="12700">
            <a:solidFill>
              <a:srgbClr val="E2E8F0"/>
            </a:solidFill>
            <a:prstDash val="solid"/>
          </a:ln>
        </p:spPr>
      </p:sp>
      <p:pic>
        <p:nvPicPr>
          <p:cNvPr id="1782625000" name="Image 1" descr="preencoded.png"/>
          <p:cNvPicPr>
            <a:picLocks noChangeAspect="1"/>
          </p:cNvPicPr>
          <p:nvPr/>
        </p:nvPicPr>
        <p:blipFill rotWithShape="1">
          <a:blip r:embed="rId4"/>
          <a:stretch/>
        </p:blipFill>
        <p:spPr bwMode="auto">
          <a:xfrm>
            <a:off x="5829300" y="2571749"/>
            <a:ext cx="640080" cy="640080"/>
          </a:xfrm>
          <a:prstGeom prst="rect">
            <a:avLst/>
          </a:prstGeom>
        </p:spPr>
      </p:pic>
      <p:sp>
        <p:nvSpPr>
          <p:cNvPr id="340155861" name="Text 7"/>
          <p:cNvSpPr/>
          <p:nvPr/>
        </p:nvSpPr>
        <p:spPr bwMode="auto">
          <a:xfrm>
            <a:off x="4617720" y="3348988"/>
            <a:ext cx="3063240" cy="457200"/>
          </a:xfrm>
          <a:prstGeom prst="rect">
            <a:avLst/>
          </a:prstGeom>
          <a:noFill/>
          <a:ln/>
        </p:spPr>
        <p:txBody>
          <a:bodyPr wrap="square" lIns="0" tIns="0" rIns="0" bIns="0" rtlCol="0" anchor="ctr"/>
          <a:lstStyle/>
          <a:p>
            <a:pPr marL="0" indent="0" algn="ctr">
              <a:buNone/>
              <a:defRPr/>
            </a:pPr>
            <a:r>
              <a:rPr lang="en-US" sz="1450" b="1">
                <a:solidFill>
                  <a:srgbClr val="0F172A"/>
                </a:solidFill>
                <a:latin typeface="Arial"/>
                <a:ea typeface="Arial"/>
                <a:cs typeface="Arial"/>
              </a:rPr>
              <a:t>Interactive Summaries</a:t>
            </a:r>
            <a:endParaRPr lang="en-US" sz="1450"/>
          </a:p>
        </p:txBody>
      </p:sp>
      <p:sp>
        <p:nvSpPr>
          <p:cNvPr id="342658341" name="Text 8"/>
          <p:cNvSpPr/>
          <p:nvPr/>
        </p:nvSpPr>
        <p:spPr bwMode="auto">
          <a:xfrm>
            <a:off x="4617720" y="3806190"/>
            <a:ext cx="3063240" cy="68580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Visual summary views highlight trends at a glance.</a:t>
            </a:r>
            <a:endParaRPr lang="en-US" sz="1150"/>
          </a:p>
        </p:txBody>
      </p:sp>
      <p:sp>
        <p:nvSpPr>
          <p:cNvPr id="1767563596" name="Shape 9"/>
          <p:cNvSpPr/>
          <p:nvPr/>
        </p:nvSpPr>
        <p:spPr bwMode="auto">
          <a:xfrm>
            <a:off x="8229600" y="2251710"/>
            <a:ext cx="3520440" cy="2331720"/>
          </a:xfrm>
          <a:prstGeom prst="roundRect">
            <a:avLst>
              <a:gd name="adj" fmla="val 3922"/>
            </a:avLst>
          </a:prstGeom>
          <a:solidFill>
            <a:srgbClr val="F8FAFC"/>
          </a:solidFill>
          <a:ln w="12700">
            <a:solidFill>
              <a:srgbClr val="E2E8F0"/>
            </a:solidFill>
            <a:prstDash val="solid"/>
          </a:ln>
        </p:spPr>
      </p:sp>
      <p:pic>
        <p:nvPicPr>
          <p:cNvPr id="1150944891" name="Image 2" descr="preencoded.png"/>
          <p:cNvPicPr>
            <a:picLocks noChangeAspect="1"/>
          </p:cNvPicPr>
          <p:nvPr/>
        </p:nvPicPr>
        <p:blipFill rotWithShape="1">
          <a:blip r:embed="rId5"/>
          <a:stretch/>
        </p:blipFill>
        <p:spPr bwMode="auto">
          <a:xfrm>
            <a:off x="9669780" y="2571749"/>
            <a:ext cx="640080" cy="640080"/>
          </a:xfrm>
          <a:prstGeom prst="rect">
            <a:avLst/>
          </a:prstGeom>
        </p:spPr>
      </p:pic>
      <p:sp>
        <p:nvSpPr>
          <p:cNvPr id="264269189" name="Text 10"/>
          <p:cNvSpPr/>
          <p:nvPr/>
        </p:nvSpPr>
        <p:spPr bwMode="auto">
          <a:xfrm>
            <a:off x="8458200" y="3348988"/>
            <a:ext cx="3063240" cy="457200"/>
          </a:xfrm>
          <a:prstGeom prst="rect">
            <a:avLst/>
          </a:prstGeom>
          <a:noFill/>
          <a:ln/>
        </p:spPr>
        <p:txBody>
          <a:bodyPr wrap="square" lIns="0" tIns="0" rIns="0" bIns="0" rtlCol="0" anchor="ctr"/>
          <a:lstStyle/>
          <a:p>
            <a:pPr marL="0" indent="0" algn="ctr">
              <a:buNone/>
              <a:defRPr/>
            </a:pPr>
            <a:r>
              <a:rPr lang="en-US" sz="1450" b="1">
                <a:solidFill>
                  <a:srgbClr val="0F172A"/>
                </a:solidFill>
                <a:latin typeface="Arial"/>
                <a:ea typeface="Arial"/>
                <a:cs typeface="Arial"/>
              </a:rPr>
              <a:t>One-Click Exports</a:t>
            </a:r>
            <a:endParaRPr lang="en-US" sz="1450"/>
          </a:p>
        </p:txBody>
      </p:sp>
      <p:sp>
        <p:nvSpPr>
          <p:cNvPr id="266405480" name="Text 11"/>
          <p:cNvSpPr/>
          <p:nvPr/>
        </p:nvSpPr>
        <p:spPr bwMode="auto">
          <a:xfrm>
            <a:off x="8458200" y="3806190"/>
            <a:ext cx="3063240" cy="68580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Download PDF (via PDFKit) or CSV anytime.</a:t>
            </a:r>
            <a:endParaRPr lang="en-US" sz="1150"/>
          </a:p>
        </p:txBody>
      </p:sp>
      <p:sp>
        <p:nvSpPr>
          <p:cNvPr id="1790699812" name="Text 12"/>
          <p:cNvSpPr/>
          <p:nvPr/>
        </p:nvSpPr>
        <p:spPr bwMode="auto">
          <a:xfrm>
            <a:off x="643889" y="4998719"/>
            <a:ext cx="3520440" cy="502920"/>
          </a:xfrm>
          <a:prstGeom prst="rect">
            <a:avLst/>
          </a:prstGeom>
          <a:noFill/>
          <a:ln/>
        </p:spPr>
        <p:txBody>
          <a:bodyPr wrap="square" lIns="0" tIns="0" rIns="0" bIns="0" rtlCol="0" anchor="ctr"/>
          <a:lstStyle/>
          <a:p>
            <a:pPr marL="0" indent="0">
              <a:buNone/>
              <a:defRPr/>
            </a:pPr>
            <a:r>
              <a:rPr lang="en-US" sz="2600" b="1">
                <a:solidFill>
                  <a:srgbClr val="4F46E5"/>
                </a:solidFill>
                <a:latin typeface="Arial"/>
                <a:ea typeface="Arial"/>
                <a:cs typeface="Arial"/>
              </a:rPr>
              <a:t>Zero</a:t>
            </a:r>
            <a:endParaRPr lang="en-US" sz="2600"/>
          </a:p>
        </p:txBody>
      </p:sp>
      <p:sp>
        <p:nvSpPr>
          <p:cNvPr id="1563498725" name="Text 13"/>
          <p:cNvSpPr/>
          <p:nvPr/>
        </p:nvSpPr>
        <p:spPr bwMode="auto">
          <a:xfrm>
            <a:off x="643889" y="5501639"/>
            <a:ext cx="3520440" cy="365760"/>
          </a:xfrm>
          <a:prstGeom prst="rect">
            <a:avLst/>
          </a:prstGeom>
          <a:noFill/>
          <a:ln/>
        </p:spPr>
        <p:txBody>
          <a:bodyPr wrap="square" lIns="0" tIns="0" rIns="0" bIns="0" rtlCol="0" anchor="ctr"/>
          <a:lstStyle/>
          <a:p>
            <a:pPr marL="0" indent="0">
              <a:buNone/>
              <a:defRPr/>
            </a:pPr>
            <a:r>
              <a:rPr lang="en-US" sz="1150">
                <a:solidFill>
                  <a:srgbClr val="475569"/>
                </a:solidFill>
                <a:latin typeface="Calibri"/>
                <a:ea typeface="Calibri"/>
                <a:cs typeface="Calibri"/>
              </a:rPr>
              <a:t>paperwork for monthly reports</a:t>
            </a:r>
            <a:endParaRPr lang="en-US" sz="1150"/>
          </a:p>
        </p:txBody>
      </p:sp>
      <p:sp>
        <p:nvSpPr>
          <p:cNvPr id="486313898" name="Text 14"/>
          <p:cNvSpPr/>
          <p:nvPr/>
        </p:nvSpPr>
        <p:spPr bwMode="auto">
          <a:xfrm>
            <a:off x="4484369" y="4998719"/>
            <a:ext cx="3520440" cy="502920"/>
          </a:xfrm>
          <a:prstGeom prst="rect">
            <a:avLst/>
          </a:prstGeom>
          <a:noFill/>
          <a:ln/>
        </p:spPr>
        <p:txBody>
          <a:bodyPr wrap="square" lIns="0" tIns="0" rIns="0" bIns="0" rtlCol="0" anchor="ctr"/>
          <a:lstStyle/>
          <a:p>
            <a:pPr marL="0" indent="0">
              <a:buNone/>
              <a:defRPr/>
            </a:pPr>
            <a:r>
              <a:rPr lang="en-US" sz="2600" b="1">
                <a:solidFill>
                  <a:srgbClr val="4F46E5"/>
                </a:solidFill>
                <a:latin typeface="Arial"/>
                <a:ea typeface="Arial"/>
                <a:cs typeface="Arial"/>
              </a:rPr>
              <a:t>Anytime</a:t>
            </a:r>
            <a:endParaRPr lang="en-US" sz="2600"/>
          </a:p>
        </p:txBody>
      </p:sp>
      <p:sp>
        <p:nvSpPr>
          <p:cNvPr id="240828868" name="Text 15"/>
          <p:cNvSpPr/>
          <p:nvPr/>
        </p:nvSpPr>
        <p:spPr bwMode="auto">
          <a:xfrm>
            <a:off x="4484369" y="5501639"/>
            <a:ext cx="3520440" cy="365760"/>
          </a:xfrm>
          <a:prstGeom prst="rect">
            <a:avLst/>
          </a:prstGeom>
          <a:noFill/>
          <a:ln/>
        </p:spPr>
        <p:txBody>
          <a:bodyPr wrap="square" lIns="0" tIns="0" rIns="0" bIns="0" rtlCol="0" anchor="ctr"/>
          <a:lstStyle/>
          <a:p>
            <a:pPr marL="0" indent="0">
              <a:buNone/>
              <a:defRPr/>
            </a:pPr>
            <a:r>
              <a:rPr lang="en-US" sz="1150">
                <a:solidFill>
                  <a:srgbClr val="475569"/>
                </a:solidFill>
                <a:latin typeface="Calibri"/>
                <a:ea typeface="Calibri"/>
                <a:cs typeface="Calibri"/>
              </a:rPr>
              <a:t>export-ready PDF &amp; CSV</a:t>
            </a:r>
            <a:endParaRPr lang="en-US" sz="1150"/>
          </a:p>
        </p:txBody>
      </p:sp>
      <p:sp>
        <p:nvSpPr>
          <p:cNvPr id="1036031069" name="Text 16"/>
          <p:cNvSpPr/>
          <p:nvPr/>
        </p:nvSpPr>
        <p:spPr bwMode="auto">
          <a:xfrm>
            <a:off x="8324849" y="4998719"/>
            <a:ext cx="3520440" cy="502920"/>
          </a:xfrm>
          <a:prstGeom prst="rect">
            <a:avLst/>
          </a:prstGeom>
          <a:noFill/>
          <a:ln/>
        </p:spPr>
        <p:txBody>
          <a:bodyPr wrap="square" lIns="0" tIns="0" rIns="0" bIns="0" rtlCol="0" anchor="ctr"/>
          <a:lstStyle/>
          <a:p>
            <a:pPr marL="0" indent="0">
              <a:buNone/>
              <a:defRPr/>
            </a:pPr>
            <a:r>
              <a:rPr lang="en-US" sz="2600" b="1">
                <a:solidFill>
                  <a:srgbClr val="4F46E5"/>
                </a:solidFill>
                <a:latin typeface="Arial"/>
                <a:ea typeface="Arial"/>
                <a:cs typeface="Arial"/>
              </a:rPr>
              <a:t>Private</a:t>
            </a:r>
            <a:endParaRPr lang="en-US" sz="2600"/>
          </a:p>
        </p:txBody>
      </p:sp>
      <p:sp>
        <p:nvSpPr>
          <p:cNvPr id="15193010" name="Text 17"/>
          <p:cNvSpPr/>
          <p:nvPr/>
        </p:nvSpPr>
        <p:spPr bwMode="auto">
          <a:xfrm>
            <a:off x="8324849" y="5501639"/>
            <a:ext cx="3520440" cy="365760"/>
          </a:xfrm>
          <a:prstGeom prst="rect">
            <a:avLst/>
          </a:prstGeom>
          <a:noFill/>
          <a:ln/>
        </p:spPr>
        <p:txBody>
          <a:bodyPr wrap="square" lIns="0" tIns="0" rIns="0" bIns="0" rtlCol="0" anchor="ctr"/>
          <a:lstStyle/>
          <a:p>
            <a:pPr marL="0" indent="0">
              <a:buNone/>
              <a:defRPr/>
            </a:pPr>
            <a:r>
              <a:rPr lang="en-US" sz="1150">
                <a:solidFill>
                  <a:srgbClr val="475569"/>
                </a:solidFill>
                <a:latin typeface="Calibri"/>
                <a:ea typeface="Calibri"/>
                <a:cs typeface="Calibri"/>
              </a:rPr>
              <a:t>personal rosters for teachers</a:t>
            </a:r>
            <a:endParaRPr lang="en-US" sz="1150"/>
          </a:p>
        </p:txBody>
      </p:sp>
      <p:sp>
        <p:nvSpPr>
          <p:cNvPr id="1152745282" name="Text 18"/>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Reports, History &amp; Analytics</a:t>
            </a:r>
            <a:endParaRPr lang="en-US" sz="900"/>
          </a:p>
        </p:txBody>
      </p:sp>
      <p:sp>
        <p:nvSpPr>
          <p:cNvPr id="931482278" name="Text 19"/>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11</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FFFFF"/>
        </a:solidFill>
      </p:bgPr>
    </p:bg>
    <p:spTree>
      <p:nvGrpSpPr>
        <p:cNvPr id="1" name=""/>
        <p:cNvGrpSpPr/>
        <p:nvPr/>
      </p:nvGrpSpPr>
      <p:grpSpPr bwMode="auto">
        <a:xfrm>
          <a:off x="0" y="0"/>
          <a:ext cx="0" cy="0"/>
          <a:chOff x="0" y="0"/>
          <a:chExt cx="0" cy="0"/>
        </a:xfrm>
      </p:grpSpPr>
      <p:sp>
        <p:nvSpPr>
          <p:cNvPr id="34512013"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199">
                <a:solidFill>
                  <a:srgbClr val="4F46E5"/>
                </a:solidFill>
                <a:latin typeface="Calibri"/>
                <a:ea typeface="Calibri"/>
                <a:cs typeface="Calibri"/>
              </a:rPr>
              <a:t>ACCESS CONTROL</a:t>
            </a:r>
            <a:endParaRPr lang="en-US" sz="1200"/>
          </a:p>
        </p:txBody>
      </p:sp>
      <p:sp>
        <p:nvSpPr>
          <p:cNvPr id="505401399"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Roles &amp; Permissions</a:t>
            </a:r>
            <a:endParaRPr lang="en-US" sz="3400"/>
          </a:p>
        </p:txBody>
      </p:sp>
      <p:sp>
        <p:nvSpPr>
          <p:cNvPr id="1798212016"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Three roles, cleanly separated by responsibility</a:t>
            </a:r>
            <a:endParaRPr lang="en-US" sz="1500"/>
          </a:p>
        </p:txBody>
      </p:sp>
      <p:sp>
        <p:nvSpPr>
          <p:cNvPr id="366136692" name="Shape 3"/>
          <p:cNvSpPr/>
          <p:nvPr/>
        </p:nvSpPr>
        <p:spPr bwMode="auto">
          <a:xfrm>
            <a:off x="548640" y="1965960"/>
            <a:ext cx="3520440" cy="868680"/>
          </a:xfrm>
          <a:prstGeom prst="roundRect">
            <a:avLst>
              <a:gd name="adj" fmla="val 10526"/>
            </a:avLst>
          </a:prstGeom>
          <a:solidFill>
            <a:srgbClr val="3730A3"/>
          </a:solidFill>
          <a:ln/>
        </p:spPr>
        <p:txBody>
          <a:bodyPr/>
          <a:p>
            <a:pPr>
              <a:defRPr/>
            </a:pPr>
            <a:endParaRPr/>
          </a:p>
        </p:txBody>
      </p:sp>
      <p:pic>
        <p:nvPicPr>
          <p:cNvPr id="1032450748" name="Image 0" descr="preencoded.png"/>
          <p:cNvPicPr>
            <a:picLocks noChangeAspect="1"/>
          </p:cNvPicPr>
          <p:nvPr/>
        </p:nvPicPr>
        <p:blipFill rotWithShape="1">
          <a:blip r:embed="rId3"/>
          <a:stretch/>
        </p:blipFill>
        <p:spPr bwMode="auto">
          <a:xfrm>
            <a:off x="777240" y="2112264"/>
            <a:ext cx="566928" cy="566928"/>
          </a:xfrm>
          <a:prstGeom prst="rect">
            <a:avLst/>
          </a:prstGeom>
        </p:spPr>
      </p:pic>
      <p:sp>
        <p:nvSpPr>
          <p:cNvPr id="1439195749" name="Text 4"/>
          <p:cNvSpPr/>
          <p:nvPr/>
        </p:nvSpPr>
        <p:spPr bwMode="auto">
          <a:xfrm>
            <a:off x="1463040" y="1965960"/>
            <a:ext cx="2514600" cy="868680"/>
          </a:xfrm>
          <a:prstGeom prst="rect">
            <a:avLst/>
          </a:prstGeom>
          <a:noFill/>
          <a:ln/>
        </p:spPr>
        <p:txBody>
          <a:bodyPr wrap="square" lIns="0" tIns="0" rIns="0" bIns="0" rtlCol="0" anchor="ctr"/>
          <a:lstStyle/>
          <a:p>
            <a:pPr marL="0" indent="0">
              <a:buNone/>
              <a:defRPr/>
            </a:pPr>
            <a:r>
              <a:rPr lang="en-US" sz="1900" b="1">
                <a:solidFill>
                  <a:srgbClr val="FFFFFF"/>
                </a:solidFill>
                <a:latin typeface="Arial"/>
                <a:ea typeface="Arial"/>
                <a:cs typeface="Arial"/>
              </a:rPr>
              <a:t>Admin</a:t>
            </a:r>
            <a:endParaRPr lang="en-US" sz="1900"/>
          </a:p>
        </p:txBody>
      </p:sp>
      <p:sp>
        <p:nvSpPr>
          <p:cNvPr id="121219382" name="Shape 5"/>
          <p:cNvSpPr/>
          <p:nvPr/>
        </p:nvSpPr>
        <p:spPr bwMode="auto">
          <a:xfrm>
            <a:off x="4334256" y="1965960"/>
            <a:ext cx="3520440" cy="868680"/>
          </a:xfrm>
          <a:prstGeom prst="roundRect">
            <a:avLst>
              <a:gd name="adj" fmla="val 10526"/>
            </a:avLst>
          </a:prstGeom>
          <a:solidFill>
            <a:srgbClr val="7C3AED"/>
          </a:solidFill>
          <a:ln/>
        </p:spPr>
        <p:txBody>
          <a:bodyPr/>
          <a:p>
            <a:pPr>
              <a:defRPr/>
            </a:pPr>
            <a:endParaRPr/>
          </a:p>
        </p:txBody>
      </p:sp>
      <p:pic>
        <p:nvPicPr>
          <p:cNvPr id="240064861" name="Image 1" descr="preencoded.png"/>
          <p:cNvPicPr>
            <a:picLocks noChangeAspect="1"/>
          </p:cNvPicPr>
          <p:nvPr/>
        </p:nvPicPr>
        <p:blipFill rotWithShape="1">
          <a:blip r:embed="rId4"/>
          <a:stretch/>
        </p:blipFill>
        <p:spPr bwMode="auto">
          <a:xfrm>
            <a:off x="4562856" y="2112264"/>
            <a:ext cx="566928" cy="566928"/>
          </a:xfrm>
          <a:prstGeom prst="rect">
            <a:avLst/>
          </a:prstGeom>
        </p:spPr>
      </p:pic>
      <p:sp>
        <p:nvSpPr>
          <p:cNvPr id="871755953" name="Text 6"/>
          <p:cNvSpPr/>
          <p:nvPr/>
        </p:nvSpPr>
        <p:spPr bwMode="auto">
          <a:xfrm>
            <a:off x="5248656" y="1965960"/>
            <a:ext cx="2514600" cy="868680"/>
          </a:xfrm>
          <a:prstGeom prst="rect">
            <a:avLst/>
          </a:prstGeom>
          <a:noFill/>
          <a:ln/>
        </p:spPr>
        <p:txBody>
          <a:bodyPr wrap="square" lIns="0" tIns="0" rIns="0" bIns="0" rtlCol="0" anchor="ctr"/>
          <a:lstStyle/>
          <a:p>
            <a:pPr marL="0" indent="0">
              <a:buNone/>
              <a:defRPr/>
            </a:pPr>
            <a:r>
              <a:rPr lang="en-US" sz="1900" b="1">
                <a:solidFill>
                  <a:srgbClr val="FFFFFF"/>
                </a:solidFill>
                <a:latin typeface="Arial"/>
                <a:ea typeface="Arial"/>
                <a:cs typeface="Arial"/>
              </a:rPr>
              <a:t>Teacher</a:t>
            </a:r>
            <a:endParaRPr lang="en-US" sz="1900"/>
          </a:p>
        </p:txBody>
      </p:sp>
      <p:sp>
        <p:nvSpPr>
          <p:cNvPr id="1802145716" name="Shape 7"/>
          <p:cNvSpPr/>
          <p:nvPr/>
        </p:nvSpPr>
        <p:spPr bwMode="auto">
          <a:xfrm>
            <a:off x="548640" y="2944368"/>
            <a:ext cx="3520440" cy="566928"/>
          </a:xfrm>
          <a:prstGeom prst="roundRect">
            <a:avLst>
              <a:gd name="adj" fmla="val 9677"/>
            </a:avLst>
          </a:prstGeom>
          <a:solidFill>
            <a:srgbClr val="EEF2FF"/>
          </a:solidFill>
          <a:ln/>
        </p:spPr>
        <p:txBody>
          <a:bodyPr/>
          <a:p>
            <a:pPr>
              <a:defRPr/>
            </a:pPr>
            <a:endParaRPr/>
          </a:p>
        </p:txBody>
      </p:sp>
      <p:sp>
        <p:nvSpPr>
          <p:cNvPr id="1320956801" name="Text 8"/>
          <p:cNvSpPr/>
          <p:nvPr/>
        </p:nvSpPr>
        <p:spPr bwMode="auto">
          <a:xfrm>
            <a:off x="731520" y="294436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University-wide dashboards &amp; stats</a:t>
            </a:r>
            <a:endParaRPr lang="en-US" sz="1150"/>
          </a:p>
        </p:txBody>
      </p:sp>
      <p:sp>
        <p:nvSpPr>
          <p:cNvPr id="1925438650" name="Shape 9"/>
          <p:cNvSpPr/>
          <p:nvPr/>
        </p:nvSpPr>
        <p:spPr bwMode="auto">
          <a:xfrm>
            <a:off x="4334256" y="2944368"/>
            <a:ext cx="3520440" cy="566928"/>
          </a:xfrm>
          <a:prstGeom prst="roundRect">
            <a:avLst>
              <a:gd name="adj" fmla="val 9677"/>
            </a:avLst>
          </a:prstGeom>
          <a:solidFill>
            <a:srgbClr val="F5F3FF"/>
          </a:solidFill>
          <a:ln/>
        </p:spPr>
        <p:txBody>
          <a:bodyPr/>
          <a:p>
            <a:pPr>
              <a:defRPr/>
            </a:pPr>
            <a:endParaRPr/>
          </a:p>
        </p:txBody>
      </p:sp>
      <p:sp>
        <p:nvSpPr>
          <p:cNvPr id="1536820850" name="Text 10"/>
          <p:cNvSpPr/>
          <p:nvPr/>
        </p:nvSpPr>
        <p:spPr bwMode="auto">
          <a:xfrm>
            <a:off x="4517136" y="294436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Section-only dashboard &amp; counts</a:t>
            </a:r>
            <a:endParaRPr lang="en-US" sz="1150"/>
          </a:p>
        </p:txBody>
      </p:sp>
      <p:sp>
        <p:nvSpPr>
          <p:cNvPr id="2141170567" name="Shape 11"/>
          <p:cNvSpPr/>
          <p:nvPr/>
        </p:nvSpPr>
        <p:spPr bwMode="auto">
          <a:xfrm>
            <a:off x="548640" y="3584448"/>
            <a:ext cx="3520440" cy="566928"/>
          </a:xfrm>
          <a:prstGeom prst="roundRect">
            <a:avLst>
              <a:gd name="adj" fmla="val 9677"/>
            </a:avLst>
          </a:prstGeom>
          <a:solidFill>
            <a:srgbClr val="EEF2FF"/>
          </a:solidFill>
          <a:ln/>
        </p:spPr>
        <p:txBody>
          <a:bodyPr/>
          <a:p>
            <a:pPr>
              <a:defRPr/>
            </a:pPr>
            <a:endParaRPr/>
          </a:p>
        </p:txBody>
      </p:sp>
      <p:sp>
        <p:nvSpPr>
          <p:cNvPr id="227438898" name="Text 12"/>
          <p:cNvSpPr/>
          <p:nvPr/>
        </p:nvSpPr>
        <p:spPr bwMode="auto">
          <a:xfrm>
            <a:off x="731520" y="358444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Manage students, sessions &amp; terms</a:t>
            </a:r>
            <a:endParaRPr lang="en-US" sz="1150"/>
          </a:p>
        </p:txBody>
      </p:sp>
      <p:sp>
        <p:nvSpPr>
          <p:cNvPr id="781840352" name="Shape 13"/>
          <p:cNvSpPr/>
          <p:nvPr/>
        </p:nvSpPr>
        <p:spPr bwMode="auto">
          <a:xfrm>
            <a:off x="4334256" y="3584448"/>
            <a:ext cx="3520440" cy="566928"/>
          </a:xfrm>
          <a:prstGeom prst="roundRect">
            <a:avLst>
              <a:gd name="adj" fmla="val 9677"/>
            </a:avLst>
          </a:prstGeom>
          <a:solidFill>
            <a:srgbClr val="F5F3FF"/>
          </a:solidFill>
          <a:ln/>
        </p:spPr>
        <p:txBody>
          <a:bodyPr/>
          <a:p>
            <a:pPr>
              <a:defRPr/>
            </a:pPr>
            <a:endParaRPr/>
          </a:p>
        </p:txBody>
      </p:sp>
      <p:sp>
        <p:nvSpPr>
          <p:cNvPr id="1363296433" name="Text 14"/>
          <p:cNvSpPr/>
          <p:nvPr/>
        </p:nvSpPr>
        <p:spPr bwMode="auto">
          <a:xfrm>
            <a:off x="4517136" y="358444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View assigned sections only</a:t>
            </a:r>
            <a:endParaRPr lang="en-US" sz="1150"/>
          </a:p>
        </p:txBody>
      </p:sp>
      <p:sp>
        <p:nvSpPr>
          <p:cNvPr id="588296875" name="Shape 15"/>
          <p:cNvSpPr/>
          <p:nvPr/>
        </p:nvSpPr>
        <p:spPr bwMode="auto">
          <a:xfrm>
            <a:off x="548640" y="4224528"/>
            <a:ext cx="3520440" cy="566928"/>
          </a:xfrm>
          <a:prstGeom prst="roundRect">
            <a:avLst>
              <a:gd name="adj" fmla="val 9677"/>
            </a:avLst>
          </a:prstGeom>
          <a:solidFill>
            <a:srgbClr val="EEF2FF"/>
          </a:solidFill>
          <a:ln/>
        </p:spPr>
        <p:txBody>
          <a:bodyPr/>
          <a:p>
            <a:pPr>
              <a:defRPr/>
            </a:pPr>
            <a:endParaRPr/>
          </a:p>
        </p:txBody>
      </p:sp>
      <p:sp>
        <p:nvSpPr>
          <p:cNvPr id="2104164104" name="Text 16"/>
          <p:cNvSpPr/>
          <p:nvPr/>
        </p:nvSpPr>
        <p:spPr bwMode="auto">
          <a:xfrm>
            <a:off x="731520" y="422452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Assign teachers to sections</a:t>
            </a:r>
            <a:endParaRPr lang="en-US" sz="1150"/>
          </a:p>
        </p:txBody>
      </p:sp>
      <p:sp>
        <p:nvSpPr>
          <p:cNvPr id="1667866124" name="Shape 17"/>
          <p:cNvSpPr/>
          <p:nvPr/>
        </p:nvSpPr>
        <p:spPr bwMode="auto">
          <a:xfrm>
            <a:off x="4334256" y="4224528"/>
            <a:ext cx="3520440" cy="566928"/>
          </a:xfrm>
          <a:prstGeom prst="roundRect">
            <a:avLst>
              <a:gd name="adj" fmla="val 9677"/>
            </a:avLst>
          </a:prstGeom>
          <a:solidFill>
            <a:srgbClr val="F5F3FF"/>
          </a:solidFill>
          <a:ln/>
        </p:spPr>
        <p:txBody>
          <a:bodyPr/>
          <a:p>
            <a:pPr>
              <a:defRPr/>
            </a:pPr>
            <a:endParaRPr/>
          </a:p>
        </p:txBody>
      </p:sp>
      <p:sp>
        <p:nvSpPr>
          <p:cNvPr id="90762562" name="Text 18"/>
          <p:cNvSpPr/>
          <p:nvPr/>
        </p:nvSpPr>
        <p:spPr bwMode="auto">
          <a:xfrm>
            <a:off x="4517136" y="422452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Take &amp; resubmit attendance</a:t>
            </a:r>
            <a:endParaRPr lang="en-US" sz="1150"/>
          </a:p>
        </p:txBody>
      </p:sp>
      <p:sp>
        <p:nvSpPr>
          <p:cNvPr id="960633980" name="Shape 19"/>
          <p:cNvSpPr/>
          <p:nvPr/>
        </p:nvSpPr>
        <p:spPr bwMode="auto">
          <a:xfrm>
            <a:off x="548640" y="4864606"/>
            <a:ext cx="3520440" cy="566928"/>
          </a:xfrm>
          <a:prstGeom prst="roundRect">
            <a:avLst>
              <a:gd name="adj" fmla="val 9677"/>
            </a:avLst>
          </a:prstGeom>
          <a:solidFill>
            <a:srgbClr val="EEF2FF"/>
          </a:solidFill>
          <a:ln/>
        </p:spPr>
        <p:txBody>
          <a:bodyPr/>
          <a:p>
            <a:pPr>
              <a:defRPr/>
            </a:pPr>
            <a:endParaRPr/>
          </a:p>
        </p:txBody>
      </p:sp>
      <p:sp>
        <p:nvSpPr>
          <p:cNvPr id="254774901" name="Text 20"/>
          <p:cNvSpPr/>
          <p:nvPr/>
        </p:nvSpPr>
        <p:spPr bwMode="auto">
          <a:xfrm>
            <a:off x="731520" y="4864606"/>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Cannot alter attendance records</a:t>
            </a:r>
            <a:endParaRPr lang="en-US" sz="1150"/>
          </a:p>
        </p:txBody>
      </p:sp>
      <p:sp>
        <p:nvSpPr>
          <p:cNvPr id="1797293732" name="Shape 21"/>
          <p:cNvSpPr/>
          <p:nvPr/>
        </p:nvSpPr>
        <p:spPr bwMode="auto">
          <a:xfrm>
            <a:off x="4334256" y="4864606"/>
            <a:ext cx="3520440" cy="566928"/>
          </a:xfrm>
          <a:prstGeom prst="roundRect">
            <a:avLst>
              <a:gd name="adj" fmla="val 9677"/>
            </a:avLst>
          </a:prstGeom>
          <a:solidFill>
            <a:srgbClr val="F5F3FF"/>
          </a:solidFill>
          <a:ln/>
        </p:spPr>
        <p:txBody>
          <a:bodyPr/>
          <a:p>
            <a:pPr>
              <a:defRPr/>
            </a:pPr>
            <a:endParaRPr/>
          </a:p>
        </p:txBody>
      </p:sp>
      <p:sp>
        <p:nvSpPr>
          <p:cNvPr id="1606769740" name="Text 22"/>
          <p:cNvSpPr/>
          <p:nvPr/>
        </p:nvSpPr>
        <p:spPr bwMode="auto">
          <a:xfrm>
            <a:off x="4517136" y="4864606"/>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Mark, edit &amp; export attendance</a:t>
            </a:r>
            <a:endParaRPr lang="en-US" sz="1150"/>
          </a:p>
        </p:txBody>
      </p:sp>
      <p:sp>
        <p:nvSpPr>
          <p:cNvPr id="268532038" name="Shape 23"/>
          <p:cNvSpPr/>
          <p:nvPr/>
        </p:nvSpPr>
        <p:spPr bwMode="auto">
          <a:xfrm>
            <a:off x="548640" y="5504686"/>
            <a:ext cx="3520440" cy="566928"/>
          </a:xfrm>
          <a:prstGeom prst="roundRect">
            <a:avLst>
              <a:gd name="adj" fmla="val 9677"/>
            </a:avLst>
          </a:prstGeom>
          <a:solidFill>
            <a:srgbClr val="EEF2FF"/>
          </a:solidFill>
          <a:ln/>
        </p:spPr>
        <p:txBody>
          <a:bodyPr/>
          <a:p>
            <a:pPr>
              <a:defRPr/>
            </a:pPr>
            <a:endParaRPr/>
          </a:p>
        </p:txBody>
      </p:sp>
      <p:sp>
        <p:nvSpPr>
          <p:cNvPr id="393836931" name="Text 24"/>
          <p:cNvSpPr/>
          <p:nvPr/>
        </p:nvSpPr>
        <p:spPr bwMode="auto">
          <a:xfrm>
            <a:off x="731520" y="5504686"/>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View reports across all sections</a:t>
            </a:r>
            <a:endParaRPr lang="en-US" sz="1150"/>
          </a:p>
        </p:txBody>
      </p:sp>
      <p:sp>
        <p:nvSpPr>
          <p:cNvPr id="389506499" name="Shape 25"/>
          <p:cNvSpPr/>
          <p:nvPr/>
        </p:nvSpPr>
        <p:spPr bwMode="auto">
          <a:xfrm>
            <a:off x="4334256" y="5504686"/>
            <a:ext cx="3520440" cy="566928"/>
          </a:xfrm>
          <a:prstGeom prst="roundRect">
            <a:avLst>
              <a:gd name="adj" fmla="val 9677"/>
            </a:avLst>
          </a:prstGeom>
          <a:solidFill>
            <a:srgbClr val="F5F3FF"/>
          </a:solidFill>
          <a:ln/>
        </p:spPr>
        <p:txBody>
          <a:bodyPr/>
          <a:p>
            <a:pPr>
              <a:defRPr/>
            </a:pPr>
            <a:endParaRPr/>
          </a:p>
        </p:txBody>
      </p:sp>
      <p:sp>
        <p:nvSpPr>
          <p:cNvPr id="1262527649" name="Text 26"/>
          <p:cNvSpPr/>
          <p:nvPr/>
        </p:nvSpPr>
        <p:spPr bwMode="auto">
          <a:xfrm>
            <a:off x="4517136" y="5504686"/>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View reports for own sections</a:t>
            </a:r>
            <a:endParaRPr lang="en-US" sz="1150"/>
          </a:p>
        </p:txBody>
      </p:sp>
      <p:sp>
        <p:nvSpPr>
          <p:cNvPr id="453572762" name="Text 29"/>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Roles &amp; Permissions</a:t>
            </a:r>
            <a:endParaRPr lang="en-US" sz="900"/>
          </a:p>
        </p:txBody>
      </p:sp>
      <p:sp>
        <p:nvSpPr>
          <p:cNvPr id="2131715667" name="Text 30"/>
          <p:cNvSpPr/>
          <p:nvPr/>
        </p:nvSpPr>
        <p:spPr bwMode="auto">
          <a:xfrm>
            <a:off x="11277294"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12</a:t>
            </a:r>
            <a:endParaRPr lang="en-US" sz="900"/>
          </a:p>
        </p:txBody>
      </p:sp>
      <p:sp>
        <p:nvSpPr>
          <p:cNvPr id="1984728432" name="Shape 5"/>
          <p:cNvSpPr/>
          <p:nvPr/>
        </p:nvSpPr>
        <p:spPr bwMode="auto">
          <a:xfrm>
            <a:off x="8119872" y="1965960"/>
            <a:ext cx="3520440" cy="868680"/>
          </a:xfrm>
          <a:prstGeom prst="roundRect">
            <a:avLst>
              <a:gd name="adj" fmla="val 10526"/>
            </a:avLst>
          </a:prstGeom>
          <a:solidFill>
            <a:srgbClr val="7C3AED"/>
          </a:solidFill>
          <a:ln/>
        </p:spPr>
        <p:txBody>
          <a:bodyPr/>
          <a:p>
            <a:pPr>
              <a:defRPr/>
            </a:pPr>
            <a:endParaRPr/>
          </a:p>
        </p:txBody>
      </p:sp>
      <p:sp>
        <p:nvSpPr>
          <p:cNvPr id="823773844" name="Text 6"/>
          <p:cNvSpPr/>
          <p:nvPr/>
        </p:nvSpPr>
        <p:spPr bwMode="auto">
          <a:xfrm>
            <a:off x="9034272" y="1965960"/>
            <a:ext cx="2514600" cy="868680"/>
          </a:xfrm>
          <a:prstGeom prst="rect">
            <a:avLst/>
          </a:prstGeom>
          <a:noFill/>
          <a:ln/>
        </p:spPr>
        <p:txBody>
          <a:bodyPr wrap="square" lIns="0" tIns="0" rIns="0" bIns="0" rtlCol="0" anchor="ctr"/>
          <a:lstStyle/>
          <a:p>
            <a:pPr marL="0" indent="0">
              <a:buNone/>
              <a:defRPr/>
            </a:pPr>
            <a:r>
              <a:rPr lang="en-US" sz="1900" b="1">
                <a:solidFill>
                  <a:srgbClr val="FFFFFF"/>
                </a:solidFill>
                <a:latin typeface="Arial"/>
                <a:ea typeface="Arial"/>
                <a:cs typeface="Arial"/>
              </a:rPr>
              <a:t>Student</a:t>
            </a:r>
            <a:endParaRPr lang="en-US" sz="1900"/>
          </a:p>
        </p:txBody>
      </p:sp>
      <p:pic>
        <p:nvPicPr>
          <p:cNvPr id="1297388712" name="Image 1" descr="preencoded.png"/>
          <p:cNvPicPr>
            <a:picLocks noChangeAspect="1"/>
          </p:cNvPicPr>
          <p:nvPr/>
        </p:nvPicPr>
        <p:blipFill rotWithShape="1">
          <a:blip r:embed="rId4"/>
          <a:stretch/>
        </p:blipFill>
        <p:spPr bwMode="auto">
          <a:xfrm>
            <a:off x="8348470" y="2112264"/>
            <a:ext cx="566928" cy="566928"/>
          </a:xfrm>
          <a:prstGeom prst="rect">
            <a:avLst/>
          </a:prstGeom>
        </p:spPr>
      </p:pic>
      <p:sp>
        <p:nvSpPr>
          <p:cNvPr id="135824524" name="Shape 9"/>
          <p:cNvSpPr/>
          <p:nvPr/>
        </p:nvSpPr>
        <p:spPr bwMode="auto">
          <a:xfrm>
            <a:off x="8119872" y="2944368"/>
            <a:ext cx="3520440" cy="566928"/>
          </a:xfrm>
          <a:prstGeom prst="roundRect">
            <a:avLst>
              <a:gd name="adj" fmla="val 9677"/>
            </a:avLst>
          </a:prstGeom>
          <a:solidFill>
            <a:srgbClr val="F5F3FF"/>
          </a:solidFill>
          <a:ln/>
        </p:spPr>
        <p:txBody>
          <a:bodyPr/>
          <a:p>
            <a:pPr>
              <a:defRPr/>
            </a:pPr>
            <a:endParaRPr/>
          </a:p>
        </p:txBody>
      </p:sp>
      <p:sp>
        <p:nvSpPr>
          <p:cNvPr id="1099206572" name="Text 10"/>
          <p:cNvSpPr/>
          <p:nvPr/>
        </p:nvSpPr>
        <p:spPr bwMode="auto">
          <a:xfrm>
            <a:off x="8302752" y="294436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Personal attendance dashboard</a:t>
            </a:r>
            <a:endParaRPr lang="en-US" sz="1150"/>
          </a:p>
        </p:txBody>
      </p:sp>
      <p:sp>
        <p:nvSpPr>
          <p:cNvPr id="1586564801" name="Shape 13"/>
          <p:cNvSpPr/>
          <p:nvPr/>
        </p:nvSpPr>
        <p:spPr bwMode="auto">
          <a:xfrm>
            <a:off x="8119872" y="3584448"/>
            <a:ext cx="3520440" cy="566928"/>
          </a:xfrm>
          <a:prstGeom prst="roundRect">
            <a:avLst>
              <a:gd name="adj" fmla="val 9677"/>
            </a:avLst>
          </a:prstGeom>
          <a:solidFill>
            <a:srgbClr val="F5F3FF"/>
          </a:solidFill>
          <a:ln/>
        </p:spPr>
        <p:txBody>
          <a:bodyPr/>
          <a:p>
            <a:pPr>
              <a:defRPr/>
            </a:pPr>
            <a:endParaRPr/>
          </a:p>
        </p:txBody>
      </p:sp>
      <p:sp>
        <p:nvSpPr>
          <p:cNvPr id="173392135" name="Text 14"/>
          <p:cNvSpPr/>
          <p:nvPr/>
        </p:nvSpPr>
        <p:spPr bwMode="auto">
          <a:xfrm>
            <a:off x="8302752" y="358444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Views own enrolled courses only</a:t>
            </a:r>
            <a:endParaRPr lang="en-US" sz="1150"/>
          </a:p>
        </p:txBody>
      </p:sp>
      <p:sp>
        <p:nvSpPr>
          <p:cNvPr id="234700469" name="Shape 17"/>
          <p:cNvSpPr/>
          <p:nvPr/>
        </p:nvSpPr>
        <p:spPr bwMode="auto">
          <a:xfrm>
            <a:off x="8119872" y="4224528"/>
            <a:ext cx="3520440" cy="566928"/>
          </a:xfrm>
          <a:prstGeom prst="roundRect">
            <a:avLst>
              <a:gd name="adj" fmla="val 9677"/>
            </a:avLst>
          </a:prstGeom>
          <a:solidFill>
            <a:srgbClr val="F5F3FF"/>
          </a:solidFill>
          <a:ln/>
        </p:spPr>
        <p:txBody>
          <a:bodyPr/>
          <a:p>
            <a:pPr>
              <a:defRPr/>
            </a:pPr>
            <a:endParaRPr/>
          </a:p>
        </p:txBody>
      </p:sp>
      <p:sp>
        <p:nvSpPr>
          <p:cNvPr id="1120532415" name="Text 18"/>
          <p:cNvSpPr/>
          <p:nvPr/>
        </p:nvSpPr>
        <p:spPr bwMode="auto">
          <a:xfrm>
            <a:off x="8302752" y="4224528"/>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Cannot mark attendance</a:t>
            </a:r>
            <a:endParaRPr lang="en-US" sz="1150"/>
          </a:p>
        </p:txBody>
      </p:sp>
      <p:sp>
        <p:nvSpPr>
          <p:cNvPr id="489285732" name="Shape 21"/>
          <p:cNvSpPr/>
          <p:nvPr/>
        </p:nvSpPr>
        <p:spPr bwMode="auto">
          <a:xfrm>
            <a:off x="8119872" y="4864606"/>
            <a:ext cx="3520440" cy="566928"/>
          </a:xfrm>
          <a:prstGeom prst="roundRect">
            <a:avLst>
              <a:gd name="adj" fmla="val 9677"/>
            </a:avLst>
          </a:prstGeom>
          <a:solidFill>
            <a:srgbClr val="F5F3FF"/>
          </a:solidFill>
          <a:ln/>
        </p:spPr>
        <p:txBody>
          <a:bodyPr/>
          <a:p>
            <a:pPr>
              <a:defRPr/>
            </a:pPr>
            <a:endParaRPr/>
          </a:p>
        </p:txBody>
      </p:sp>
      <p:sp>
        <p:nvSpPr>
          <p:cNvPr id="401323941" name="Text 22"/>
          <p:cNvSpPr/>
          <p:nvPr/>
        </p:nvSpPr>
        <p:spPr bwMode="auto">
          <a:xfrm>
            <a:off x="8302752" y="4864606"/>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Changes own password &amp; photo</a:t>
            </a:r>
            <a:endParaRPr lang="en-US" sz="1150"/>
          </a:p>
        </p:txBody>
      </p:sp>
      <p:sp>
        <p:nvSpPr>
          <p:cNvPr id="1275304520" name="Shape 25"/>
          <p:cNvSpPr/>
          <p:nvPr/>
        </p:nvSpPr>
        <p:spPr bwMode="auto">
          <a:xfrm>
            <a:off x="8119872" y="5504686"/>
            <a:ext cx="3520440" cy="566928"/>
          </a:xfrm>
          <a:prstGeom prst="roundRect">
            <a:avLst>
              <a:gd name="adj" fmla="val 9677"/>
            </a:avLst>
          </a:prstGeom>
          <a:solidFill>
            <a:srgbClr val="F5F3FF"/>
          </a:solidFill>
          <a:ln/>
        </p:spPr>
        <p:txBody>
          <a:bodyPr/>
          <a:p>
            <a:pPr>
              <a:defRPr/>
            </a:pPr>
            <a:endParaRPr/>
          </a:p>
        </p:txBody>
      </p:sp>
      <p:sp>
        <p:nvSpPr>
          <p:cNvPr id="2091142731" name="Text 26"/>
          <p:cNvSpPr/>
          <p:nvPr/>
        </p:nvSpPr>
        <p:spPr bwMode="auto">
          <a:xfrm>
            <a:off x="8302752" y="5504686"/>
            <a:ext cx="3154680" cy="566928"/>
          </a:xfrm>
          <a:prstGeom prst="rect">
            <a:avLst/>
          </a:prstGeom>
          <a:noFill/>
          <a:ln/>
        </p:spPr>
        <p:txBody>
          <a:bodyPr wrap="square" lIns="0" tIns="0" rIns="0" bIns="0" rtlCol="0" anchor="ctr"/>
          <a:lstStyle/>
          <a:p>
            <a:pPr marL="0" indent="0">
              <a:buNone/>
              <a:defRPr/>
            </a:pPr>
            <a:r>
              <a:rPr lang="en-US" sz="1150">
                <a:solidFill>
                  <a:srgbClr val="1E293B"/>
                </a:solidFill>
                <a:latin typeface="Calibri"/>
                <a:ea typeface="Calibri"/>
                <a:cs typeface="Calibri"/>
              </a:rPr>
              <a:t>Read-only self-service access</a:t>
            </a:r>
            <a:endParaRPr lang="en-US" sz="11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FFFFF"/>
        </a:solidFill>
      </p:bgPr>
    </p:bg>
    <p:spTree>
      <p:nvGrpSpPr>
        <p:cNvPr id="1" name=""/>
        <p:cNvGrpSpPr/>
        <p:nvPr/>
      </p:nvGrpSpPr>
      <p:grpSpPr bwMode="auto">
        <a:xfrm>
          <a:off x="0" y="0"/>
          <a:ext cx="0" cy="0"/>
          <a:chOff x="0" y="0"/>
          <a:chExt cx="0" cy="0"/>
        </a:xfrm>
      </p:grpSpPr>
      <p:sp>
        <p:nvSpPr>
          <p:cNvPr id="1037632831"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WHY IT MATTERS</a:t>
            </a:r>
            <a:endParaRPr lang="en-US" sz="1200"/>
          </a:p>
        </p:txBody>
      </p:sp>
      <p:sp>
        <p:nvSpPr>
          <p:cNvPr id="880496848"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Benefits for Teachers</a:t>
            </a:r>
            <a:endParaRPr lang="en-US" sz="3400"/>
          </a:p>
        </p:txBody>
      </p:sp>
      <p:sp>
        <p:nvSpPr>
          <p:cNvPr id="902972856"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What changes on an ordinary teaching day</a:t>
            </a:r>
            <a:endParaRPr lang="en-US" sz="1500"/>
          </a:p>
        </p:txBody>
      </p:sp>
      <p:sp>
        <p:nvSpPr>
          <p:cNvPr id="1520374252" name="Shape 3"/>
          <p:cNvSpPr/>
          <p:nvPr/>
        </p:nvSpPr>
        <p:spPr bwMode="auto">
          <a:xfrm>
            <a:off x="1892808" y="1965960"/>
            <a:ext cx="3840480" cy="685800"/>
          </a:xfrm>
          <a:prstGeom prst="roundRect">
            <a:avLst>
              <a:gd name="adj" fmla="val 12000"/>
            </a:avLst>
          </a:prstGeom>
          <a:solidFill>
            <a:srgbClr val="E2E8F0"/>
          </a:solidFill>
          <a:ln/>
        </p:spPr>
      </p:sp>
      <p:sp>
        <p:nvSpPr>
          <p:cNvPr id="926199359" name="Text 4"/>
          <p:cNvSpPr/>
          <p:nvPr/>
        </p:nvSpPr>
        <p:spPr bwMode="auto">
          <a:xfrm>
            <a:off x="1892808" y="1965960"/>
            <a:ext cx="3840480" cy="685800"/>
          </a:xfrm>
          <a:prstGeom prst="rect">
            <a:avLst/>
          </a:prstGeom>
          <a:noFill/>
          <a:ln/>
        </p:spPr>
        <p:txBody>
          <a:bodyPr wrap="square" lIns="0" tIns="0" rIns="0" bIns="0" rtlCol="0" anchor="ctr"/>
          <a:lstStyle/>
          <a:p>
            <a:pPr marL="0" indent="0" algn="ctr">
              <a:buNone/>
              <a:defRPr/>
            </a:pPr>
            <a:r>
              <a:rPr lang="en-US" sz="1600" b="1">
                <a:solidFill>
                  <a:srgbClr val="475569"/>
                </a:solidFill>
                <a:latin typeface="Arial"/>
                <a:ea typeface="Arial"/>
                <a:cs typeface="Arial"/>
              </a:rPr>
              <a:t>With Paper</a:t>
            </a:r>
            <a:endParaRPr lang="en-US" sz="1600"/>
          </a:p>
        </p:txBody>
      </p:sp>
      <p:sp>
        <p:nvSpPr>
          <p:cNvPr id="1354108622" name="Shape 5"/>
          <p:cNvSpPr/>
          <p:nvPr/>
        </p:nvSpPr>
        <p:spPr bwMode="auto">
          <a:xfrm>
            <a:off x="6455664" y="1965960"/>
            <a:ext cx="3840480" cy="685800"/>
          </a:xfrm>
          <a:prstGeom prst="roundRect">
            <a:avLst>
              <a:gd name="adj" fmla="val 12000"/>
            </a:avLst>
          </a:prstGeom>
          <a:solidFill>
            <a:srgbClr val="4F46E5"/>
          </a:solidFill>
          <a:ln/>
        </p:spPr>
      </p:sp>
      <p:sp>
        <p:nvSpPr>
          <p:cNvPr id="1962852423" name="Text 6"/>
          <p:cNvSpPr/>
          <p:nvPr/>
        </p:nvSpPr>
        <p:spPr bwMode="auto">
          <a:xfrm>
            <a:off x="6455664" y="1965960"/>
            <a:ext cx="3840480" cy="685800"/>
          </a:xfrm>
          <a:prstGeom prst="rect">
            <a:avLst/>
          </a:prstGeom>
          <a:noFill/>
          <a:ln/>
        </p:spPr>
        <p:txBody>
          <a:bodyPr wrap="square" lIns="0" tIns="0" rIns="0" bIns="0" rtlCol="0" anchor="ctr"/>
          <a:lstStyle/>
          <a:p>
            <a:pPr marL="0" indent="0" algn="ctr">
              <a:buNone/>
              <a:defRPr/>
            </a:pPr>
            <a:r>
              <a:rPr lang="en-US" sz="1600" b="1">
                <a:solidFill>
                  <a:srgbClr val="FFFFFF"/>
                </a:solidFill>
                <a:latin typeface="Arial"/>
                <a:ea typeface="Arial"/>
                <a:cs typeface="Arial"/>
              </a:rPr>
              <a:t>With MarkIt</a:t>
            </a:r>
            <a:endParaRPr lang="en-US" sz="1600"/>
          </a:p>
        </p:txBody>
      </p:sp>
      <p:sp>
        <p:nvSpPr>
          <p:cNvPr id="1039081985" name="Shape 7"/>
          <p:cNvSpPr/>
          <p:nvPr/>
        </p:nvSpPr>
        <p:spPr bwMode="auto">
          <a:xfrm>
            <a:off x="1892808" y="2788920"/>
            <a:ext cx="3840480" cy="713232"/>
          </a:xfrm>
          <a:prstGeom prst="roundRect">
            <a:avLst>
              <a:gd name="adj" fmla="val 8974"/>
            </a:avLst>
          </a:prstGeom>
          <a:solidFill>
            <a:srgbClr val="F8FAFC"/>
          </a:solidFill>
          <a:ln w="12700">
            <a:solidFill>
              <a:srgbClr val="E2E8F0"/>
            </a:solidFill>
            <a:prstDash val="solid"/>
          </a:ln>
        </p:spPr>
      </p:sp>
      <p:pic>
        <p:nvPicPr>
          <p:cNvPr id="634784880" name="Image 0" descr="preencoded.png"/>
          <p:cNvPicPr>
            <a:picLocks noChangeAspect="1"/>
          </p:cNvPicPr>
          <p:nvPr/>
        </p:nvPicPr>
        <p:blipFill rotWithShape="1">
          <a:blip r:embed="rId3"/>
          <a:stretch/>
        </p:blipFill>
        <p:spPr bwMode="auto">
          <a:xfrm>
            <a:off x="2075688" y="3017519"/>
            <a:ext cx="256032" cy="256032"/>
          </a:xfrm>
          <a:prstGeom prst="rect">
            <a:avLst/>
          </a:prstGeom>
        </p:spPr>
      </p:pic>
      <p:sp>
        <p:nvSpPr>
          <p:cNvPr id="1888867826" name="Text 8"/>
          <p:cNvSpPr/>
          <p:nvPr/>
        </p:nvSpPr>
        <p:spPr bwMode="auto">
          <a:xfrm>
            <a:off x="2459735" y="2788920"/>
            <a:ext cx="3063240" cy="713232"/>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10-15 minutes per class</a:t>
            </a:r>
            <a:endParaRPr lang="en-US" sz="1200"/>
          </a:p>
        </p:txBody>
      </p:sp>
      <p:sp>
        <p:nvSpPr>
          <p:cNvPr id="1659827474" name="Shape 9"/>
          <p:cNvSpPr/>
          <p:nvPr/>
        </p:nvSpPr>
        <p:spPr bwMode="auto">
          <a:xfrm>
            <a:off x="6455664" y="2788920"/>
            <a:ext cx="3840480" cy="713232"/>
          </a:xfrm>
          <a:prstGeom prst="roundRect">
            <a:avLst>
              <a:gd name="adj" fmla="val 8974"/>
            </a:avLst>
          </a:prstGeom>
          <a:solidFill>
            <a:srgbClr val="EEF2FF"/>
          </a:solidFill>
          <a:ln/>
        </p:spPr>
      </p:sp>
      <p:pic>
        <p:nvPicPr>
          <p:cNvPr id="1619096713" name="Image 1" descr="preencoded.png"/>
          <p:cNvPicPr>
            <a:picLocks noChangeAspect="1"/>
          </p:cNvPicPr>
          <p:nvPr/>
        </p:nvPicPr>
        <p:blipFill rotWithShape="1">
          <a:blip r:embed="rId4"/>
          <a:stretch/>
        </p:blipFill>
        <p:spPr bwMode="auto">
          <a:xfrm>
            <a:off x="6638544" y="3017519"/>
            <a:ext cx="256032" cy="256032"/>
          </a:xfrm>
          <a:prstGeom prst="rect">
            <a:avLst/>
          </a:prstGeom>
        </p:spPr>
      </p:pic>
      <p:sp>
        <p:nvSpPr>
          <p:cNvPr id="318202727" name="Text 10"/>
          <p:cNvSpPr/>
          <p:nvPr/>
        </p:nvSpPr>
        <p:spPr bwMode="auto">
          <a:xfrm>
            <a:off x="7022592" y="2788920"/>
            <a:ext cx="3063240" cy="713232"/>
          </a:xfrm>
          <a:prstGeom prst="rect">
            <a:avLst/>
          </a:prstGeom>
          <a:noFill/>
          <a:ln/>
        </p:spPr>
        <p:txBody>
          <a:bodyPr wrap="square" lIns="0" tIns="0" rIns="0" bIns="0" rtlCol="0" anchor="ctr"/>
          <a:lstStyle/>
          <a:p>
            <a:pPr marL="0" indent="0">
              <a:buNone/>
              <a:defRPr/>
            </a:pPr>
            <a:r>
              <a:rPr lang="en-US" sz="1200" b="1">
                <a:solidFill>
                  <a:srgbClr val="0F172A"/>
                </a:solidFill>
                <a:latin typeface="Calibri"/>
                <a:ea typeface="Calibri"/>
                <a:cs typeface="Calibri"/>
              </a:rPr>
              <a:t>Seconds, with Quick Select</a:t>
            </a:r>
            <a:endParaRPr lang="en-US" sz="1200"/>
          </a:p>
        </p:txBody>
      </p:sp>
      <p:pic>
        <p:nvPicPr>
          <p:cNvPr id="1138792497" name="Image 2" descr="preencoded.png"/>
          <p:cNvPicPr>
            <a:picLocks noChangeAspect="1"/>
          </p:cNvPicPr>
          <p:nvPr/>
        </p:nvPicPr>
        <p:blipFill rotWithShape="1">
          <a:blip r:embed="rId5"/>
          <a:stretch/>
        </p:blipFill>
        <p:spPr bwMode="auto">
          <a:xfrm>
            <a:off x="5870448" y="3017519"/>
            <a:ext cx="365760" cy="256032"/>
          </a:xfrm>
          <a:prstGeom prst="rect">
            <a:avLst/>
          </a:prstGeom>
        </p:spPr>
      </p:pic>
      <p:sp>
        <p:nvSpPr>
          <p:cNvPr id="378384009" name="Shape 11"/>
          <p:cNvSpPr/>
          <p:nvPr/>
        </p:nvSpPr>
        <p:spPr bwMode="auto">
          <a:xfrm>
            <a:off x="1892808" y="3611880"/>
            <a:ext cx="3840480" cy="713232"/>
          </a:xfrm>
          <a:prstGeom prst="roundRect">
            <a:avLst>
              <a:gd name="adj" fmla="val 8974"/>
            </a:avLst>
          </a:prstGeom>
          <a:solidFill>
            <a:srgbClr val="F8FAFC"/>
          </a:solidFill>
          <a:ln w="12700">
            <a:solidFill>
              <a:srgbClr val="E2E8F0"/>
            </a:solidFill>
            <a:prstDash val="solid"/>
          </a:ln>
        </p:spPr>
      </p:sp>
      <p:pic>
        <p:nvPicPr>
          <p:cNvPr id="1980507969" name="Image 3" descr="preencoded.png"/>
          <p:cNvPicPr>
            <a:picLocks noChangeAspect="1"/>
          </p:cNvPicPr>
          <p:nvPr/>
        </p:nvPicPr>
        <p:blipFill rotWithShape="1">
          <a:blip r:embed="rId6"/>
          <a:stretch/>
        </p:blipFill>
        <p:spPr bwMode="auto">
          <a:xfrm>
            <a:off x="2075688" y="3840480"/>
            <a:ext cx="256032" cy="256032"/>
          </a:xfrm>
          <a:prstGeom prst="rect">
            <a:avLst/>
          </a:prstGeom>
        </p:spPr>
      </p:pic>
      <p:sp>
        <p:nvSpPr>
          <p:cNvPr id="2032673838" name="Text 12"/>
          <p:cNvSpPr/>
          <p:nvPr/>
        </p:nvSpPr>
        <p:spPr bwMode="auto">
          <a:xfrm>
            <a:off x="2459735" y="3611880"/>
            <a:ext cx="3063240" cy="713232"/>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Laptop or paper sheet required</a:t>
            </a:r>
            <a:endParaRPr lang="en-US" sz="1200"/>
          </a:p>
        </p:txBody>
      </p:sp>
      <p:sp>
        <p:nvSpPr>
          <p:cNvPr id="842830909" name="Shape 13"/>
          <p:cNvSpPr/>
          <p:nvPr/>
        </p:nvSpPr>
        <p:spPr bwMode="auto">
          <a:xfrm>
            <a:off x="6455664" y="3611880"/>
            <a:ext cx="3840480" cy="713232"/>
          </a:xfrm>
          <a:prstGeom prst="roundRect">
            <a:avLst>
              <a:gd name="adj" fmla="val 8974"/>
            </a:avLst>
          </a:prstGeom>
          <a:solidFill>
            <a:srgbClr val="EEF2FF"/>
          </a:solidFill>
          <a:ln/>
        </p:spPr>
      </p:sp>
      <p:pic>
        <p:nvPicPr>
          <p:cNvPr id="815494405" name="Image 4" descr="preencoded.png"/>
          <p:cNvPicPr>
            <a:picLocks noChangeAspect="1"/>
          </p:cNvPicPr>
          <p:nvPr/>
        </p:nvPicPr>
        <p:blipFill rotWithShape="1">
          <a:blip r:embed="rId7"/>
          <a:stretch/>
        </p:blipFill>
        <p:spPr bwMode="auto">
          <a:xfrm>
            <a:off x="6638544" y="3840480"/>
            <a:ext cx="256032" cy="256032"/>
          </a:xfrm>
          <a:prstGeom prst="rect">
            <a:avLst/>
          </a:prstGeom>
        </p:spPr>
      </p:pic>
      <p:sp>
        <p:nvSpPr>
          <p:cNvPr id="2019796464" name="Text 14"/>
          <p:cNvSpPr/>
          <p:nvPr/>
        </p:nvSpPr>
        <p:spPr bwMode="auto">
          <a:xfrm>
            <a:off x="7022592" y="3611880"/>
            <a:ext cx="3063240" cy="713232"/>
          </a:xfrm>
          <a:prstGeom prst="rect">
            <a:avLst/>
          </a:prstGeom>
          <a:noFill/>
          <a:ln/>
        </p:spPr>
        <p:txBody>
          <a:bodyPr wrap="square" lIns="0" tIns="0" rIns="0" bIns="0" rtlCol="0" anchor="ctr"/>
          <a:lstStyle/>
          <a:p>
            <a:pPr marL="0" indent="0">
              <a:buNone/>
              <a:defRPr/>
            </a:pPr>
            <a:r>
              <a:rPr lang="en-US" sz="1200" b="1">
                <a:solidFill>
                  <a:srgbClr val="0F172A"/>
                </a:solidFill>
                <a:latin typeface="Calibri"/>
                <a:ea typeface="Calibri"/>
                <a:cs typeface="Calibri"/>
              </a:rPr>
              <a:t>Works on a phone during class</a:t>
            </a:r>
            <a:endParaRPr lang="en-US" sz="1200"/>
          </a:p>
        </p:txBody>
      </p:sp>
      <p:pic>
        <p:nvPicPr>
          <p:cNvPr id="408917544" name="Image 5" descr="preencoded.png"/>
          <p:cNvPicPr>
            <a:picLocks noChangeAspect="1"/>
          </p:cNvPicPr>
          <p:nvPr/>
        </p:nvPicPr>
        <p:blipFill rotWithShape="1">
          <a:blip r:embed="rId8"/>
          <a:stretch/>
        </p:blipFill>
        <p:spPr bwMode="auto">
          <a:xfrm>
            <a:off x="5870448" y="3840480"/>
            <a:ext cx="365760" cy="256032"/>
          </a:xfrm>
          <a:prstGeom prst="rect">
            <a:avLst/>
          </a:prstGeom>
        </p:spPr>
      </p:pic>
      <p:sp>
        <p:nvSpPr>
          <p:cNvPr id="1829511688" name="Shape 15"/>
          <p:cNvSpPr/>
          <p:nvPr/>
        </p:nvSpPr>
        <p:spPr bwMode="auto">
          <a:xfrm>
            <a:off x="1892808" y="4434840"/>
            <a:ext cx="3840480" cy="713232"/>
          </a:xfrm>
          <a:prstGeom prst="roundRect">
            <a:avLst>
              <a:gd name="adj" fmla="val 8974"/>
            </a:avLst>
          </a:prstGeom>
          <a:solidFill>
            <a:srgbClr val="F8FAFC"/>
          </a:solidFill>
          <a:ln w="12700">
            <a:solidFill>
              <a:srgbClr val="E2E8F0"/>
            </a:solidFill>
            <a:prstDash val="solid"/>
          </a:ln>
        </p:spPr>
      </p:sp>
      <p:pic>
        <p:nvPicPr>
          <p:cNvPr id="82216407" name="Image 6" descr="preencoded.png"/>
          <p:cNvPicPr>
            <a:picLocks noChangeAspect="1"/>
          </p:cNvPicPr>
          <p:nvPr/>
        </p:nvPicPr>
        <p:blipFill rotWithShape="1">
          <a:blip r:embed="rId9"/>
          <a:stretch/>
        </p:blipFill>
        <p:spPr bwMode="auto">
          <a:xfrm>
            <a:off x="2075688" y="4663440"/>
            <a:ext cx="256032" cy="256032"/>
          </a:xfrm>
          <a:prstGeom prst="rect">
            <a:avLst/>
          </a:prstGeom>
        </p:spPr>
      </p:pic>
      <p:sp>
        <p:nvSpPr>
          <p:cNvPr id="515678256" name="Text 16"/>
          <p:cNvSpPr/>
          <p:nvPr/>
        </p:nvSpPr>
        <p:spPr bwMode="auto">
          <a:xfrm>
            <a:off x="2459735" y="4434840"/>
            <a:ext cx="3063240" cy="713232"/>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Manual monthly report compilation</a:t>
            </a:r>
            <a:endParaRPr lang="en-US" sz="1200"/>
          </a:p>
        </p:txBody>
      </p:sp>
      <p:sp>
        <p:nvSpPr>
          <p:cNvPr id="1649232144" name="Shape 17"/>
          <p:cNvSpPr/>
          <p:nvPr/>
        </p:nvSpPr>
        <p:spPr bwMode="auto">
          <a:xfrm>
            <a:off x="6455664" y="4434840"/>
            <a:ext cx="3840480" cy="713232"/>
          </a:xfrm>
          <a:prstGeom prst="roundRect">
            <a:avLst>
              <a:gd name="adj" fmla="val 8974"/>
            </a:avLst>
          </a:prstGeom>
          <a:solidFill>
            <a:srgbClr val="EEF2FF"/>
          </a:solidFill>
          <a:ln/>
        </p:spPr>
      </p:sp>
      <p:pic>
        <p:nvPicPr>
          <p:cNvPr id="1384622523" name="Image 7" descr="preencoded.png"/>
          <p:cNvPicPr>
            <a:picLocks noChangeAspect="1"/>
          </p:cNvPicPr>
          <p:nvPr/>
        </p:nvPicPr>
        <p:blipFill rotWithShape="1">
          <a:blip r:embed="rId10"/>
          <a:stretch/>
        </p:blipFill>
        <p:spPr bwMode="auto">
          <a:xfrm>
            <a:off x="6638544" y="4663440"/>
            <a:ext cx="256032" cy="256032"/>
          </a:xfrm>
          <a:prstGeom prst="rect">
            <a:avLst/>
          </a:prstGeom>
        </p:spPr>
      </p:pic>
      <p:sp>
        <p:nvSpPr>
          <p:cNvPr id="925485739" name="Text 18"/>
          <p:cNvSpPr/>
          <p:nvPr/>
        </p:nvSpPr>
        <p:spPr bwMode="auto">
          <a:xfrm>
            <a:off x="7022592" y="4434840"/>
            <a:ext cx="3063240" cy="713232"/>
          </a:xfrm>
          <a:prstGeom prst="rect">
            <a:avLst/>
          </a:prstGeom>
          <a:noFill/>
          <a:ln/>
        </p:spPr>
        <p:txBody>
          <a:bodyPr wrap="square" lIns="0" tIns="0" rIns="0" bIns="0" rtlCol="0" anchor="ctr"/>
          <a:lstStyle/>
          <a:p>
            <a:pPr marL="0" indent="0">
              <a:buNone/>
              <a:defRPr/>
            </a:pPr>
            <a:r>
              <a:rPr lang="en-US" sz="1200" b="1">
                <a:solidFill>
                  <a:srgbClr val="0F172A"/>
                </a:solidFill>
                <a:latin typeface="Calibri"/>
                <a:ea typeface="Calibri"/>
                <a:cs typeface="Calibri"/>
              </a:rPr>
              <a:t>Export-ready PDF &amp; CSV anytime</a:t>
            </a:r>
            <a:endParaRPr lang="en-US" sz="1200"/>
          </a:p>
        </p:txBody>
      </p:sp>
      <p:pic>
        <p:nvPicPr>
          <p:cNvPr id="2015815686" name="Image 8" descr="preencoded.png"/>
          <p:cNvPicPr>
            <a:picLocks noChangeAspect="1"/>
          </p:cNvPicPr>
          <p:nvPr/>
        </p:nvPicPr>
        <p:blipFill rotWithShape="1">
          <a:blip r:embed="rId11"/>
          <a:stretch/>
        </p:blipFill>
        <p:spPr bwMode="auto">
          <a:xfrm>
            <a:off x="5870448" y="4663440"/>
            <a:ext cx="365760" cy="256032"/>
          </a:xfrm>
          <a:prstGeom prst="rect">
            <a:avLst/>
          </a:prstGeom>
        </p:spPr>
      </p:pic>
      <p:sp>
        <p:nvSpPr>
          <p:cNvPr id="1240531455" name="Shape 19"/>
          <p:cNvSpPr/>
          <p:nvPr/>
        </p:nvSpPr>
        <p:spPr bwMode="auto">
          <a:xfrm>
            <a:off x="1892808" y="5257800"/>
            <a:ext cx="3840480" cy="713232"/>
          </a:xfrm>
          <a:prstGeom prst="roundRect">
            <a:avLst>
              <a:gd name="adj" fmla="val 8974"/>
            </a:avLst>
          </a:prstGeom>
          <a:solidFill>
            <a:srgbClr val="F8FAFC"/>
          </a:solidFill>
          <a:ln w="12700">
            <a:solidFill>
              <a:srgbClr val="E2E8F0"/>
            </a:solidFill>
            <a:prstDash val="solid"/>
          </a:ln>
        </p:spPr>
      </p:sp>
      <p:pic>
        <p:nvPicPr>
          <p:cNvPr id="139301119" name="Image 9" descr="preencoded.png"/>
          <p:cNvPicPr>
            <a:picLocks noChangeAspect="1"/>
          </p:cNvPicPr>
          <p:nvPr/>
        </p:nvPicPr>
        <p:blipFill rotWithShape="1">
          <a:blip r:embed="rId12"/>
          <a:stretch/>
        </p:blipFill>
        <p:spPr bwMode="auto">
          <a:xfrm>
            <a:off x="2075688" y="5486400"/>
            <a:ext cx="256032" cy="256032"/>
          </a:xfrm>
          <a:prstGeom prst="rect">
            <a:avLst/>
          </a:prstGeom>
        </p:spPr>
      </p:pic>
      <p:sp>
        <p:nvSpPr>
          <p:cNvPr id="1221285202" name="Text 20"/>
          <p:cNvSpPr/>
          <p:nvPr/>
        </p:nvSpPr>
        <p:spPr bwMode="auto">
          <a:xfrm>
            <a:off x="2459735" y="5257800"/>
            <a:ext cx="3063240" cy="713232"/>
          </a:xfrm>
          <a:prstGeom prst="rect">
            <a:avLst/>
          </a:prstGeom>
          <a:noFill/>
          <a:ln/>
        </p:spPr>
        <p:txBody>
          <a:bodyPr wrap="square" lIns="0" tIns="0" rIns="0" bIns="0" rtlCol="0" anchor="ctr"/>
          <a:lstStyle/>
          <a:p>
            <a:pPr marL="0" indent="0">
              <a:buNone/>
              <a:defRPr/>
            </a:pPr>
            <a:r>
              <a:rPr lang="en-US" sz="1200">
                <a:solidFill>
                  <a:srgbClr val="475569"/>
                </a:solidFill>
                <a:latin typeface="Calibri"/>
                <a:ea typeface="Calibri"/>
                <a:cs typeface="Calibri"/>
              </a:rPr>
              <a:t>Proxy attendance risk</a:t>
            </a:r>
            <a:endParaRPr lang="en-US" sz="1200"/>
          </a:p>
        </p:txBody>
      </p:sp>
      <p:sp>
        <p:nvSpPr>
          <p:cNvPr id="1526361843" name="Shape 21"/>
          <p:cNvSpPr/>
          <p:nvPr/>
        </p:nvSpPr>
        <p:spPr bwMode="auto">
          <a:xfrm>
            <a:off x="6455664" y="5257800"/>
            <a:ext cx="3840480" cy="713232"/>
          </a:xfrm>
          <a:prstGeom prst="roundRect">
            <a:avLst>
              <a:gd name="adj" fmla="val 8974"/>
            </a:avLst>
          </a:prstGeom>
          <a:solidFill>
            <a:srgbClr val="EEF2FF"/>
          </a:solidFill>
          <a:ln/>
        </p:spPr>
      </p:sp>
      <p:pic>
        <p:nvPicPr>
          <p:cNvPr id="1039234983" name="Image 10" descr="preencoded.png"/>
          <p:cNvPicPr>
            <a:picLocks noChangeAspect="1"/>
          </p:cNvPicPr>
          <p:nvPr/>
        </p:nvPicPr>
        <p:blipFill rotWithShape="1">
          <a:blip r:embed="rId13"/>
          <a:stretch/>
        </p:blipFill>
        <p:spPr bwMode="auto">
          <a:xfrm>
            <a:off x="6638544" y="5486400"/>
            <a:ext cx="256032" cy="256032"/>
          </a:xfrm>
          <a:prstGeom prst="rect">
            <a:avLst/>
          </a:prstGeom>
        </p:spPr>
      </p:pic>
      <p:sp>
        <p:nvSpPr>
          <p:cNvPr id="1677358208" name="Text 22"/>
          <p:cNvSpPr/>
          <p:nvPr/>
        </p:nvSpPr>
        <p:spPr bwMode="auto">
          <a:xfrm>
            <a:off x="7022592" y="5257800"/>
            <a:ext cx="3063240" cy="713232"/>
          </a:xfrm>
          <a:prstGeom prst="rect">
            <a:avLst/>
          </a:prstGeom>
          <a:noFill/>
          <a:ln/>
        </p:spPr>
        <p:txBody>
          <a:bodyPr wrap="square" lIns="0" tIns="0" rIns="0" bIns="0" rtlCol="0" anchor="ctr"/>
          <a:lstStyle/>
          <a:p>
            <a:pPr marL="0" indent="0">
              <a:buNone/>
              <a:defRPr/>
            </a:pPr>
            <a:r>
              <a:rPr lang="en-US" sz="1200" b="1">
                <a:solidFill>
                  <a:srgbClr val="0F172A"/>
                </a:solidFill>
                <a:latin typeface="Calibri"/>
                <a:ea typeface="Calibri"/>
                <a:cs typeface="Calibri"/>
              </a:rPr>
              <a:t>Digital identity matching prevents it</a:t>
            </a:r>
            <a:endParaRPr lang="en-US" sz="1200"/>
          </a:p>
        </p:txBody>
      </p:sp>
      <p:pic>
        <p:nvPicPr>
          <p:cNvPr id="1009680582" name="Image 11" descr="preencoded.png"/>
          <p:cNvPicPr>
            <a:picLocks noChangeAspect="1"/>
          </p:cNvPicPr>
          <p:nvPr/>
        </p:nvPicPr>
        <p:blipFill rotWithShape="1">
          <a:blip r:embed="rId14"/>
          <a:stretch/>
        </p:blipFill>
        <p:spPr bwMode="auto">
          <a:xfrm>
            <a:off x="5870448" y="5486400"/>
            <a:ext cx="365760" cy="256032"/>
          </a:xfrm>
          <a:prstGeom prst="rect">
            <a:avLst/>
          </a:prstGeom>
        </p:spPr>
      </p:pic>
      <p:sp>
        <p:nvSpPr>
          <p:cNvPr id="1512254813" name="Text 23"/>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Benefits for Teachers</a:t>
            </a:r>
            <a:endParaRPr lang="en-US" sz="900"/>
          </a:p>
        </p:txBody>
      </p:sp>
      <p:sp>
        <p:nvSpPr>
          <p:cNvPr id="909978150" name="Text 24"/>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13</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3">
    <p:bg>
      <p:bgPr shadeToTitle="0">
        <a:solidFill>
          <a:schemeClr val="bg1"/>
        </a:solidFill>
      </p:bgPr>
    </p:bg>
    <p:spTree>
      <p:nvGrpSpPr>
        <p:cNvPr id="1" name=""/>
        <p:cNvGrpSpPr/>
        <p:nvPr/>
      </p:nvGrpSpPr>
      <p:grpSpPr bwMode="auto">
        <a:xfrm>
          <a:off x="0" y="0"/>
          <a:ext cx="0" cy="0"/>
          <a:chOff x="0" y="0"/>
          <a:chExt cx="0" cy="0"/>
        </a:xfrm>
      </p:grpSpPr>
      <p:sp>
        <p:nvSpPr>
          <p:cNvPr id="744569992"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CLOUD INFRASTRUCTURE</a:t>
            </a:r>
            <a:endParaRPr sz="1200">
              <a:solidFill>
                <a:srgbClr val="4F46E5"/>
              </a:solidFill>
            </a:endParaRPr>
          </a:p>
        </p:txBody>
      </p:sp>
      <p:sp>
        <p:nvSpPr>
          <p:cNvPr id="82346974" name="Text 1"/>
          <p:cNvSpPr/>
          <p:nvPr/>
        </p:nvSpPr>
        <p:spPr bwMode="auto">
          <a:xfrm>
            <a:off x="548640" y="658368"/>
            <a:ext cx="10515600" cy="640080"/>
          </a:xfrm>
          <a:prstGeom prst="rect">
            <a:avLst/>
          </a:prstGeom>
          <a:noFill/>
          <a:ln/>
        </p:spPr>
        <p:txBody>
          <a:bodyPr wrap="square" lIns="0" tIns="0" rIns="0" bIns="0" rtlCol="0" anchor="ctr"/>
          <a:lstStyle/>
          <a:p>
            <a:pPr marL="0" indent="0">
              <a:buNone/>
              <a:defRPr/>
            </a:pPr>
            <a:r>
              <a:rPr lang="en-US" sz="3200" b="1">
                <a:solidFill>
                  <a:schemeClr val="tx1"/>
                </a:solidFill>
                <a:latin typeface="Arial"/>
                <a:ea typeface="Arial"/>
                <a:cs typeface="Arial"/>
              </a:rPr>
              <a:t>Deployment &amp; Scalability</a:t>
            </a:r>
            <a:endParaRPr sz="3200">
              <a:solidFill>
                <a:schemeClr val="tx1"/>
              </a:solidFill>
            </a:endParaRPr>
          </a:p>
        </p:txBody>
      </p:sp>
      <p:sp>
        <p:nvSpPr>
          <p:cNvPr id="1944362653" name="Text 2"/>
          <p:cNvSpPr/>
          <p:nvPr/>
        </p:nvSpPr>
        <p:spPr bwMode="auto">
          <a:xfrm>
            <a:off x="548640" y="1261872"/>
            <a:ext cx="10058400" cy="365760"/>
          </a:xfrm>
          <a:prstGeom prst="rect">
            <a:avLst/>
          </a:prstGeom>
          <a:noFill/>
          <a:ln/>
        </p:spPr>
        <p:txBody>
          <a:bodyPr wrap="square" lIns="0" tIns="0" rIns="0" bIns="0" rtlCol="0" anchor="ctr"/>
          <a:lstStyle/>
          <a:p>
            <a:pPr marL="0" indent="0">
              <a:buNone/>
              <a:defRPr/>
            </a:pPr>
            <a:r>
              <a:rPr lang="en-US" sz="1400">
                <a:solidFill>
                  <a:srgbClr val="475569"/>
                </a:solidFill>
                <a:latin typeface="Calibri"/>
                <a:ea typeface="Calibri"/>
                <a:cs typeface="Calibri"/>
              </a:rPr>
              <a:t>Serverless by design — no infrastructure to manage</a:t>
            </a:r>
            <a:endParaRPr sz="1400">
              <a:solidFill>
                <a:srgbClr val="475569"/>
              </a:solidFill>
            </a:endParaRPr>
          </a:p>
        </p:txBody>
      </p:sp>
      <p:sp>
        <p:nvSpPr>
          <p:cNvPr id="1780970645" name="Shape 3"/>
          <p:cNvSpPr/>
          <p:nvPr/>
        </p:nvSpPr>
        <p:spPr bwMode="auto">
          <a:xfrm>
            <a:off x="594360" y="2286000"/>
            <a:ext cx="3429000" cy="3017519"/>
          </a:xfrm>
          <a:prstGeom prst="roundRect">
            <a:avLst>
              <a:gd name="adj" fmla="val 3030"/>
            </a:avLst>
          </a:prstGeom>
          <a:solidFill>
            <a:srgbClr val="A9CBD8">
              <a:alpha val="30000"/>
            </a:srgbClr>
          </a:solidFill>
          <a:ln w="9525">
            <a:solidFill>
              <a:srgbClr val="FFFFFF">
                <a:alpha val="35000"/>
              </a:srgbClr>
            </a:solidFill>
            <a:prstDash val="solid"/>
          </a:ln>
        </p:spPr>
        <p:txBody>
          <a:bodyPr anchor="ctr"/>
          <a:p>
            <a:pPr algn="ctr">
              <a:defRPr/>
            </a:pPr>
            <a:endParaRPr>
              <a:solidFill>
                <a:srgbClr val="475569"/>
              </a:solidFill>
            </a:endParaRPr>
          </a:p>
        </p:txBody>
      </p:sp>
      <p:pic>
        <p:nvPicPr>
          <p:cNvPr id="1948809083" name="Image 1" descr="preencoded.png"/>
          <p:cNvPicPr>
            <a:picLocks noChangeAspect="1"/>
          </p:cNvPicPr>
          <p:nvPr/>
        </p:nvPicPr>
        <p:blipFill rotWithShape="1">
          <a:blip r:embed="rId3"/>
          <a:stretch/>
        </p:blipFill>
        <p:spPr bwMode="auto">
          <a:xfrm>
            <a:off x="1961388" y="2816732"/>
            <a:ext cx="694944" cy="694944"/>
          </a:xfrm>
          <a:prstGeom prst="rect">
            <a:avLst/>
          </a:prstGeom>
        </p:spPr>
      </p:pic>
      <p:sp>
        <p:nvSpPr>
          <p:cNvPr id="1703730786" name="Text 4"/>
          <p:cNvSpPr/>
          <p:nvPr/>
        </p:nvSpPr>
        <p:spPr bwMode="auto">
          <a:xfrm>
            <a:off x="777240" y="3667124"/>
            <a:ext cx="3063240" cy="365760"/>
          </a:xfrm>
          <a:prstGeom prst="rect">
            <a:avLst/>
          </a:prstGeom>
          <a:noFill/>
          <a:ln/>
        </p:spPr>
        <p:txBody>
          <a:bodyPr wrap="square" lIns="0" tIns="0" rIns="0" bIns="0" rtlCol="0" anchor="ctr"/>
          <a:lstStyle/>
          <a:p>
            <a:pPr marL="0" indent="0" algn="ctr">
              <a:buNone/>
              <a:defRPr/>
            </a:pPr>
            <a:r>
              <a:rPr lang="en-US" sz="1600" b="1">
                <a:solidFill>
                  <a:srgbClr val="475569"/>
                </a:solidFill>
                <a:latin typeface="Arial"/>
                <a:ea typeface="Arial"/>
                <a:cs typeface="Arial"/>
              </a:rPr>
              <a:t>Frontend</a:t>
            </a:r>
            <a:endParaRPr sz="1600">
              <a:solidFill>
                <a:srgbClr val="475569"/>
              </a:solidFill>
            </a:endParaRPr>
          </a:p>
        </p:txBody>
      </p:sp>
      <p:sp>
        <p:nvSpPr>
          <p:cNvPr id="1290036679" name="Text 5"/>
          <p:cNvSpPr/>
          <p:nvPr/>
        </p:nvSpPr>
        <p:spPr bwMode="auto">
          <a:xfrm>
            <a:off x="868680" y="4124324"/>
            <a:ext cx="2880360" cy="118872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Static React build served via Vercel's global CDN edge network.</a:t>
            </a:r>
            <a:endParaRPr sz="1150">
              <a:solidFill>
                <a:srgbClr val="475569"/>
              </a:solidFill>
            </a:endParaRPr>
          </a:p>
        </p:txBody>
      </p:sp>
      <p:pic>
        <p:nvPicPr>
          <p:cNvPr id="923343917" name="Image 2" descr="preencoded.png"/>
          <p:cNvPicPr>
            <a:picLocks noChangeAspect="1"/>
          </p:cNvPicPr>
          <p:nvPr/>
        </p:nvPicPr>
        <p:blipFill rotWithShape="1">
          <a:blip r:embed="rId4"/>
          <a:stretch/>
        </p:blipFill>
        <p:spPr bwMode="auto">
          <a:xfrm>
            <a:off x="4050792" y="3904868"/>
            <a:ext cx="256032" cy="256032"/>
          </a:xfrm>
          <a:prstGeom prst="rect">
            <a:avLst/>
          </a:prstGeom>
        </p:spPr>
      </p:pic>
      <p:sp>
        <p:nvSpPr>
          <p:cNvPr id="634793745" name="Shape 6"/>
          <p:cNvSpPr/>
          <p:nvPr/>
        </p:nvSpPr>
        <p:spPr bwMode="auto">
          <a:xfrm>
            <a:off x="4343400" y="2286000"/>
            <a:ext cx="3429000" cy="3017519"/>
          </a:xfrm>
          <a:prstGeom prst="roundRect">
            <a:avLst>
              <a:gd name="adj" fmla="val 3030"/>
            </a:avLst>
          </a:prstGeom>
          <a:solidFill>
            <a:srgbClr val="A9CBD8">
              <a:alpha val="30000"/>
            </a:srgbClr>
          </a:solidFill>
          <a:ln w="9525">
            <a:solidFill>
              <a:srgbClr val="FFFFFF">
                <a:alpha val="35000"/>
              </a:srgbClr>
            </a:solidFill>
            <a:prstDash val="solid"/>
          </a:ln>
        </p:spPr>
        <p:txBody>
          <a:bodyPr anchor="ctr"/>
          <a:p>
            <a:pPr algn="ctr">
              <a:defRPr/>
            </a:pPr>
            <a:endParaRPr>
              <a:solidFill>
                <a:srgbClr val="475569"/>
              </a:solidFill>
            </a:endParaRPr>
          </a:p>
        </p:txBody>
      </p:sp>
      <p:pic>
        <p:nvPicPr>
          <p:cNvPr id="1886269863" name="Image 3" descr="preencoded.png"/>
          <p:cNvPicPr>
            <a:picLocks noChangeAspect="1"/>
          </p:cNvPicPr>
          <p:nvPr/>
        </p:nvPicPr>
        <p:blipFill rotWithShape="1">
          <a:blip r:embed="rId5"/>
          <a:stretch/>
        </p:blipFill>
        <p:spPr bwMode="auto">
          <a:xfrm>
            <a:off x="5710427" y="2816732"/>
            <a:ext cx="694944" cy="694944"/>
          </a:xfrm>
          <a:prstGeom prst="rect">
            <a:avLst/>
          </a:prstGeom>
        </p:spPr>
      </p:pic>
      <p:sp>
        <p:nvSpPr>
          <p:cNvPr id="1219557726" name="Text 7"/>
          <p:cNvSpPr/>
          <p:nvPr/>
        </p:nvSpPr>
        <p:spPr bwMode="auto">
          <a:xfrm>
            <a:off x="4526280" y="3667124"/>
            <a:ext cx="3063240" cy="365760"/>
          </a:xfrm>
          <a:prstGeom prst="rect">
            <a:avLst/>
          </a:prstGeom>
          <a:noFill/>
          <a:ln/>
        </p:spPr>
        <p:txBody>
          <a:bodyPr wrap="square" lIns="0" tIns="0" rIns="0" bIns="0" rtlCol="0" anchor="ctr"/>
          <a:lstStyle/>
          <a:p>
            <a:pPr marL="0" indent="0" algn="ctr">
              <a:buNone/>
              <a:defRPr/>
            </a:pPr>
            <a:r>
              <a:rPr lang="en-US" sz="1600" b="1">
                <a:solidFill>
                  <a:srgbClr val="475569"/>
                </a:solidFill>
                <a:latin typeface="Arial"/>
                <a:ea typeface="Arial"/>
                <a:cs typeface="Arial"/>
              </a:rPr>
              <a:t>Backend</a:t>
            </a:r>
            <a:endParaRPr sz="1600">
              <a:solidFill>
                <a:srgbClr val="475569"/>
              </a:solidFill>
            </a:endParaRPr>
          </a:p>
        </p:txBody>
      </p:sp>
      <p:sp>
        <p:nvSpPr>
          <p:cNvPr id="679911566" name="Text 8"/>
          <p:cNvSpPr/>
          <p:nvPr/>
        </p:nvSpPr>
        <p:spPr bwMode="auto">
          <a:xfrm>
            <a:off x="4617720" y="4124324"/>
            <a:ext cx="2880360" cy="118872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Express API runs as Vercel serverless functions — scales automatically.</a:t>
            </a:r>
            <a:endParaRPr sz="1150">
              <a:solidFill>
                <a:srgbClr val="475569"/>
              </a:solidFill>
            </a:endParaRPr>
          </a:p>
        </p:txBody>
      </p:sp>
      <p:pic>
        <p:nvPicPr>
          <p:cNvPr id="1298410531" name="Image 4" descr="preencoded.png"/>
          <p:cNvPicPr>
            <a:picLocks noChangeAspect="1"/>
          </p:cNvPicPr>
          <p:nvPr/>
        </p:nvPicPr>
        <p:blipFill rotWithShape="1">
          <a:blip r:embed="rId6"/>
          <a:stretch/>
        </p:blipFill>
        <p:spPr bwMode="auto">
          <a:xfrm>
            <a:off x="7799832" y="3904868"/>
            <a:ext cx="256032" cy="256032"/>
          </a:xfrm>
          <a:prstGeom prst="rect">
            <a:avLst/>
          </a:prstGeom>
        </p:spPr>
      </p:pic>
      <p:sp>
        <p:nvSpPr>
          <p:cNvPr id="454895396" name="Shape 9"/>
          <p:cNvSpPr/>
          <p:nvPr/>
        </p:nvSpPr>
        <p:spPr bwMode="auto">
          <a:xfrm>
            <a:off x="8092440" y="2286000"/>
            <a:ext cx="3429000" cy="3017519"/>
          </a:xfrm>
          <a:prstGeom prst="roundRect">
            <a:avLst>
              <a:gd name="adj" fmla="val 3030"/>
            </a:avLst>
          </a:prstGeom>
          <a:solidFill>
            <a:srgbClr val="A9CBD8">
              <a:alpha val="30000"/>
            </a:srgbClr>
          </a:solidFill>
          <a:ln w="9525">
            <a:solidFill>
              <a:srgbClr val="FFFFFF">
                <a:alpha val="35000"/>
              </a:srgbClr>
            </a:solidFill>
            <a:prstDash val="solid"/>
          </a:ln>
        </p:spPr>
        <p:txBody>
          <a:bodyPr anchor="ctr"/>
          <a:p>
            <a:pPr algn="ctr">
              <a:defRPr/>
            </a:pPr>
            <a:endParaRPr>
              <a:solidFill>
                <a:srgbClr val="475569"/>
              </a:solidFill>
            </a:endParaRPr>
          </a:p>
        </p:txBody>
      </p:sp>
      <p:pic>
        <p:nvPicPr>
          <p:cNvPr id="1490093247" name="Image 5" descr="preencoded.png"/>
          <p:cNvPicPr>
            <a:picLocks noChangeAspect="1"/>
          </p:cNvPicPr>
          <p:nvPr/>
        </p:nvPicPr>
        <p:blipFill rotWithShape="1">
          <a:blip r:embed="rId7"/>
          <a:stretch/>
        </p:blipFill>
        <p:spPr bwMode="auto">
          <a:xfrm>
            <a:off x="9459467" y="2816732"/>
            <a:ext cx="694944" cy="694944"/>
          </a:xfrm>
          <a:prstGeom prst="rect">
            <a:avLst/>
          </a:prstGeom>
        </p:spPr>
      </p:pic>
      <p:sp>
        <p:nvSpPr>
          <p:cNvPr id="1238281021" name="Text 10"/>
          <p:cNvSpPr/>
          <p:nvPr/>
        </p:nvSpPr>
        <p:spPr bwMode="auto">
          <a:xfrm>
            <a:off x="8275320" y="3667124"/>
            <a:ext cx="3063240" cy="365760"/>
          </a:xfrm>
          <a:prstGeom prst="rect">
            <a:avLst/>
          </a:prstGeom>
          <a:noFill/>
          <a:ln/>
        </p:spPr>
        <p:txBody>
          <a:bodyPr wrap="square" lIns="0" tIns="0" rIns="0" bIns="0" rtlCol="0" anchor="ctr"/>
          <a:lstStyle/>
          <a:p>
            <a:pPr marL="0" indent="0" algn="ctr">
              <a:buNone/>
              <a:defRPr/>
            </a:pPr>
            <a:r>
              <a:rPr lang="en-US" sz="1600" b="1">
                <a:solidFill>
                  <a:srgbClr val="475569"/>
                </a:solidFill>
                <a:latin typeface="Arial"/>
                <a:ea typeface="Arial"/>
                <a:cs typeface="Arial"/>
              </a:rPr>
              <a:t>Database</a:t>
            </a:r>
            <a:endParaRPr sz="1600">
              <a:solidFill>
                <a:srgbClr val="475569"/>
              </a:solidFill>
            </a:endParaRPr>
          </a:p>
        </p:txBody>
      </p:sp>
      <p:sp>
        <p:nvSpPr>
          <p:cNvPr id="1178267404" name="Text 11"/>
          <p:cNvSpPr/>
          <p:nvPr/>
        </p:nvSpPr>
        <p:spPr bwMode="auto">
          <a:xfrm>
            <a:off x="8366760" y="4124324"/>
            <a:ext cx="2880360" cy="1188720"/>
          </a:xfrm>
          <a:prstGeom prst="rect">
            <a:avLst/>
          </a:prstGeom>
          <a:noFill/>
          <a:ln/>
        </p:spPr>
        <p:txBody>
          <a:bodyPr wrap="square" lIns="0" tIns="0" rIns="0" bIns="0" rtlCol="0" anchor="t"/>
          <a:lstStyle/>
          <a:p>
            <a:pPr marL="0" indent="0" algn="ctr">
              <a:buNone/>
              <a:defRPr/>
            </a:pPr>
            <a:r>
              <a:rPr lang="en-US" sz="1150">
                <a:solidFill>
                  <a:srgbClr val="475569"/>
                </a:solidFill>
                <a:latin typeface="Calibri"/>
                <a:ea typeface="Calibri"/>
                <a:cs typeface="Calibri"/>
              </a:rPr>
              <a:t>MongoDB Atlas — managed, auto-scaling cloud database with backups.</a:t>
            </a:r>
            <a:endParaRPr sz="1150">
              <a:solidFill>
                <a:srgbClr val="475569"/>
              </a:solidFill>
            </a:endParaRPr>
          </a:p>
        </p:txBody>
      </p:sp>
      <p:sp>
        <p:nvSpPr>
          <p:cNvPr id="668182682" name="Text 12"/>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475569"/>
                </a:solidFill>
                <a:latin typeface="Calibri"/>
                <a:ea typeface="Calibri"/>
                <a:cs typeface="Calibri"/>
              </a:rPr>
              <a:t>MarkIt  ·  Deployment &amp; Scalability</a:t>
            </a:r>
            <a:endParaRPr sz="900">
              <a:solidFill>
                <a:srgbClr val="475569"/>
              </a:solidFill>
            </a:endParaRPr>
          </a:p>
        </p:txBody>
      </p:sp>
      <p:sp>
        <p:nvSpPr>
          <p:cNvPr id="1307833388" name="Text 13"/>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475569"/>
                </a:solidFill>
                <a:latin typeface="Calibri"/>
                <a:ea typeface="Calibri"/>
                <a:cs typeface="Calibri"/>
              </a:rPr>
              <a:t>14</a:t>
            </a:r>
            <a:endParaRPr sz="900">
              <a:solidFill>
                <a:srgbClr val="475569"/>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4">
    <p:bg>
      <p:bgPr shadeToTitle="0">
        <a:solidFill>
          <a:srgbClr val="FFFFFF"/>
        </a:solidFill>
      </p:bgPr>
    </p:bg>
    <p:spTree>
      <p:nvGrpSpPr>
        <p:cNvPr id="1" name=""/>
        <p:cNvGrpSpPr/>
        <p:nvPr/>
      </p:nvGrpSpPr>
      <p:grpSpPr bwMode="auto">
        <a:xfrm>
          <a:off x="0" y="0"/>
          <a:ext cx="0" cy="0"/>
          <a:chOff x="0" y="0"/>
          <a:chExt cx="0" cy="0"/>
        </a:xfrm>
      </p:grpSpPr>
      <p:sp>
        <p:nvSpPr>
          <p:cNvPr id="500492495" name="Text 0"/>
          <p:cNvSpPr/>
          <p:nvPr/>
        </p:nvSpPr>
        <p:spPr bwMode="auto">
          <a:xfrm>
            <a:off x="548640" y="384048"/>
            <a:ext cx="9144000" cy="274320"/>
          </a:xfrm>
          <a:prstGeom prst="rect">
            <a:avLst/>
          </a:prstGeom>
          <a:noFill/>
          <a:ln/>
        </p:spPr>
        <p:txBody>
          <a:bodyPr wrap="square" lIns="0" tIns="0" rIns="0" bIns="0" rtlCol="0" anchor="ctr"/>
          <a:lstStyle/>
          <a:p>
            <a:pPr marL="0" indent="0">
              <a:buNone/>
              <a:defRPr/>
            </a:pPr>
            <a:r>
              <a:rPr lang="en-US" sz="1200" b="1" spc="200">
                <a:solidFill>
                  <a:srgbClr val="4F46E5"/>
                </a:solidFill>
                <a:latin typeface="Calibri"/>
                <a:ea typeface="Calibri"/>
                <a:cs typeface="Calibri"/>
              </a:rPr>
              <a:t>WHAT'S NEXT</a:t>
            </a:r>
            <a:endParaRPr lang="en-US" sz="1200"/>
          </a:p>
        </p:txBody>
      </p:sp>
      <p:sp>
        <p:nvSpPr>
          <p:cNvPr id="1865309033" name="Text 1"/>
          <p:cNvSpPr/>
          <p:nvPr/>
        </p:nvSpPr>
        <p:spPr bwMode="auto">
          <a:xfrm>
            <a:off x="548640" y="658368"/>
            <a:ext cx="10515600" cy="685800"/>
          </a:xfrm>
          <a:prstGeom prst="rect">
            <a:avLst/>
          </a:prstGeom>
          <a:noFill/>
          <a:ln/>
        </p:spPr>
        <p:txBody>
          <a:bodyPr wrap="square" lIns="0" tIns="0" rIns="0" bIns="0" rtlCol="0" anchor="ctr"/>
          <a:lstStyle/>
          <a:p>
            <a:pPr marL="0" indent="0">
              <a:buNone/>
              <a:defRPr/>
            </a:pPr>
            <a:r>
              <a:rPr lang="en-US" sz="3400" b="1">
                <a:solidFill>
                  <a:srgbClr val="0F172A"/>
                </a:solidFill>
                <a:latin typeface="Arial"/>
                <a:ea typeface="Arial"/>
                <a:cs typeface="Arial"/>
              </a:rPr>
              <a:t>Future Enhancements</a:t>
            </a:r>
            <a:endParaRPr lang="en-US" sz="3400"/>
          </a:p>
        </p:txBody>
      </p:sp>
      <p:sp>
        <p:nvSpPr>
          <p:cNvPr id="439075499" name="Text 2"/>
          <p:cNvSpPr/>
          <p:nvPr/>
        </p:nvSpPr>
        <p:spPr bwMode="auto">
          <a:xfrm>
            <a:off x="548640" y="1298448"/>
            <a:ext cx="10515600" cy="365760"/>
          </a:xfrm>
          <a:prstGeom prst="rect">
            <a:avLst/>
          </a:prstGeom>
          <a:noFill/>
          <a:ln/>
        </p:spPr>
        <p:txBody>
          <a:bodyPr wrap="square" lIns="0" tIns="0" rIns="0" bIns="0" rtlCol="0" anchor="ctr"/>
          <a:lstStyle/>
          <a:p>
            <a:pPr marL="0" indent="0">
              <a:buNone/>
              <a:defRPr/>
            </a:pPr>
            <a:r>
              <a:rPr lang="en-US" sz="1500">
                <a:solidFill>
                  <a:srgbClr val="475569"/>
                </a:solidFill>
                <a:latin typeface="Calibri"/>
                <a:ea typeface="Calibri"/>
                <a:cs typeface="Calibri"/>
              </a:rPr>
              <a:t>Where MarkIt goes from here</a:t>
            </a:r>
            <a:endParaRPr lang="en-US" sz="1500"/>
          </a:p>
        </p:txBody>
      </p:sp>
      <p:sp>
        <p:nvSpPr>
          <p:cNvPr id="607740122" name="Shape 3"/>
          <p:cNvSpPr/>
          <p:nvPr/>
        </p:nvSpPr>
        <p:spPr bwMode="auto">
          <a:xfrm>
            <a:off x="548640" y="2148840"/>
            <a:ext cx="2084832" cy="3291840"/>
          </a:xfrm>
          <a:prstGeom prst="roundRect">
            <a:avLst>
              <a:gd name="adj" fmla="val 4386"/>
            </a:avLst>
          </a:prstGeom>
          <a:solidFill>
            <a:srgbClr val="EEF2FF"/>
          </a:solidFill>
          <a:ln/>
        </p:spPr>
      </p:sp>
      <p:pic>
        <p:nvPicPr>
          <p:cNvPr id="231137669" name="Image 0" descr="preencoded.png"/>
          <p:cNvPicPr>
            <a:picLocks noChangeAspect="1"/>
          </p:cNvPicPr>
          <p:nvPr/>
        </p:nvPicPr>
        <p:blipFill rotWithShape="1">
          <a:blip r:embed="rId3"/>
          <a:stretch/>
        </p:blipFill>
        <p:spPr bwMode="auto">
          <a:xfrm>
            <a:off x="1289304" y="2468880"/>
            <a:ext cx="603504" cy="603504"/>
          </a:xfrm>
          <a:prstGeom prst="rect">
            <a:avLst/>
          </a:prstGeom>
        </p:spPr>
      </p:pic>
      <p:sp>
        <p:nvSpPr>
          <p:cNvPr id="40743126" name="Text 4"/>
          <p:cNvSpPr/>
          <p:nvPr/>
        </p:nvSpPr>
        <p:spPr bwMode="auto">
          <a:xfrm>
            <a:off x="685800" y="3246120"/>
            <a:ext cx="181051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QR-Code Check-In</a:t>
            </a:r>
            <a:endParaRPr lang="en-US" sz="1300"/>
          </a:p>
        </p:txBody>
      </p:sp>
      <p:sp>
        <p:nvSpPr>
          <p:cNvPr id="1879188763" name="Text 5"/>
          <p:cNvSpPr/>
          <p:nvPr/>
        </p:nvSpPr>
        <p:spPr bwMode="auto">
          <a:xfrm>
            <a:off x="713232" y="3931920"/>
            <a:ext cx="1755648" cy="1371600"/>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Students scan to self check-in, verified by teacher.</a:t>
            </a:r>
            <a:endParaRPr lang="en-US" sz="1000"/>
          </a:p>
        </p:txBody>
      </p:sp>
      <p:sp>
        <p:nvSpPr>
          <p:cNvPr id="396732334" name="Shape 6"/>
          <p:cNvSpPr/>
          <p:nvPr/>
        </p:nvSpPr>
        <p:spPr bwMode="auto">
          <a:xfrm>
            <a:off x="2798064" y="2148840"/>
            <a:ext cx="2084832" cy="3291840"/>
          </a:xfrm>
          <a:prstGeom prst="roundRect">
            <a:avLst>
              <a:gd name="adj" fmla="val 4386"/>
            </a:avLst>
          </a:prstGeom>
          <a:solidFill>
            <a:srgbClr val="F5F3FF"/>
          </a:solidFill>
          <a:ln/>
        </p:spPr>
      </p:sp>
      <p:pic>
        <p:nvPicPr>
          <p:cNvPr id="1867991509" name="Image 1" descr="preencoded.png"/>
          <p:cNvPicPr>
            <a:picLocks noChangeAspect="1"/>
          </p:cNvPicPr>
          <p:nvPr/>
        </p:nvPicPr>
        <p:blipFill rotWithShape="1">
          <a:blip r:embed="rId4"/>
          <a:stretch/>
        </p:blipFill>
        <p:spPr bwMode="auto">
          <a:xfrm>
            <a:off x="3538728" y="2468880"/>
            <a:ext cx="603504" cy="603504"/>
          </a:xfrm>
          <a:prstGeom prst="rect">
            <a:avLst/>
          </a:prstGeom>
        </p:spPr>
      </p:pic>
      <p:sp>
        <p:nvSpPr>
          <p:cNvPr id="1976331773" name="Text 7"/>
          <p:cNvSpPr/>
          <p:nvPr/>
        </p:nvSpPr>
        <p:spPr bwMode="auto">
          <a:xfrm>
            <a:off x="2935224" y="3246120"/>
            <a:ext cx="181051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SMS / Email Alerts</a:t>
            </a:r>
            <a:endParaRPr lang="en-US" sz="1300"/>
          </a:p>
        </p:txBody>
      </p:sp>
      <p:sp>
        <p:nvSpPr>
          <p:cNvPr id="738912447" name="Text 8"/>
          <p:cNvSpPr/>
          <p:nvPr/>
        </p:nvSpPr>
        <p:spPr bwMode="auto">
          <a:xfrm>
            <a:off x="2962656" y="3931920"/>
            <a:ext cx="1755648" cy="1371600"/>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Automatic absence notifications to guardians.</a:t>
            </a:r>
            <a:endParaRPr lang="en-US" sz="1000"/>
          </a:p>
        </p:txBody>
      </p:sp>
      <p:sp>
        <p:nvSpPr>
          <p:cNvPr id="570115376" name="Shape 9"/>
          <p:cNvSpPr/>
          <p:nvPr/>
        </p:nvSpPr>
        <p:spPr bwMode="auto">
          <a:xfrm>
            <a:off x="5047488" y="2148840"/>
            <a:ext cx="2084832" cy="3291840"/>
          </a:xfrm>
          <a:prstGeom prst="roundRect">
            <a:avLst>
              <a:gd name="adj" fmla="val 4386"/>
            </a:avLst>
          </a:prstGeom>
          <a:solidFill>
            <a:srgbClr val="EEF2FF"/>
          </a:solidFill>
          <a:ln/>
        </p:spPr>
      </p:sp>
      <p:pic>
        <p:nvPicPr>
          <p:cNvPr id="128936376" name="Image 2" descr="preencoded.png"/>
          <p:cNvPicPr>
            <a:picLocks noChangeAspect="1"/>
          </p:cNvPicPr>
          <p:nvPr/>
        </p:nvPicPr>
        <p:blipFill rotWithShape="1">
          <a:blip r:embed="rId5"/>
          <a:stretch/>
        </p:blipFill>
        <p:spPr bwMode="auto">
          <a:xfrm>
            <a:off x="5788152" y="2468880"/>
            <a:ext cx="603504" cy="603504"/>
          </a:xfrm>
          <a:prstGeom prst="rect">
            <a:avLst/>
          </a:prstGeom>
        </p:spPr>
      </p:pic>
      <p:sp>
        <p:nvSpPr>
          <p:cNvPr id="330951960" name="Text 10"/>
          <p:cNvSpPr/>
          <p:nvPr/>
        </p:nvSpPr>
        <p:spPr bwMode="auto">
          <a:xfrm>
            <a:off x="5184648" y="3246120"/>
            <a:ext cx="181051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Biometric Integration</a:t>
            </a:r>
            <a:endParaRPr lang="en-US" sz="1300"/>
          </a:p>
        </p:txBody>
      </p:sp>
      <p:sp>
        <p:nvSpPr>
          <p:cNvPr id="1100827417" name="Text 11"/>
          <p:cNvSpPr/>
          <p:nvPr/>
        </p:nvSpPr>
        <p:spPr bwMode="auto">
          <a:xfrm>
            <a:off x="5212080" y="3931920"/>
            <a:ext cx="1755648" cy="1371600"/>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Fingerprint verification for high-stakes exams.</a:t>
            </a:r>
            <a:endParaRPr lang="en-US" sz="1000"/>
          </a:p>
        </p:txBody>
      </p:sp>
      <p:sp>
        <p:nvSpPr>
          <p:cNvPr id="1781470930" name="Shape 12"/>
          <p:cNvSpPr/>
          <p:nvPr/>
        </p:nvSpPr>
        <p:spPr bwMode="auto">
          <a:xfrm>
            <a:off x="7296912" y="2148840"/>
            <a:ext cx="2084832" cy="3291840"/>
          </a:xfrm>
          <a:prstGeom prst="roundRect">
            <a:avLst>
              <a:gd name="adj" fmla="val 4386"/>
            </a:avLst>
          </a:prstGeom>
          <a:solidFill>
            <a:srgbClr val="F5F3FF"/>
          </a:solidFill>
          <a:ln/>
        </p:spPr>
      </p:sp>
      <p:pic>
        <p:nvPicPr>
          <p:cNvPr id="1504945980" name="Image 3" descr="preencoded.png"/>
          <p:cNvPicPr>
            <a:picLocks noChangeAspect="1"/>
          </p:cNvPicPr>
          <p:nvPr/>
        </p:nvPicPr>
        <p:blipFill rotWithShape="1">
          <a:blip r:embed="rId6"/>
          <a:stretch/>
        </p:blipFill>
        <p:spPr bwMode="auto">
          <a:xfrm>
            <a:off x="8037576" y="2468880"/>
            <a:ext cx="603504" cy="603504"/>
          </a:xfrm>
          <a:prstGeom prst="rect">
            <a:avLst/>
          </a:prstGeom>
        </p:spPr>
      </p:pic>
      <p:sp>
        <p:nvSpPr>
          <p:cNvPr id="886168102" name="Text 13"/>
          <p:cNvSpPr/>
          <p:nvPr/>
        </p:nvSpPr>
        <p:spPr bwMode="auto">
          <a:xfrm>
            <a:off x="7434072" y="3246120"/>
            <a:ext cx="181051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Native Mobile App</a:t>
            </a:r>
            <a:endParaRPr lang="en-US" sz="1300"/>
          </a:p>
        </p:txBody>
      </p:sp>
      <p:sp>
        <p:nvSpPr>
          <p:cNvPr id="1861203479" name="Text 14"/>
          <p:cNvSpPr/>
          <p:nvPr/>
        </p:nvSpPr>
        <p:spPr bwMode="auto">
          <a:xfrm>
            <a:off x="7461504" y="3931920"/>
            <a:ext cx="1755648" cy="1371600"/>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Dedicated iOS and Android companion apps.</a:t>
            </a:r>
            <a:endParaRPr lang="en-US" sz="1000"/>
          </a:p>
        </p:txBody>
      </p:sp>
      <p:sp>
        <p:nvSpPr>
          <p:cNvPr id="1644948725" name="Shape 15"/>
          <p:cNvSpPr/>
          <p:nvPr/>
        </p:nvSpPr>
        <p:spPr bwMode="auto">
          <a:xfrm>
            <a:off x="9546336" y="2148840"/>
            <a:ext cx="2084832" cy="3291840"/>
          </a:xfrm>
          <a:prstGeom prst="roundRect">
            <a:avLst>
              <a:gd name="adj" fmla="val 4386"/>
            </a:avLst>
          </a:prstGeom>
          <a:solidFill>
            <a:srgbClr val="EEF2FF"/>
          </a:solidFill>
          <a:ln/>
        </p:spPr>
      </p:sp>
      <p:pic>
        <p:nvPicPr>
          <p:cNvPr id="1914341987" name="Image 4" descr="preencoded.png"/>
          <p:cNvPicPr>
            <a:picLocks noChangeAspect="1"/>
          </p:cNvPicPr>
          <p:nvPr/>
        </p:nvPicPr>
        <p:blipFill rotWithShape="1">
          <a:blip r:embed="rId7"/>
          <a:stretch/>
        </p:blipFill>
        <p:spPr bwMode="auto">
          <a:xfrm>
            <a:off x="10287000" y="2468880"/>
            <a:ext cx="603504" cy="603504"/>
          </a:xfrm>
          <a:prstGeom prst="rect">
            <a:avLst/>
          </a:prstGeom>
        </p:spPr>
      </p:pic>
      <p:sp>
        <p:nvSpPr>
          <p:cNvPr id="926044743" name="Text 16"/>
          <p:cNvSpPr/>
          <p:nvPr/>
        </p:nvSpPr>
        <p:spPr bwMode="auto">
          <a:xfrm>
            <a:off x="9683496" y="3246120"/>
            <a:ext cx="1810512" cy="640080"/>
          </a:xfrm>
          <a:prstGeom prst="rect">
            <a:avLst/>
          </a:prstGeom>
          <a:noFill/>
          <a:ln/>
        </p:spPr>
        <p:txBody>
          <a:bodyPr wrap="square" lIns="0" tIns="0" rIns="0" bIns="0" rtlCol="0" anchor="ctr"/>
          <a:lstStyle/>
          <a:p>
            <a:pPr marL="0" indent="0" algn="ctr">
              <a:buNone/>
              <a:defRPr/>
            </a:pPr>
            <a:r>
              <a:rPr lang="en-US" sz="1300" b="1">
                <a:solidFill>
                  <a:srgbClr val="0F172A"/>
                </a:solidFill>
                <a:latin typeface="Arial"/>
                <a:ea typeface="Arial"/>
                <a:cs typeface="Arial"/>
              </a:rPr>
              <a:t>Trend Analytics</a:t>
            </a:r>
            <a:endParaRPr lang="en-US" sz="1300"/>
          </a:p>
        </p:txBody>
      </p:sp>
      <p:sp>
        <p:nvSpPr>
          <p:cNvPr id="1857443468" name="Text 17"/>
          <p:cNvSpPr/>
          <p:nvPr/>
        </p:nvSpPr>
        <p:spPr bwMode="auto">
          <a:xfrm>
            <a:off x="9710928" y="3931920"/>
            <a:ext cx="1755648" cy="1371600"/>
          </a:xfrm>
          <a:prstGeom prst="rect">
            <a:avLst/>
          </a:prstGeom>
          <a:noFill/>
          <a:ln/>
        </p:spPr>
        <p:txBody>
          <a:bodyPr wrap="square" lIns="0" tIns="0" rIns="0" bIns="0" rtlCol="0" anchor="t"/>
          <a:lstStyle/>
          <a:p>
            <a:pPr marL="0" indent="0" algn="ctr">
              <a:buNone/>
              <a:defRPr/>
            </a:pPr>
            <a:r>
              <a:rPr lang="en-US" sz="1000">
                <a:solidFill>
                  <a:srgbClr val="475569"/>
                </a:solidFill>
                <a:latin typeface="Calibri"/>
                <a:ea typeface="Calibri"/>
                <a:cs typeface="Calibri"/>
              </a:rPr>
              <a:t>Dashboards surfacing attendance patterns over time.</a:t>
            </a:r>
            <a:endParaRPr lang="en-US" sz="1000"/>
          </a:p>
        </p:txBody>
      </p:sp>
      <p:sp>
        <p:nvSpPr>
          <p:cNvPr id="1949511767" name="Text 18"/>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64748B"/>
                </a:solidFill>
                <a:latin typeface="Calibri"/>
                <a:ea typeface="Calibri"/>
                <a:cs typeface="Calibri"/>
              </a:rPr>
              <a:t>MarkIt  ·  Future Enhancements</a:t>
            </a:r>
            <a:endParaRPr lang="en-US" sz="900"/>
          </a:p>
        </p:txBody>
      </p:sp>
      <p:sp>
        <p:nvSpPr>
          <p:cNvPr id="769468809" name="Text 19"/>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64748B"/>
                </a:solidFill>
                <a:latin typeface="Calibri"/>
                <a:ea typeface="Calibri"/>
                <a:cs typeface="Calibri"/>
              </a:rPr>
              <a:t>15</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6">
    <p:bg>
      <p:bgPr shadeToTitle="0">
        <a:solidFill>
          <a:srgbClr val="1E1B4B"/>
        </a:solidFill>
      </p:bgPr>
    </p:bg>
    <p:spTree>
      <p:nvGrpSpPr>
        <p:cNvPr id="1" name=""/>
        <p:cNvGrpSpPr/>
        <p:nvPr/>
      </p:nvGrpSpPr>
      <p:grpSpPr bwMode="auto">
        <a:xfrm>
          <a:off x="0" y="0"/>
          <a:ext cx="0" cy="0"/>
          <a:chOff x="0" y="0"/>
          <a:chExt cx="0" cy="0"/>
        </a:xfrm>
      </p:grpSpPr>
      <p:pic>
        <p:nvPicPr>
          <p:cNvPr id="2069785699" name="Image 0" descr="preencoded.png"/>
          <p:cNvPicPr>
            <a:picLocks noChangeAspect="1"/>
          </p:cNvPicPr>
          <p:nvPr/>
        </p:nvPicPr>
        <p:blipFill rotWithShape="1">
          <a:blip r:embed="rId3"/>
          <a:stretch/>
        </p:blipFill>
        <p:spPr bwMode="auto">
          <a:xfrm>
            <a:off x="0" y="0"/>
            <a:ext cx="12191695" cy="6858000"/>
          </a:xfrm>
          <a:prstGeom prst="rect">
            <a:avLst/>
          </a:prstGeom>
        </p:spPr>
      </p:pic>
      <p:pic>
        <p:nvPicPr>
          <p:cNvPr id="940730871" name="Image 1" descr="preencoded.png"/>
          <p:cNvPicPr>
            <a:picLocks noChangeAspect="1"/>
          </p:cNvPicPr>
          <p:nvPr/>
        </p:nvPicPr>
        <p:blipFill rotWithShape="1">
          <a:blip r:embed="rId4"/>
          <a:stretch/>
        </p:blipFill>
        <p:spPr bwMode="auto">
          <a:xfrm>
            <a:off x="5638648" y="1965960"/>
            <a:ext cx="914400" cy="914400"/>
          </a:xfrm>
          <a:prstGeom prst="rect">
            <a:avLst/>
          </a:prstGeom>
        </p:spPr>
      </p:pic>
      <p:sp>
        <p:nvSpPr>
          <p:cNvPr id="1095567064" name="Text 0"/>
          <p:cNvSpPr/>
          <p:nvPr/>
        </p:nvSpPr>
        <p:spPr bwMode="auto">
          <a:xfrm>
            <a:off x="0" y="3063240"/>
            <a:ext cx="12191695" cy="868680"/>
          </a:xfrm>
          <a:prstGeom prst="rect">
            <a:avLst/>
          </a:prstGeom>
          <a:noFill/>
          <a:ln/>
        </p:spPr>
        <p:txBody>
          <a:bodyPr wrap="square" lIns="0" tIns="0" rIns="0" bIns="0" rtlCol="0" anchor="ctr"/>
          <a:lstStyle/>
          <a:p>
            <a:pPr marL="0" indent="0" algn="ctr">
              <a:buNone/>
              <a:defRPr/>
            </a:pPr>
            <a:r>
              <a:rPr lang="en-US" sz="4600" b="1">
                <a:solidFill>
                  <a:srgbClr val="FFFFFF"/>
                </a:solidFill>
                <a:latin typeface="Arial"/>
                <a:ea typeface="Arial"/>
                <a:cs typeface="Arial"/>
              </a:rPr>
              <a:t>Thank You</a:t>
            </a:r>
            <a:endParaRPr lang="en-US" sz="4600"/>
          </a:p>
        </p:txBody>
      </p:sp>
      <p:sp>
        <p:nvSpPr>
          <p:cNvPr id="2071855641" name="Text 1"/>
          <p:cNvSpPr/>
          <p:nvPr/>
        </p:nvSpPr>
        <p:spPr bwMode="auto">
          <a:xfrm>
            <a:off x="0" y="3886200"/>
            <a:ext cx="12191695" cy="457200"/>
          </a:xfrm>
          <a:prstGeom prst="rect">
            <a:avLst/>
          </a:prstGeom>
          <a:noFill/>
          <a:ln/>
        </p:spPr>
        <p:txBody>
          <a:bodyPr wrap="square" lIns="0" tIns="0" rIns="0" bIns="0" rtlCol="0" anchor="ctr"/>
          <a:lstStyle/>
          <a:p>
            <a:pPr marL="0" indent="0" algn="ctr">
              <a:buNone/>
              <a:defRPr/>
            </a:pPr>
            <a:r>
              <a:rPr lang="en-US" sz="1800" i="1">
                <a:solidFill>
                  <a:srgbClr val="DDD6FE"/>
                </a:solidFill>
                <a:latin typeface="Calibri"/>
                <a:ea typeface="Calibri"/>
                <a:cs typeface="Calibri"/>
              </a:rPr>
              <a:t>Questions &amp; Discussion</a:t>
            </a:r>
            <a:endParaRPr lang="en-US" sz="1800"/>
          </a:p>
        </p:txBody>
      </p:sp>
      <p:sp>
        <p:nvSpPr>
          <p:cNvPr id="1913999305" name="Text 2"/>
          <p:cNvSpPr/>
          <p:nvPr/>
        </p:nvSpPr>
        <p:spPr bwMode="auto">
          <a:xfrm>
            <a:off x="0" y="5989320"/>
            <a:ext cx="12191695" cy="320040"/>
          </a:xfrm>
          <a:prstGeom prst="rect">
            <a:avLst/>
          </a:prstGeom>
          <a:noFill/>
          <a:ln/>
        </p:spPr>
        <p:txBody>
          <a:bodyPr wrap="square" lIns="0" tIns="0" rIns="0" bIns="0" rtlCol="0" anchor="ctr"/>
          <a:lstStyle/>
          <a:p>
            <a:pPr marL="0" indent="0" algn="ctr">
              <a:buNone/>
              <a:defRPr/>
            </a:pPr>
            <a:r>
              <a:rPr lang="en-US" sz="1200">
                <a:solidFill>
                  <a:srgbClr val="A5B4FC"/>
                </a:solidFill>
                <a:latin typeface="Calibri"/>
                <a:ea typeface="Calibri"/>
                <a:cs typeface="Calibri"/>
              </a:rPr>
              <a:t>MarkIt  ·  Smart attendance tracking for modern classrooms</a:t>
            </a:r>
            <a:endParaRPr lang="en-US" sz="1200"/>
          </a:p>
        </p:txBody>
      </p:sp>
      <p:sp>
        <p:nvSpPr>
          <p:cNvPr id="1354292439" name="Text 3"/>
          <p:cNvSpPr/>
          <p:nvPr/>
        </p:nvSpPr>
        <p:spPr bwMode="auto">
          <a:xfrm>
            <a:off x="457200" y="6473952"/>
            <a:ext cx="5486400" cy="274320"/>
          </a:xfrm>
          <a:prstGeom prst="rect">
            <a:avLst/>
          </a:prstGeom>
          <a:noFill/>
          <a:ln/>
        </p:spPr>
        <p:txBody>
          <a:bodyPr wrap="square" lIns="0" tIns="0" rIns="0" bIns="0" rtlCol="0" anchor="ctr"/>
          <a:lstStyle/>
          <a:p>
            <a:pPr marL="0" indent="0" algn="l">
              <a:buNone/>
              <a:defRPr/>
            </a:pPr>
            <a:r>
              <a:rPr lang="en-US" sz="900">
                <a:solidFill>
                  <a:srgbClr val="A5B4FC"/>
                </a:solidFill>
                <a:latin typeface="Calibri"/>
                <a:ea typeface="Calibri"/>
                <a:cs typeface="Calibri"/>
              </a:rPr>
              <a:t>MarkIt  ·  Thank You</a:t>
            </a:r>
            <a:endParaRPr lang="en-US" sz="900"/>
          </a:p>
        </p:txBody>
      </p:sp>
      <p:sp>
        <p:nvSpPr>
          <p:cNvPr id="614429908" name="Text 4"/>
          <p:cNvSpPr/>
          <p:nvPr/>
        </p:nvSpPr>
        <p:spPr bwMode="auto">
          <a:xfrm>
            <a:off x="11277295" y="6473952"/>
            <a:ext cx="457200" cy="274320"/>
          </a:xfrm>
          <a:prstGeom prst="rect">
            <a:avLst/>
          </a:prstGeom>
          <a:noFill/>
          <a:ln/>
        </p:spPr>
        <p:txBody>
          <a:bodyPr wrap="square" lIns="0" tIns="0" rIns="0" bIns="0" rtlCol="0" anchor="ctr"/>
          <a:lstStyle/>
          <a:p>
            <a:pPr marL="0" indent="0" algn="r">
              <a:buNone/>
              <a:defRPr/>
            </a:pPr>
            <a:r>
              <a:rPr lang="en-US" sz="900">
                <a:solidFill>
                  <a:srgbClr val="A5B4FC"/>
                </a:solidFill>
                <a:latin typeface="Calibri"/>
                <a:ea typeface="Calibri"/>
                <a:cs typeface="Calibri"/>
              </a:rPr>
              <a:t>16</a:t>
            </a:r>
            <a:endParaRPr lang="en-US" sz="9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16</Slides>
  <Notes>16</Notes>
  <HiddenSlides>0</HiddenSlides>
  <MMClips>2</MMClips>
  <ScaleCrop>0</ScaleCrop>
  <HeadingPairs>
    <vt:vector size="4" baseType="variant">
      <vt:variant>
        <vt:lpstr>Theme</vt:lpstr>
      </vt:variant>
      <vt:variant>
        <vt:i4>1</vt:i4>
      </vt:variant>
      <vt:variant>
        <vt:lpstr>Slide Titles</vt:lpstr>
      </vt:variant>
      <vt:variant>
        <vt:i4>16</vt:i4>
      </vt:variant>
    </vt:vector>
  </HeadingPairs>
  <TitlesOfParts>
    <vt:vector size="17"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
  <cp:revision>4</cp:revision>
  <dcterms:created xsi:type="dcterms:W3CDTF">2026-08-23T04:41:40Z</dcterms:created>
  <dcterms:modified xsi:type="dcterms:W3CDTF">2026-08-24T04:41:27Z</dcterms:modified>
</cp:coreProperties>
</file>